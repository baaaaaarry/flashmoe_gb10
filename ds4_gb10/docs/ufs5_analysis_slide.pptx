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800" b="0" i="0" u="none" strike="noStrike">
                <a:solidFill>
                  <a:srgbClr val="1B2A4A"/>
                </a:solidFill>
                <a:latin typeface="Arial"/>
              </a:defRPr>
            </a:pPr>
            <a:r>
              <a:rPr sz="800" b="0" i="0" u="none" strike="noStrike">
                <a:solidFill>
                  <a:srgbClr val="1B2A4A"/>
                </a:solidFill>
                <a:latin typeface="Arial"/>
              </a:rPr>
              <a:t>Cold Boot Load Time (seconds)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 Time (s)</c:v>
                </c:pt>
              </c:strCache>
            </c:strRef>
          </c:tx>
          <c:spPr>
            <a:solidFill>
              <a:srgbClr val="1A7A3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A7A3C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84B0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UFS 5.0
10 GB/s</c:v>
                  </c:pt>
                  <c:pt idx="1">
                    <c:v>NVMe
7 GB/s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8.67</c:v>
                </c:pt>
                <c:pt idx="1">
                  <c:v>12.38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FFFFFF"/>
                  </a:solidFill>
                  <a:latin typeface="Arial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5555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4"/>
          <c:min val="0"/>
        </c:scaling>
        <c:delete val="0"/>
        <c:axPos val="l"/>
        <c:majorGridlines>
          <c:spPr>
            <a:ln w="6350" cap="flat">
              <a:solidFill>
                <a:srgbClr val="E0E0E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555555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UFS5(New)</c:v>
                </c:pt>
              </c:strCache>
            </c:strRef>
          </c:tx>
          <c:spPr>
            <a:solidFill>
              <a:srgbClr val="1A7A3C"/>
            </a:solidFill>
            <a:ln w="25400" cap="flat">
              <a:solidFill>
                <a:srgbClr val="1A7A3C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1A7A3C"/>
              </a:solidFill>
              <a:ln w="9525" cap="flat">
                <a:solidFill>
                  <a:srgbClr val="1A7A3C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512</c:v>
                  </c:pt>
                  <c:pt idx="1">
                    <c:v>1K</c:v>
                  </c:pt>
                  <c:pt idx="2">
                    <c:v>1.8K</c:v>
                  </c:pt>
                  <c:pt idx="3">
                    <c:v>2K</c:v>
                  </c:pt>
                  <c:pt idx="4">
                    <c:v>4K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2804</c:v>
                </c:pt>
                <c:pt idx="1">
                  <c:v>5608</c:v>
                </c:pt>
                <c:pt idx="2">
                  <c:v>9445</c:v>
                </c:pt>
                <c:pt idx="3">
                  <c:v>7700</c:v>
                </c:pt>
                <c:pt idx="4">
                  <c:v>9445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NVMe(New)</c:v>
                </c:pt>
              </c:strCache>
            </c:strRef>
          </c:tx>
          <c:spPr>
            <a:solidFill>
              <a:srgbClr val="C84B00"/>
            </a:solidFill>
            <a:ln w="25400" cap="flat">
              <a:solidFill>
                <a:srgbClr val="C84B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C84B00"/>
              </a:solidFill>
              <a:ln w="9525" cap="flat">
                <a:solidFill>
                  <a:srgbClr val="C84B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512</c:v>
                  </c:pt>
                  <c:pt idx="1">
                    <c:v>1K</c:v>
                  </c:pt>
                  <c:pt idx="2">
                    <c:v>1.8K</c:v>
                  </c:pt>
                  <c:pt idx="3">
                    <c:v>2K</c:v>
                  </c:pt>
                  <c:pt idx="4">
                    <c:v>4K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1963</c:v>
                </c:pt>
                <c:pt idx="1">
                  <c:v>3925</c:v>
                </c:pt>
                <c:pt idx="2">
                  <c:v>6900</c:v>
                </c:pt>
                <c:pt idx="3">
                  <c:v>7851</c:v>
                </c:pt>
                <c:pt idx="4">
                  <c:v>9445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Comp.Ceil</c:v>
                </c:pt>
              </c:strCache>
            </c:strRef>
          </c:tx>
          <c:spPr>
            <a:solidFill>
              <a:srgbClr val="AAAAAA"/>
            </a:solidFill>
            <a:ln w="25400" cap="flat">
              <a:solidFill>
                <a:srgbClr val="AAAAAA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AAAAAA"/>
              </a:solidFill>
              <a:ln w="9525" cap="flat">
                <a:solidFill>
                  <a:srgbClr val="AAAAA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512</c:v>
                  </c:pt>
                  <c:pt idx="1">
                    <c:v>1K</c:v>
                  </c:pt>
                  <c:pt idx="2">
                    <c:v>1.8K</c:v>
                  </c:pt>
                  <c:pt idx="3">
                    <c:v>2K</c:v>
                  </c:pt>
                  <c:pt idx="4">
                    <c:v>4K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9445</c:v>
                </c:pt>
                <c:pt idx="1">
                  <c:v>9445</c:v>
                </c:pt>
                <c:pt idx="2">
                  <c:v>9445</c:v>
                </c:pt>
                <c:pt idx="3">
                  <c:v>9445</c:v>
                </c:pt>
                <c:pt idx="4">
                  <c:v>9445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777777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000"/>
          <c:min val="0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777777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7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UFS 5.0</c:v>
                </c:pt>
              </c:strCache>
            </c:strRef>
          </c:tx>
          <c:spPr>
            <a:solidFill>
              <a:srgbClr val="1A7A3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0%</c:v>
                  </c:pt>
                  <c:pt idx="1">
                    <c:v>30%</c:v>
                  </c:pt>
                  <c:pt idx="2">
                    <c:v>50%</c:v>
                  </c:pt>
                  <c:pt idx="3">
                    <c:v>70%</c:v>
                  </c:pt>
                  <c:pt idx="4">
                    <c:v>85%</c:v>
                  </c:pt>
                  <c:pt idx="5">
                    <c:v>100%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5.5</c:v>
                </c:pt>
                <c:pt idx="1">
                  <c:v>7.8</c:v>
                </c:pt>
                <c:pt idx="2">
                  <c:v>11</c:v>
                </c:pt>
                <c:pt idx="3">
                  <c:v>18.3</c:v>
                </c:pt>
                <c:pt idx="4">
                  <c:v>36.5</c:v>
                </c:pt>
                <c:pt idx="5">
                  <c:v>51.6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NVMe 7</c:v>
                </c:pt>
              </c:strCache>
            </c:strRef>
          </c:tx>
          <c:spPr>
            <a:solidFill>
              <a:srgbClr val="C84B0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0%</c:v>
                  </c:pt>
                  <c:pt idx="1">
                    <c:v>30%</c:v>
                  </c:pt>
                  <c:pt idx="2">
                    <c:v>50%</c:v>
                  </c:pt>
                  <c:pt idx="3">
                    <c:v>70%</c:v>
                  </c:pt>
                  <c:pt idx="4">
                    <c:v>85%</c:v>
                  </c:pt>
                  <c:pt idx="5">
                    <c:v>100%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3.8</c:v>
                </c:pt>
                <c:pt idx="1">
                  <c:v>5.5</c:v>
                </c:pt>
                <c:pt idx="2">
                  <c:v>7.7</c:v>
                </c:pt>
                <c:pt idx="3">
                  <c:v>12.8</c:v>
                </c:pt>
                <c:pt idx="4">
                  <c:v>25.6</c:v>
                </c:pt>
                <c:pt idx="5">
                  <c:v>51.6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GPU Ceil</c:v>
                </c:pt>
              </c:strCache>
            </c:strRef>
          </c:tx>
          <c:spPr>
            <a:solidFill>
              <a:srgbClr val="AAAAA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0%</c:v>
                  </c:pt>
                  <c:pt idx="1">
                    <c:v>30%</c:v>
                  </c:pt>
                  <c:pt idx="2">
                    <c:v>50%</c:v>
                  </c:pt>
                  <c:pt idx="3">
                    <c:v>70%</c:v>
                  </c:pt>
                  <c:pt idx="4">
                    <c:v>85%</c:v>
                  </c:pt>
                  <c:pt idx="5">
                    <c:v>100%</c:v>
                  </c:pt>
                </c:lvl>
              </c:multiLvlStrCache>
            </c:multiLvl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51.6</c:v>
                </c:pt>
                <c:pt idx="1">
                  <c:v>51.6</c:v>
                </c:pt>
                <c:pt idx="2">
                  <c:v>51.6</c:v>
                </c:pt>
                <c:pt idx="3">
                  <c:v>51.6</c:v>
                </c:pt>
                <c:pt idx="4">
                  <c:v>51.6</c:v>
                </c:pt>
                <c:pt idx="5">
                  <c:v>51.6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777777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5"/>
          <c:min val="0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777777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7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chart" Target="/ppt/charts/chart3.xml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4864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64592" y="0"/>
            <a:ext cx="1188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DeepSeek V4-Flash: UFS 5.0 Expert Offload I/O Analysis — New Platform (546 GB/s / 240 TOPS) vs DGX (273 GB/s / 123 TOPS)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164592" y="621792"/>
            <a:ext cx="11832336" cy="475488"/>
          </a:xfrm>
          <a:prstGeom prst="rect">
            <a:avLst/>
          </a:prstGeom>
          <a:solidFill>
            <a:srgbClr val="D6E4F7"/>
          </a:solidFill>
          <a:ln w="19050">
            <a:solidFill>
              <a:srgbClr val="2458A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630936"/>
            <a:ext cx="11612880" cy="45720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Platform (546 GB/s / 240 TOPS): </a:t>
            </a:r>
            <a:pPr algn="l" indent="0" marL="0">
              <a:buNone/>
            </a:pPr>
            <a:r>
              <a:rPr lang="en-US" sz="10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UFS 5.0 crosses IO→Compute at </a:t>
            </a:r>
            <a:pPr algn="l" indent="0" marL="0">
              <a:buNone/>
            </a:pPr>
            <a:r>
              <a:rPr lang="en-US" sz="1050" b="1" dirty="0">
                <a:solidFill>
                  <a:srgbClr val="2458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= 1,800 tok</a:t>
            </a:r>
            <a:pPr algn="l" indent="0" marL="0">
              <a:buNone/>
            </a:pPr>
            <a:r>
              <a:rPr lang="en-US" sz="10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at standard 2K chunk, </a:t>
            </a:r>
            <a:pPr algn="l" indent="0" marL="0">
              <a:buNone/>
            </a:pPr>
            <a:r>
              <a:rPr lang="en-US" sz="1050" b="1" dirty="0">
                <a:solidFill>
                  <a:srgbClr val="C84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NVMe 7 (7,851) edges UFS 5.0 (7,700 tok/s)</a:t>
            </a:r>
            <a:pPr algn="l" indent="0" marL="0">
              <a:buNone/>
            </a:pPr>
            <a:r>
              <a:rPr lang="en-US" sz="10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because compute becomes the UFS5 bottleneck. Decode GPU ceiling </a:t>
            </a:r>
            <a:pPr algn="l" indent="0" marL="0">
              <a:buNone/>
            </a:pPr>
            <a:r>
              <a:rPr lang="en-US" sz="1050" b="1" dirty="0">
                <a:solidFill>
                  <a:srgbClr val="1A7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doubles to 51.6 tok/s</a:t>
            </a:r>
            <a:pPr algn="l" indent="0" marL="0">
              <a:buNone/>
            </a:pPr>
            <a:r>
              <a:rPr lang="en-US" sz="10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vs DGX ref 25.8 tok/s (273 GB/s). DGX (123 TOPS): compute-bound already at C=922.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164592" y="1152144"/>
            <a:ext cx="3474720" cy="2999232"/>
          </a:xfrm>
          <a:prstGeom prst="rect">
            <a:avLst/>
          </a:prstGeom>
          <a:solidFill>
            <a:srgbClr val="F8FBFF"/>
          </a:solidFill>
          <a:ln w="9525">
            <a:solidFill>
              <a:srgbClr val="C5D8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64592" y="1152144"/>
            <a:ext cx="3474720" cy="292608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907792" y="1188720"/>
            <a:ext cx="658368" cy="219456"/>
          </a:xfrm>
          <a:prstGeom prst="roundRect">
            <a:avLst>
              <a:gd name="adj" fmla="val 25000"/>
            </a:avLst>
          </a:prstGeom>
          <a:solidFill>
            <a:srgbClr val="D4700A"/>
          </a:solidFill>
          <a:ln w="12700">
            <a:solidFill>
              <a:srgbClr val="D4700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907792" y="1188720"/>
            <a:ext cx="6583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</a:t>
            </a:r>
            <a:endParaRPr lang="en-US" sz="750" dirty="0"/>
          </a:p>
        </p:txBody>
      </p:sp>
      <p:sp>
        <p:nvSpPr>
          <p:cNvPr id="10" name="Text 8"/>
          <p:cNvSpPr/>
          <p:nvPr/>
        </p:nvSpPr>
        <p:spPr>
          <a:xfrm>
            <a:off x="256032" y="1152144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Cold Boot: Model Load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274320" y="1499616"/>
            <a:ext cx="325526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model: </a:t>
            </a:r>
            <a:pPr algn="l" indent="0" marL="0">
              <a:buNone/>
            </a:pPr>
            <a:r>
              <a:rPr lang="en-US" sz="900" b="1" dirty="0">
                <a:solidFill>
                  <a:srgbClr val="2458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86.68 GB</a:t>
            </a:r>
            <a:pPr algn="l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(8.76 GB dense + 77.92 GB experts)</a:t>
            </a:r>
            <a:pPr algn="l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endParaRPr lang="en-US" sz="900" dirty="0"/>
          </a:p>
          <a:p>
            <a:pPr algn="l" indent="0" marL="0">
              <a:buNone/>
            </a:pPr>
            <a:r>
              <a:rPr lang="en-US" sz="9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UFS 5.0 full load: </a:t>
            </a:r>
            <a:pPr algn="l" indent="0" marL="0">
              <a:buNone/>
            </a:pPr>
            <a:r>
              <a:rPr lang="en-US" sz="900" b="1" dirty="0">
                <a:solidFill>
                  <a:srgbClr val="1A7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8.67 s</a:t>
            </a:r>
            <a:pPr algn="l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vs  NVMe 7 GB/s: </a:t>
            </a:r>
            <a:pPr algn="l" indent="0" marL="0">
              <a:buNone/>
            </a:pPr>
            <a:r>
              <a:rPr lang="en-US" sz="900" b="1" dirty="0">
                <a:solidFill>
                  <a:srgbClr val="C84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12.38 s</a:t>
            </a:r>
            <a:pPr algn="l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→  </a:t>
            </a:r>
            <a:pPr algn="l" indent="0" marL="0">
              <a:buNone/>
            </a:pPr>
            <a:r>
              <a:rPr lang="en-US" sz="900" b="1" dirty="0">
                <a:solidFill>
                  <a:srgbClr val="1A7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1.43× faster</a:t>
            </a:r>
            <a:pPr algn="l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endParaRPr lang="en-US" sz="900" dirty="0"/>
          </a:p>
          <a:p>
            <a:pPr algn="l" indent="0" marL="0">
              <a:buNone/>
            </a:pPr>
            <a:r>
              <a:rPr lang="en-US" sz="9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Dense-only hot path: </a:t>
            </a:r>
            <a:pPr algn="l" indent="0" marL="0">
              <a:buNone/>
            </a:pPr>
            <a:r>
              <a:rPr lang="en-US" sz="900" b="1" dirty="0">
                <a:solidFill>
                  <a:srgbClr val="1A7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0.88 s</a:t>
            </a:r>
            <a:pPr algn="l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→ inference ready in &lt;1 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274320" y="2377440"/>
            <a:ext cx="3255264" cy="658368"/>
          </a:xfrm>
          <a:prstGeom prst="rect">
            <a:avLst/>
          </a:prstGeom>
          <a:solidFill>
            <a:srgbClr val="F3F3F3"/>
          </a:solidFill>
          <a:ln w="6350">
            <a:solidFill>
              <a:srgbClr val="CCCCC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7472" y="2414016"/>
            <a:ext cx="314553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 = model_size / storage_BW</a:t>
            </a:r>
            <a:endParaRPr lang="en-US" sz="850" dirty="0"/>
          </a:p>
          <a:p>
            <a:pPr algn="l" indent="0" marL="0">
              <a:buNone/>
            </a:pPr>
            <a:r>
              <a:rPr lang="en-US" sz="8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UFS 5.0: 46.6 Gbps × 2 lanes → </a:t>
            </a:r>
            <a:pPr algn="l" indent="0" marL="0">
              <a:buNone/>
            </a:pPr>
            <a:r>
              <a:rPr lang="en-US" sz="850" b="1" dirty="0">
                <a:solidFill>
                  <a:srgbClr val="2458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GB/s payload</a:t>
            </a:r>
            <a:endParaRPr lang="en-US" sz="850" dirty="0"/>
          </a:p>
          <a:p>
            <a:pPr algn="l" indent="0" marL="0">
              <a:buNone/>
            </a:pPr>
            <a:r>
              <a:rPr lang="en-US" sz="8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Speedup = 10 / 7 = </a:t>
            </a:r>
            <a:pPr algn="l" indent="0" marL="0">
              <a:buNone/>
            </a:pPr>
            <a:r>
              <a:rPr lang="en-US" sz="850" b="1" dirty="0">
                <a:solidFill>
                  <a:srgbClr val="1A7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1.43×</a:t>
            </a:r>
            <a:pPr algn="l" indent="0" marL="0">
              <a:buNone/>
            </a:pPr>
            <a:r>
              <a:rPr lang="en-US" sz="85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(load independent of GPU specs)</a:t>
            </a:r>
            <a:endParaRPr lang="en-US" sz="850" dirty="0"/>
          </a:p>
        </p:txBody>
      </p:sp>
      <p:graphicFrame>
        <p:nvGraphicFramePr>
          <p:cNvPr id="14" name="Chart 0" descr=""/>
          <p:cNvGraphicFramePr/>
          <p:nvPr/>
        </p:nvGraphicFramePr>
        <p:xfrm>
          <a:off x="274320" y="3090672"/>
          <a:ext cx="3255264" cy="96926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5" name="Shape 12"/>
          <p:cNvSpPr/>
          <p:nvPr/>
        </p:nvSpPr>
        <p:spPr>
          <a:xfrm>
            <a:off x="3730752" y="1152144"/>
            <a:ext cx="4151376" cy="2999232"/>
          </a:xfrm>
          <a:prstGeom prst="rect">
            <a:avLst/>
          </a:prstGeom>
          <a:solidFill>
            <a:srgbClr val="F8FBFF"/>
          </a:solidFill>
          <a:ln w="9525">
            <a:solidFill>
              <a:srgbClr val="C5D8F0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3730752" y="1152144"/>
            <a:ext cx="4151376" cy="292608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150608" y="1188720"/>
            <a:ext cx="658368" cy="219456"/>
          </a:xfrm>
          <a:prstGeom prst="roundRect">
            <a:avLst>
              <a:gd name="adj" fmla="val 25000"/>
            </a:avLst>
          </a:prstGeom>
          <a:solidFill>
            <a:srgbClr val="2458A4"/>
          </a:solidFill>
          <a:ln w="12700">
            <a:solidFill>
              <a:srgbClr val="2458A4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150608" y="1188720"/>
            <a:ext cx="6583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Prefill</a:t>
            </a:r>
            <a:endParaRPr lang="en-US" sz="750" dirty="0"/>
          </a:p>
        </p:txBody>
      </p:sp>
      <p:sp>
        <p:nvSpPr>
          <p:cNvPr id="19" name="Text 16"/>
          <p:cNvSpPr/>
          <p:nvPr/>
        </p:nvSpPr>
        <p:spPr>
          <a:xfrm>
            <a:off x="3822192" y="1152144"/>
            <a:ext cx="33284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 Prefill: Layer Pipeline IO vs Compute</a:t>
            </a:r>
            <a:endParaRPr lang="en-US" sz="950" dirty="0"/>
          </a:p>
        </p:txBody>
      </p:sp>
      <p:sp>
        <p:nvSpPr>
          <p:cNvPr id="20" name="Shape 17"/>
          <p:cNvSpPr/>
          <p:nvPr/>
        </p:nvSpPr>
        <p:spPr>
          <a:xfrm>
            <a:off x="3840480" y="1499616"/>
            <a:ext cx="3931920" cy="566928"/>
          </a:xfrm>
          <a:prstGeom prst="rect">
            <a:avLst/>
          </a:prstGeom>
          <a:solidFill>
            <a:srgbClr val="F3F3F3"/>
          </a:solidFill>
          <a:ln w="6350">
            <a:solidFill>
              <a:srgbClr val="CCCCCC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3895344" y="1517904"/>
            <a:ext cx="387705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IO/layer UFS5.0: </a:t>
            </a:r>
            <a:pPr algn="l" indent="0" marL="0">
              <a:buNone/>
            </a:pPr>
            <a:r>
              <a:rPr lang="en-US" sz="800" b="1" dirty="0">
                <a:solidFill>
                  <a:srgbClr val="1A7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6×7.08MB/10GB/s = 4.25 ms</a:t>
            </a:r>
            <a:endParaRPr lang="en-US" sz="800" dirty="0"/>
          </a:p>
          <a:p>
            <a:pPr algn="l" indent="0" marL="0">
              <a:buNone/>
            </a:pPr>
            <a:r>
              <a:rPr lang="en-US" sz="8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IO/layer NVMe 7: </a:t>
            </a:r>
            <a:pPr algn="l" indent="0" marL="0">
              <a:buNone/>
            </a:pPr>
            <a:r>
              <a:rPr lang="en-US" sz="800" b="1" dirty="0">
                <a:solidFill>
                  <a:srgbClr val="C84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6×7.08MB/7GB/s  = 6.07 ms</a:t>
            </a:r>
            <a:endParaRPr lang="en-US" sz="800" dirty="0"/>
          </a:p>
          <a:p>
            <a:pPr algn="l" indent="0" marL="0">
              <a:buNone/>
            </a:pPr>
            <a:r>
              <a:rPr lang="en-US" sz="8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Compute/layer (240T, C=2K): </a:t>
            </a:r>
            <a:pPr algn="l" indent="0" marL="0">
              <a:buNone/>
            </a:pPr>
            <a:r>
              <a:rPr lang="en-US" sz="800" b="1" dirty="0">
                <a:solidFill>
                  <a:srgbClr val="2458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4.83 ms</a:t>
            </a:r>
            <a:pPr algn="l" indent="0" marL="0">
              <a:buNone/>
            </a:pPr>
            <a:r>
              <a:rPr lang="en-US" sz="8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[DGX 123T: 9.43 ms]</a:t>
            </a:r>
            <a:endParaRPr lang="en-US" sz="8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840480" y="2121408"/>
          <a:ext cx="393192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566928"/>
                <a:gridCol w="621792"/>
                <a:gridCol w="493776"/>
                <a:gridCol w="621792"/>
                <a:gridCol w="493776"/>
              </a:tblGrid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Compute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UFS5 TPS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Regime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NVMe TPS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Regime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5555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5555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1.21ms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C84B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2,804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C84B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IO✗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C84B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1,963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C84B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IO✗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C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5555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1,024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5555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2.42ms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C84B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5,608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C84B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IO✗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C84B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3,925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C84B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IO✗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458A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1,800★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C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458A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4.25ms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C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1A7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9,445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C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458A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cross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C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C84B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6,900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C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C84B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IO✗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CC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2,048▶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F0E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4.83ms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F0E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8A62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7,700✓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F0E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1A7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CPU✓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F0E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1A7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7,851★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F0E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C84B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IO&gt;CPU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F0E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5555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4,096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5555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9.67ms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1A7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9,445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1A7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CPU✓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1A7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9,445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1A7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CPU✓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C"/>
                    </a:solidFill>
                  </a:tcPr>
                </a:tc>
              </a:tr>
            </a:tbl>
          </a:graphicData>
        </a:graphic>
      </p:graphicFrame>
      <p:sp>
        <p:nvSpPr>
          <p:cNvPr id="23" name="Text 19"/>
          <p:cNvSpPr/>
          <p:nvPr/>
        </p:nvSpPr>
        <p:spPr>
          <a:xfrm>
            <a:off x="3840480" y="3557016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dirty="0">
                <a:solidFill>
                  <a:srgbClr val="2458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New(240T): </a:t>
            </a:r>
            <a:pPr indent="0" marL="0">
              <a:buNone/>
            </a:pPr>
            <a:r>
              <a:rPr lang="en-US" sz="7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UFS5 C≥1,800 | NVMe C≥2,572 | </a:t>
            </a:r>
            <a:pPr indent="0" marL="0">
              <a:buNone/>
            </a:pPr>
            <a:r>
              <a:rPr lang="en-US" sz="750" b="1" dirty="0">
                <a:solidFill>
                  <a:srgbClr val="A06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DGX(123T): </a:t>
            </a:r>
            <a:pPr indent="0" marL="0">
              <a:buNone/>
            </a:pPr>
            <a:r>
              <a:rPr lang="en-US" sz="7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UFS5 C≥922 | NVMe C≥1,318 | Ceil: </a:t>
            </a:r>
            <a:pPr indent="0" marL="0">
              <a:buNone/>
            </a:pPr>
            <a:r>
              <a:rPr lang="en-US" sz="750" b="1" dirty="0">
                <a:solidFill>
                  <a:srgbClr val="1A7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9,445 / 4,840 tok/s</a:t>
            </a:r>
            <a:endParaRPr lang="en-US" sz="750" dirty="0"/>
          </a:p>
        </p:txBody>
      </p:sp>
      <p:graphicFrame>
        <p:nvGraphicFramePr>
          <p:cNvPr id="24" name="Chart 1" descr=""/>
          <p:cNvGraphicFramePr/>
          <p:nvPr/>
        </p:nvGraphicFramePr>
        <p:xfrm>
          <a:off x="3840480" y="3767328"/>
          <a:ext cx="3931920" cy="32918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5" name="Shape 20"/>
          <p:cNvSpPr/>
          <p:nvPr/>
        </p:nvSpPr>
        <p:spPr>
          <a:xfrm>
            <a:off x="7973568" y="1152144"/>
            <a:ext cx="4023360" cy="2999232"/>
          </a:xfrm>
          <a:prstGeom prst="rect">
            <a:avLst/>
          </a:prstGeom>
          <a:solidFill>
            <a:srgbClr val="F8FBFF"/>
          </a:solidFill>
          <a:ln w="9525">
            <a:solidFill>
              <a:srgbClr val="C5D8F0"/>
            </a:solidFill>
            <a:prstDash val="solid"/>
          </a:ln>
        </p:spPr>
      </p:sp>
      <p:sp>
        <p:nvSpPr>
          <p:cNvPr id="26" name="Shape 21"/>
          <p:cNvSpPr/>
          <p:nvPr/>
        </p:nvSpPr>
        <p:spPr>
          <a:xfrm>
            <a:off x="7973568" y="1152144"/>
            <a:ext cx="4023360" cy="292608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27" name="Shape 22"/>
          <p:cNvSpPr/>
          <p:nvPr/>
        </p:nvSpPr>
        <p:spPr>
          <a:xfrm>
            <a:off x="11265408" y="1188720"/>
            <a:ext cx="658368" cy="219456"/>
          </a:xfrm>
          <a:prstGeom prst="roundRect">
            <a:avLst>
              <a:gd name="adj" fmla="val 25000"/>
            </a:avLst>
          </a:prstGeom>
          <a:solidFill>
            <a:srgbClr val="1A7A3C"/>
          </a:solidFill>
          <a:ln w="12700">
            <a:solidFill>
              <a:srgbClr val="1A7A3C"/>
            </a:solidFill>
            <a:prstDash val="solid"/>
          </a:ln>
        </p:spPr>
      </p:sp>
      <p:sp>
        <p:nvSpPr>
          <p:cNvPr id="28" name="Text 23"/>
          <p:cNvSpPr/>
          <p:nvPr/>
        </p:nvSpPr>
        <p:spPr>
          <a:xfrm>
            <a:off x="11265408" y="1188720"/>
            <a:ext cx="6583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Decode</a:t>
            </a:r>
            <a:endParaRPr lang="en-US" sz="750" dirty="0"/>
          </a:p>
        </p:txBody>
      </p:sp>
      <p:sp>
        <p:nvSpPr>
          <p:cNvPr id="29" name="Text 24"/>
          <p:cNvSpPr/>
          <p:nvPr/>
        </p:nvSpPr>
        <p:spPr>
          <a:xfrm>
            <a:off x="8065008" y="1152144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 Decode: Hot Cache × Storage BW</a:t>
            </a:r>
            <a:endParaRPr lang="en-US" sz="950" dirty="0"/>
          </a:p>
        </p:txBody>
      </p:sp>
      <p:sp>
        <p:nvSpPr>
          <p:cNvPr id="30" name="Shape 25"/>
          <p:cNvSpPr/>
          <p:nvPr/>
        </p:nvSpPr>
        <p:spPr>
          <a:xfrm>
            <a:off x="8083296" y="1499616"/>
            <a:ext cx="3803904" cy="402336"/>
          </a:xfrm>
          <a:prstGeom prst="rect">
            <a:avLst/>
          </a:prstGeom>
          <a:solidFill>
            <a:srgbClr val="F3F3F3"/>
          </a:solidFill>
          <a:ln w="6350">
            <a:solidFill>
              <a:srgbClr val="CCCCCC"/>
            </a:solidFill>
            <a:prstDash val="solid"/>
          </a:ln>
        </p:spPr>
      </p:sp>
      <p:sp>
        <p:nvSpPr>
          <p:cNvPr id="31" name="Text 26"/>
          <p:cNvSpPr/>
          <p:nvPr/>
        </p:nvSpPr>
        <p:spPr>
          <a:xfrm>
            <a:off x="8138160" y="1517904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Expert IO/token: </a:t>
            </a:r>
            <a:pPr algn="l" indent="0" marL="0">
              <a:buNone/>
            </a:pPr>
            <a:r>
              <a:rPr lang="en-US" sz="8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258 × 7.08 MB = 1.826 GB</a:t>
            </a:r>
            <a:endParaRPr lang="en-US" sz="800" dirty="0"/>
          </a:p>
          <a:p>
            <a:pPr algn="l" indent="0" marL="0">
              <a:buNone/>
            </a:pPr>
            <a:r>
              <a:rPr lang="en-US" sz="8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Dense (GPU mem): </a:t>
            </a:r>
            <a:pPr algn="l" indent="0" marL="0">
              <a:buNone/>
            </a:pPr>
            <a:r>
              <a:rPr lang="en-US" sz="800" b="1" dirty="0">
                <a:solidFill>
                  <a:srgbClr val="2458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8.76/546 = 16.0 ms</a:t>
            </a:r>
            <a:pPr algn="l" indent="0" marL="0">
              <a:buNone/>
            </a:pPr>
            <a:r>
              <a:rPr lang="en-US" sz="8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[DGX: /273 = 32.1 ms]  </a:t>
            </a:r>
            <a:pPr algn="l" indent="0" marL="0">
              <a:buNone/>
            </a:pPr>
            <a:r>
              <a:rPr lang="en-US" sz="8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(always overlapped)</a:t>
            </a:r>
            <a:endParaRPr lang="en-US" sz="800" dirty="0"/>
          </a:p>
        </p:txBody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083296" y="1956816"/>
          <a:ext cx="3803904" cy="914400"/>
        </p:xfrm>
        <a:graphic>
          <a:graphicData uri="http://schemas.openxmlformats.org/drawingml/2006/table">
            <a:tbl>
              <a:tblPr/>
              <a:tblGrid>
                <a:gridCol w="493776"/>
                <a:gridCol w="493776"/>
                <a:gridCol w="512064"/>
                <a:gridCol w="512064"/>
                <a:gridCol w="512064"/>
                <a:gridCol w="512064"/>
              </a:tblGrid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Hot Cache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Cold (GB)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UFS5 ms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UFS5 TPS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NVMe ms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NVMe TPS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5555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1.826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5555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182.6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C84B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5555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260.9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C84B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3.8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A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0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5555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1.278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0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5555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127.8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0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C84B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7.8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0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5555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182.6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0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C84B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0E7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5555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0.913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5555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91.3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8A62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5555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130.4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8A62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E7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8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5555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0.548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8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5555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54.8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8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1A7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18.3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8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5555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78.3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8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8A62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12.8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8E9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5555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0.274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5555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27.4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1A7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36.5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5555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39.1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1A7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5555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5555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19.4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1A7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51.6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5555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19.4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1A7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51.6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</a:tr>
            </a:tbl>
          </a:graphicData>
        </a:graphic>
      </p:graphicFrame>
      <p:sp>
        <p:nvSpPr>
          <p:cNvPr id="33" name="Text 27"/>
          <p:cNvSpPr/>
          <p:nvPr/>
        </p:nvSpPr>
        <p:spPr>
          <a:xfrm>
            <a:off x="8083296" y="3529584"/>
            <a:ext cx="38039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GPU mem ceil: </a:t>
            </a:r>
            <a:pPr indent="0" marL="0">
              <a:buNone/>
            </a:pPr>
            <a:r>
              <a:rPr lang="en-US" sz="750" b="1" dirty="0">
                <a:solidFill>
                  <a:srgbClr val="1A7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51.6 tok/s</a:t>
            </a:r>
            <a:pPr indent="0" marL="0">
              <a:buNone/>
            </a:pPr>
            <a:r>
              <a:rPr lang="en-US" sz="7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(new 546 GB/s)  |  DGX: </a:t>
            </a:r>
            <a:pPr indent="0" marL="0">
              <a:buNone/>
            </a:pPr>
            <a:r>
              <a:rPr lang="en-US" sz="750" b="1" dirty="0">
                <a:solidFill>
                  <a:srgbClr val="5A9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25.8 tok/s</a:t>
            </a:r>
            <a:pPr indent="0" marL="0">
              <a:buNone/>
            </a:pPr>
            <a:r>
              <a:rPr lang="en-US" sz="7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(273 GB/s)  |  UFS5→GPU-bnd at ~90%</a:t>
            </a:r>
            <a:endParaRPr lang="en-US" sz="750" dirty="0"/>
          </a:p>
        </p:txBody>
      </p:sp>
      <p:graphicFrame>
        <p:nvGraphicFramePr>
          <p:cNvPr id="34" name="Chart 2" descr=""/>
          <p:cNvGraphicFramePr/>
          <p:nvPr/>
        </p:nvGraphicFramePr>
        <p:xfrm>
          <a:off x="8083296" y="3758184"/>
          <a:ext cx="3803904" cy="338328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35" name="Shape 28"/>
          <p:cNvSpPr/>
          <p:nvPr/>
        </p:nvSpPr>
        <p:spPr>
          <a:xfrm>
            <a:off x="164592" y="4206240"/>
            <a:ext cx="11832336" cy="237744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6" name="Text 29"/>
          <p:cNvSpPr/>
          <p:nvPr/>
        </p:nvSpPr>
        <p:spPr>
          <a:xfrm>
            <a:off x="256032" y="4215384"/>
            <a:ext cx="1164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Summary: UFS 5.0 vs NVMe 7 GB/s  —  New Platform (546 GB/s / 240 TOPS)  |  DGX ref (273 GB/s / 123 TOPS)</a:t>
            </a:r>
            <a:endParaRPr lang="en-US" sz="900" dirty="0"/>
          </a:p>
        </p:txBody>
      </p:sp>
      <p:graphicFrame>
        <p:nvGraphicFramePr>
          <p:cNvPr id="4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64592" y="4462272"/>
          <a:ext cx="11832336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1280160"/>
                <a:gridCol w="1280160"/>
                <a:gridCol w="1005840"/>
                <a:gridCol w="1188720"/>
                <a:gridCol w="5248656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 UFS 5.0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 NVMe 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UFS/NVMe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DGX (123T)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Bottleneck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Cold Boot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A7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8.67 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C84B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12.38 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A7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1.43×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5555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8.67 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5555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Storage BW (platform-independent)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Prefill C=512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A7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2,804 tok/s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C84B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1,963 tok/s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A7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1.43×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5555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2,804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5555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IO-bound (all platforms, same TPS)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Prefill C=2,048 ★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C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8A62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7,700 tok/s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C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A7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7,851 tok/s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C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C84B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NVMe +2% ↑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C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5555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3,947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C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5555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New: UFS5=CPU-bnd, NVMe=IO-bnd; DGX: CPU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C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Decode 0% hot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A7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5.5 tok/s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C84B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3.8 tok/s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A7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1.43×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5555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5.5 tok/s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5555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Cold SSD (all)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Decode 85% hot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A7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36.5 tok/s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C84B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25.6 tok/s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A7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1.43×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5555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~26 tok/s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5555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New=SSD-bnd (36.5); DGX=GPU-bnd (~26)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Decode 100% hot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A7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51.6 tok/s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C84B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51.6 tok/s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A7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2× vs DGX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5555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25.8 tok/s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5555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GPU memory ceiling (546 GB/s = 2× DGX)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0F0"/>
                    </a:solidFill>
                  </a:tcPr>
                </a:tc>
              </a:tr>
            </a:tbl>
          </a:graphicData>
        </a:graphic>
      </p:graphicFrame>
      <p:sp>
        <p:nvSpPr>
          <p:cNvPr id="38" name="Text 30"/>
          <p:cNvSpPr/>
          <p:nvPr/>
        </p:nvSpPr>
        <p:spPr>
          <a:xfrm>
            <a:off x="164592" y="6638544"/>
            <a:ext cx="118323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i="1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 New platform: 546 GB/s memory BW, 240 TOPS BF16; DGX (GB10): 273 GB/s, 123 TOPS. ds4 FlashMoE: 43 layers, 256 experts/layer, 6 active, chunk C=2048, expert=7.078 MB. UFS 5.0: 46.6 Gbps/lane × 2 lanes → 10 GB/s payload. Per-layer linear FLOPs=566.2 MFLOPs (excl. lm_head). Compute ceiling=240T/25.41G=9,445; with C=2048 attn=240T/31.17G=7,700 tok/s.</a:t>
            </a:r>
            <a:endParaRPr lang="en-US" sz="6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2026-05-25T10:56:01Z</dcterms:created>
  <dcterms:modified xsi:type="dcterms:W3CDTF">2026-05-25T10:56:01Z</dcterms:modified>
</cp:coreProperties>
</file>