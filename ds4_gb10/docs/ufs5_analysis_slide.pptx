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800" b="0" i="0" u="none" strike="noStrike">
                <a:solidFill>
                  <a:srgbClr val="1B2A4A"/>
                </a:solidFill>
                <a:latin typeface="Arial"/>
              </a:rPr>
              <a:t>Cold Boot Load Time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 Time (s)</c:v>
                </c:pt>
              </c:strCache>
            </c:strRef>
          </c:tx>
          <c:spPr>
            <a:solidFill>
              <a:srgbClr val="1A7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4B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UFS 5.0
10 GB/s</c:v>
                  </c:pt>
                  <c:pt idx="1">
                    <c:v>NVMe
7 GB/s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8.67</c:v>
                </c:pt>
                <c:pt idx="1">
                  <c:v>12.38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PCIe 5.0</c:v>
                </c:pt>
              </c:strCache>
            </c:strRef>
          </c:tx>
          <c:spPr>
            <a:solidFill>
              <a:srgbClr val="1A7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30%</c:v>
                  </c:pt>
                  <c:pt idx="2">
                    <c:v>50%</c:v>
                  </c:pt>
                  <c:pt idx="3">
                    <c:v>70%</c:v>
                  </c:pt>
                  <c:pt idx="4">
                    <c:v>85%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</c:v>
                </c:pt>
                <c:pt idx="1">
                  <c:v>12.9</c:v>
                </c:pt>
                <c:pt idx="2">
                  <c:v>18.1</c:v>
                </c:pt>
                <c:pt idx="3">
                  <c:v>27.3</c:v>
                </c:pt>
                <c:pt idx="4">
                  <c:v>26.7</c:v>
                </c:pt>
                <c:pt idx="5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PCIe 6.0</c:v>
                </c:pt>
              </c:strCache>
            </c:strRef>
          </c:tx>
          <c:spPr>
            <a:solidFill>
              <a:srgbClr val="C84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30%</c:v>
                  </c:pt>
                  <c:pt idx="2">
                    <c:v>50%</c:v>
                  </c:pt>
                  <c:pt idx="3">
                    <c:v>70%</c:v>
                  </c:pt>
                  <c:pt idx="4">
                    <c:v>85%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18.4</c:v>
                </c:pt>
                <c:pt idx="1">
                  <c:v>26.2</c:v>
                </c:pt>
                <c:pt idx="2">
                  <c:v>28.3</c:v>
                </c:pt>
                <c:pt idx="3">
                  <c:v>27.3</c:v>
                </c:pt>
                <c:pt idx="4">
                  <c:v>26.7</c:v>
                </c:pt>
                <c:pt idx="5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 Ceil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30%</c:v>
                  </c:pt>
                  <c:pt idx="2">
                    <c:v>50%</c:v>
                  </c:pt>
                  <c:pt idx="3">
                    <c:v>70%</c:v>
                  </c:pt>
                  <c:pt idx="4">
                    <c:v>85%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</c:v>
                </c:pt>
                <c:pt idx="1">
                  <c:v>26</c:v>
                </c:pt>
                <c:pt idx="2">
                  <c:v>26</c:v>
                </c:pt>
                <c:pt idx="3">
                  <c:v>26</c:v>
                </c:pt>
                <c:pt idx="4">
                  <c:v>26</c:v>
                </c:pt>
                <c:pt idx="5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V4-Flash: PCIe 5.0 vs PCIe 6.0 NVMe Expert Offload I/O Analysis — GB10 (273 GB/s GPU BW / 123 TOPS FP16)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" y="621792"/>
            <a:ext cx="11832336" cy="475488"/>
          </a:xfrm>
          <a:prstGeom prst="rect">
            <a:avLst/>
          </a:prstGeom>
          <a:solidFill>
            <a:srgbClr val="D6E4F7"/>
          </a:solidFill>
          <a:ln w="19050">
            <a:solidFill>
              <a:srgbClr val="2458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30936"/>
            <a:ext cx="11612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6.0 x4 (32 GB/s) vs PCIe 5.0 x4 (15.75 GB/s): </a:t>
            </a:r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2.03× load speedup; </a:t>
            </a:r>
            <a:pPr algn="l" indent="0" marL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cold decode (18.4 vs 9.1 tok/s)</a:t>
            </a:r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Decode transitions to GPU-memory-bound at </a:t>
            </a:r>
            <a:pPr algn="l" indent="0" marL="0">
              <a:buNone/>
            </a:pPr>
            <a:r>
              <a:rPr lang="en-US" sz="1050" b="1" dirty="0">
                <a:solidFill>
                  <a:srgbClr val="245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hit (PCIe 6)</a:t>
            </a:r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pPr algn="l" indent="0" marL="0">
              <a:buNone/>
            </a:pPr>
            <a:r>
              <a:rPr lang="en-US" sz="1050" b="1" dirty="0">
                <a:solidFill>
                  <a:srgbClr val="C8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 hit (PCIe 5)</a:t>
            </a:r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converge to </a:t>
            </a:r>
            <a:pPr algn="l" indent="0" marL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tok/s GPU ceiling</a:t>
            </a:r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Prefill/TTFT: PCIe6 only helps for C &lt; 559 tokens (IO-bound) — TTFT 54 ms vs 110 ms at L=128; at C≥559 both CPU-bound at 5,052 tok/s ceiling.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" y="1152144"/>
            <a:ext cx="3474720" cy="2999232"/>
          </a:xfrm>
          <a:prstGeom prst="rect">
            <a:avLst/>
          </a:prstGeom>
          <a:solidFill>
            <a:srgbClr val="F8FBFF"/>
          </a:solidFill>
          <a:ln w="9525">
            <a:solidFill>
              <a:srgbClr val="C5D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52144"/>
            <a:ext cx="347472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18872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188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Cold Boot: Model Load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499616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model: </a:t>
            </a:r>
            <a:pPr algn="l" indent="0" marL="0">
              <a:buNone/>
            </a:pPr>
            <a:r>
              <a:rPr lang="en-US" sz="900" b="1" dirty="0">
                <a:solidFill>
                  <a:srgbClr val="245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86.68 GB</a:t>
            </a:r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(8.76 GB dense + 77.92 GB experts)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 5.0 full load: </a:t>
            </a:r>
            <a:pPr algn="l" indent="0" marL="0">
              <a:buNone/>
            </a:pPr>
            <a:r>
              <a:rPr lang="en-US" sz="9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8.67 s</a:t>
            </a:r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NVMe 7 GB/s: </a:t>
            </a:r>
            <a:pPr algn="l" indent="0" marL="0">
              <a:buNone/>
            </a:pPr>
            <a:r>
              <a:rPr lang="en-US" sz="900" b="1" dirty="0">
                <a:solidFill>
                  <a:srgbClr val="C8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12.38 s</a:t>
            </a:r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l" indent="0" marL="0">
              <a:buNone/>
            </a:pPr>
            <a:r>
              <a:rPr lang="en-US" sz="9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1.43× faster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Dense-only hot path: </a:t>
            </a:r>
            <a:pPr algn="l" indent="0" marL="0">
              <a:buNone/>
            </a:pPr>
            <a:r>
              <a:rPr lang="en-US" sz="9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s</a:t>
            </a:r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inference ready in &lt;1 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3255264" cy="658368"/>
          </a:xfrm>
          <a:prstGeom prst="rect">
            <a:avLst/>
          </a:prstGeom>
          <a:solidFill>
            <a:srgbClr val="F3F3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14016"/>
            <a:ext cx="3145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model_size / storage_BW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 5.0: 46.6 Gbps × 2 lanes → </a:t>
            </a:r>
            <a:pPr algn="l" indent="0" marL="0">
              <a:buNone/>
            </a:pPr>
            <a:r>
              <a:rPr lang="en-US" sz="850" b="1" dirty="0">
                <a:solidFill>
                  <a:srgbClr val="245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GB/s payload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= 10 / 7 = </a:t>
            </a:r>
            <a:pPr algn="l" indent="0" marL="0">
              <a:buNone/>
            </a:pPr>
            <a:r>
              <a:rPr lang="en-US" sz="8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1.43×</a:t>
            </a:r>
            <a:pPr algn="l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(load independent of GPU specs)</a:t>
            </a:r>
            <a:endParaRPr lang="en-US" sz="8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74320" y="3090672"/>
          <a:ext cx="3255264" cy="969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3730752" y="1152144"/>
            <a:ext cx="4151376" cy="2999232"/>
          </a:xfrm>
          <a:prstGeom prst="rect">
            <a:avLst/>
          </a:prstGeom>
          <a:solidFill>
            <a:srgbClr val="F8FBFF"/>
          </a:solidFill>
          <a:ln w="9525">
            <a:solidFill>
              <a:srgbClr val="C5D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30752" y="1152144"/>
            <a:ext cx="4151376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50608" y="118872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2458A4"/>
          </a:solidFill>
          <a:ln w="12700">
            <a:solidFill>
              <a:srgbClr val="2458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0608" y="1188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822192" y="115214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Prefill: Layer Pipeline IO vs Compute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0" y="1499616"/>
            <a:ext cx="3931920" cy="566928"/>
          </a:xfrm>
          <a:prstGeom prst="rect">
            <a:avLst/>
          </a:prstGeom>
          <a:solidFill>
            <a:srgbClr val="F3F3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95344" y="1517904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IO/layer PCIe5: </a:t>
            </a:r>
            <a:pPr algn="l" indent="0" marL="0">
              <a:buNone/>
            </a:pPr>
            <a:r>
              <a:rPr lang="en-US" sz="800" b="1" dirty="0">
                <a:solidFill>
                  <a:srgbClr val="C8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6×6.75MB/15.75 GB/s = 2.57 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IO/layer PCIe6: </a:t>
            </a:r>
            <a:pPr algn="l" indent="0" marL="0">
              <a:buNone/>
            </a:pPr>
            <a:r>
              <a:rPr lang="en-US" sz="8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6×6.75MB/32 GB/s    = 1.27 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Compute/layer (123T, C=2K): </a:t>
            </a:r>
            <a:pPr algn="l" indent="0" marL="0">
              <a:buNone/>
            </a:pPr>
            <a:r>
              <a:rPr lang="en-US" sz="800" b="1" dirty="0">
                <a:solidFill>
                  <a:srgbClr val="245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9.43 ms  </a:t>
            </a:r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Crossover: PCIe5≥559, PCIe6≥275 tok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2121408"/>
          <a:ext cx="3931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66928"/>
                <a:gridCol w="621792"/>
                <a:gridCol w="493776"/>
                <a:gridCol w="621792"/>
                <a:gridCol w="493776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CPU/layer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PCIe5 TPS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PCIe6 TPS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≥1,024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≥4.71ms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3493008"/>
          <a:ext cx="3346704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"/>
                <a:gridCol w="768096"/>
                <a:gridCol w="804672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— Prompt Length 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PCIe5 TTFT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PCIe6 TTFT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L≤256  (both IO-bnd)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 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 ms ★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2.03× faster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L=512  P5=IO; P6=CPU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 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6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101.4 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1.09× faster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L≥559  (both CPU-bnd)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~405 ms / 2K-tok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~405 ms / 2K-tok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 (tied)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7973568" y="1152144"/>
            <a:ext cx="4023360" cy="2999232"/>
          </a:xfrm>
          <a:prstGeom prst="rect">
            <a:avLst/>
          </a:prstGeom>
          <a:solidFill>
            <a:srgbClr val="F8FBFF"/>
          </a:solidFill>
          <a:ln w="9525">
            <a:solidFill>
              <a:srgbClr val="C5D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973568" y="1152144"/>
            <a:ext cx="402336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1265408" y="118872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1265408" y="1188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8065008" y="1152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Decode: Hot Cache × Storage BW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083296" y="1499616"/>
            <a:ext cx="3803904" cy="402336"/>
          </a:xfrm>
          <a:prstGeom prst="rect">
            <a:avLst/>
          </a:prstGeom>
          <a:solidFill>
            <a:srgbClr val="F3F3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138160" y="1517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IO/token: </a:t>
            </a:r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258(6×43) × 6.75 MB = 1.74 GB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(GPU mem): </a:t>
            </a:r>
            <a:pPr algn="l" indent="0" marL="0">
              <a:buNone/>
            </a:pPr>
            <a:r>
              <a:rPr lang="en-US" sz="800" b="1" dirty="0">
                <a:solidFill>
                  <a:srgbClr val="245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8.76 GB / 273 GB/s = 32.1 ms</a:t>
            </a:r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(always overlapped)</a:t>
            </a:r>
            <a:endParaRPr lang="en-US" sz="8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3296" y="1956816"/>
          <a:ext cx="3803904" cy="914400"/>
        </p:xfrm>
        <a:graphic>
          <a:graphicData uri="http://schemas.openxmlformats.org/drawingml/2006/table">
            <a:tbl>
              <a:tblPr/>
              <a:tblGrid>
                <a:gridCol w="493776"/>
                <a:gridCol w="493776"/>
                <a:gridCol w="512064"/>
                <a:gridCol w="512064"/>
                <a:gridCol w="512064"/>
                <a:gridCol w="512064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Cache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(GB)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PCIe5 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PCIe5 TPS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PCIe6 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PCIe6 TPS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77.4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6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55.3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6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35.3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38.5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38.5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32" name="Text 26"/>
          <p:cNvSpPr/>
          <p:nvPr/>
        </p:nvSpPr>
        <p:spPr>
          <a:xfrm>
            <a:off x="8083296" y="352958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PCIe5→GPU-bnd: ~67% hit  |  PCIe6→GPU-bnd: </a:t>
            </a:r>
            <a:pPr indent="0" marL="0">
              <a:buNone/>
            </a:pPr>
            <a:r>
              <a:rPr lang="en-US" sz="750" b="1" dirty="0">
                <a:solidFill>
                  <a:srgbClr val="245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hit</a:t>
            </a:r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GPU ceil = </a:t>
            </a:r>
            <a:pPr indent="0" marL="0">
              <a:buNone/>
            </a:pPr>
            <a:r>
              <a:rPr lang="en-US" sz="7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 tok/s</a:t>
            </a:r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(273 GB/s fixed)</a:t>
            </a:r>
            <a:endParaRPr lang="en-US" sz="75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8083296" y="3758184"/>
          <a:ext cx="3803904" cy="338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27"/>
          <p:cNvSpPr/>
          <p:nvPr/>
        </p:nvSpPr>
        <p:spPr>
          <a:xfrm>
            <a:off x="164592" y="4206240"/>
            <a:ext cx="11832336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56032" y="4215384"/>
            <a:ext cx="1164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Summary: PCIe 5.0 x4 (15.75 GB/s) vs PCIe 6.0 x4 (32 GB/s) NVMe  —  ds4 FlashMoE on GB10 (273 GB/s / 123 TOPS)</a:t>
            </a:r>
            <a:endParaRPr lang="en-US" sz="9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462272"/>
          <a:ext cx="1183233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1645920"/>
                <a:gridCol w="1225296"/>
                <a:gridCol w="5394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5.0 (15.75 GB/s)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6.0 (32 GB/s)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Boot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20.55 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10.12 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2.03× faster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BW (I/O-bound both)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 C=128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1,158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2,352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IO-bound (expert load/layer: PCIe5=2.57ms, PCIe6=1.27ms)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 C≥559 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5,052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CPU-bnd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ceiling: 123T ÷ (43×566M) = 5,052 tok/s (tied)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 0% hot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NVMe bottleneck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 ~50% hot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 tok/s 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PCIe6 peak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PCIe5=SSD-bnd; PCIe6=GPU-bnd (peak at ~37% hit)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 ≥70% hot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 tok/s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≈1.0× (tied)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memory ceiling (both) @ 273 GB/s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 L≤256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 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 ms 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2.03× faster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IO-bound (same expert-load BW as decode cold path)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 L=512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 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101.4 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1.09× faster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PCIe5=IO-bnd (C&lt;559); PCIe6=CPU-bnd (C&gt;275)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 L≥559 (C=2K)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~405 ms/2K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~405 ms/2K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 (tied)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CPU-bound — NVMe upgrade won't shorten prefill 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29"/>
          <p:cNvSpPr/>
          <p:nvPr/>
        </p:nvSpPr>
        <p:spPr>
          <a:xfrm>
            <a:off x="164592" y="6638544"/>
            <a:ext cx="1183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GB10: 273 GB/s GPU mem BW, 123 TOPS FP16. ds4 FlashMoE: 43 layers, 256 experts/layer, 6 active, expert=6.75 MB (Q4). PCIe 5.0 x4: 15.75 GB/s; PCIe 6.0 x4: 32 GB/s. Prefill TPS ceiling: 123T÷(43×566.2M)=5,052 tok/s; PCIe6 IO→CPU crossover C=275, PCIe5 C=559. TTFT(L)=43×max(IO/layer, L×4.603µs/layer): PCIe5 IO-bnd TTFT=110.5 ms fixed for L&lt;559; PCIe6 IO-bnd TTFT=54.4 ms for L&lt;275. Decode: PCIe5→GPU-bnd@~67% hit; PCIe6→GPU-bnd@~37%; GPU ceil=26 tok/s.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2026-05-26T06:02:39Z</dcterms:created>
  <dcterms:modified xsi:type="dcterms:W3CDTF">2026-05-26T06:02:39Z</dcterms:modified>
</cp:coreProperties>
</file>