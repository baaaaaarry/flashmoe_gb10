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800" b="0" i="0" u="none" strike="noStrike">
                <a:solidFill>
                  <a:srgbClr val="1B2A4A"/>
                </a:solidFill>
                <a:latin typeface="Arial"/>
              </a:defRPr>
            </a:pPr>
            <a:r>
              <a:rPr sz="800" b="0" i="0" u="none" strike="noStrike">
                <a:solidFill>
                  <a:srgbClr val="1B2A4A"/>
                </a:solidFill>
                <a:latin typeface="Arial"/>
              </a:rPr>
              <a:t>Cold Boot Load Time (seconds)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 Time (s)</c:v>
                </c:pt>
              </c:strCache>
            </c:strRef>
          </c:tx>
          <c:spPr>
            <a:solidFill>
              <a:srgbClr val="1A7A3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3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84B0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UFS 5.0
10 GB/s</c:v>
                  </c:pt>
                  <c:pt idx="1">
                    <c:v>NVMe
7 GB/s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8.67</c:v>
                </c:pt>
                <c:pt idx="1">
                  <c:v>12.38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555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  <c:min val="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555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UFS5(New)</c:v>
                </c:pt>
              </c:strCache>
            </c:strRef>
          </c:tx>
          <c:spPr>
            <a:solidFill>
              <a:srgbClr val="1A7A3C"/>
            </a:solidFill>
            <a:ln w="25400" cap="flat">
              <a:solidFill>
                <a:srgbClr val="1A7A3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A7A3C"/>
              </a:solidFill>
              <a:ln w="9525" cap="flat">
                <a:solidFill>
                  <a:srgbClr val="1A7A3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512</c:v>
                  </c:pt>
                  <c:pt idx="1">
                    <c:v>1K</c:v>
                  </c:pt>
                  <c:pt idx="2">
                    <c:v>1.8K</c:v>
                  </c:pt>
                  <c:pt idx="3">
                    <c:v>2K</c:v>
                  </c:pt>
                  <c:pt idx="4">
                    <c:v>4K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2804</c:v>
                </c:pt>
                <c:pt idx="1">
                  <c:v>5608</c:v>
                </c:pt>
                <c:pt idx="2">
                  <c:v>9445</c:v>
                </c:pt>
                <c:pt idx="3">
                  <c:v>7700</c:v>
                </c:pt>
                <c:pt idx="4">
                  <c:v>9445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NVMe(New)</c:v>
                </c:pt>
              </c:strCache>
            </c:strRef>
          </c:tx>
          <c:spPr>
            <a:solidFill>
              <a:srgbClr val="C84B00"/>
            </a:solidFill>
            <a:ln w="25400" cap="flat">
              <a:solidFill>
                <a:srgbClr val="C84B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84B00"/>
              </a:solidFill>
              <a:ln w="9525" cap="flat">
                <a:solidFill>
                  <a:srgbClr val="C84B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512</c:v>
                  </c:pt>
                  <c:pt idx="1">
                    <c:v>1K</c:v>
                  </c:pt>
                  <c:pt idx="2">
                    <c:v>1.8K</c:v>
                  </c:pt>
                  <c:pt idx="3">
                    <c:v>2K</c:v>
                  </c:pt>
                  <c:pt idx="4">
                    <c:v>4K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1963</c:v>
                </c:pt>
                <c:pt idx="1">
                  <c:v>3925</c:v>
                </c:pt>
                <c:pt idx="2">
                  <c:v>6900</c:v>
                </c:pt>
                <c:pt idx="3">
                  <c:v>7851</c:v>
                </c:pt>
                <c:pt idx="4">
                  <c:v>9445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Comp.Ceil</c:v>
                </c:pt>
              </c:strCache>
            </c:strRef>
          </c:tx>
          <c:spPr>
            <a:solidFill>
              <a:srgbClr val="AAAAAA"/>
            </a:solidFill>
            <a:ln w="25400" cap="flat">
              <a:solidFill>
                <a:srgbClr val="AAAAA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AAAAAA"/>
              </a:solidFill>
              <a:ln w="9525" cap="flat">
                <a:solidFill>
                  <a:srgbClr val="AAAAA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512</c:v>
                  </c:pt>
                  <c:pt idx="1">
                    <c:v>1K</c:v>
                  </c:pt>
                  <c:pt idx="2">
                    <c:v>1.8K</c:v>
                  </c:pt>
                  <c:pt idx="3">
                    <c:v>2K</c:v>
                  </c:pt>
                  <c:pt idx="4">
                    <c:v>4K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9445</c:v>
                </c:pt>
                <c:pt idx="1">
                  <c:v>9445</c:v>
                </c:pt>
                <c:pt idx="2">
                  <c:v>9445</c:v>
                </c:pt>
                <c:pt idx="3">
                  <c:v>9445</c:v>
                </c:pt>
                <c:pt idx="4">
                  <c:v>9445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7777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00"/>
          <c:min val="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7777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PCIe 5.0</c:v>
                </c:pt>
              </c:strCache>
            </c:strRef>
          </c:tx>
          <c:spPr>
            <a:solidFill>
              <a:srgbClr val="1A7A3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0%</c:v>
                  </c:pt>
                  <c:pt idx="1">
                    <c:v>30%</c:v>
                  </c:pt>
                  <c:pt idx="2">
                    <c:v>50%</c:v>
                  </c:pt>
                  <c:pt idx="3">
                    <c:v>70%</c:v>
                  </c:pt>
                  <c:pt idx="4">
                    <c:v>85%</c:v>
                  </c:pt>
                  <c:pt idx="5">
                    <c:v>100%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9.1</c:v>
                </c:pt>
                <c:pt idx="1">
                  <c:v>12.9</c:v>
                </c:pt>
                <c:pt idx="2">
                  <c:v>18.1</c:v>
                </c:pt>
                <c:pt idx="3">
                  <c:v>27.3</c:v>
                </c:pt>
                <c:pt idx="4">
                  <c:v>26.7</c:v>
                </c:pt>
                <c:pt idx="5">
                  <c:v>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PCIe 6.0</c:v>
                </c:pt>
              </c:strCache>
            </c:strRef>
          </c:tx>
          <c:spPr>
            <a:solidFill>
              <a:srgbClr val="C84B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0%</c:v>
                  </c:pt>
                  <c:pt idx="1">
                    <c:v>30%</c:v>
                  </c:pt>
                  <c:pt idx="2">
                    <c:v>50%</c:v>
                  </c:pt>
                  <c:pt idx="3">
                    <c:v>70%</c:v>
                  </c:pt>
                  <c:pt idx="4">
                    <c:v>85%</c:v>
                  </c:pt>
                  <c:pt idx="5">
                    <c:v>100%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18.4</c:v>
                </c:pt>
                <c:pt idx="1">
                  <c:v>26.2</c:v>
                </c:pt>
                <c:pt idx="2">
                  <c:v>28.3</c:v>
                </c:pt>
                <c:pt idx="3">
                  <c:v>27.3</c:v>
                </c:pt>
                <c:pt idx="4">
                  <c:v>26.7</c:v>
                </c:pt>
                <c:pt idx="5">
                  <c:v>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GPU Ceil</c:v>
                </c:pt>
              </c:strCache>
            </c:strRef>
          </c:tx>
          <c:spPr>
            <a:solidFill>
              <a:srgbClr val="AAAAA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0%</c:v>
                  </c:pt>
                  <c:pt idx="1">
                    <c:v>30%</c:v>
                  </c:pt>
                  <c:pt idx="2">
                    <c:v>50%</c:v>
                  </c:pt>
                  <c:pt idx="3">
                    <c:v>70%</c:v>
                  </c:pt>
                  <c:pt idx="4">
                    <c:v>85%</c:v>
                  </c:pt>
                  <c:pt idx="5">
                    <c:v>100%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26</c:v>
                </c:pt>
                <c:pt idx="1">
                  <c:v>26</c:v>
                </c:pt>
                <c:pt idx="2">
                  <c:v>26</c:v>
                </c:pt>
                <c:pt idx="3">
                  <c:v>26</c:v>
                </c:pt>
                <c:pt idx="4">
                  <c:v>26</c:v>
                </c:pt>
                <c:pt idx="5">
                  <c:v>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7777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"/>
          <c:min val="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7777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64592" y="0"/>
            <a:ext cx="1188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V4-Flash: PCIe 5.0 vs PCIe 6.0 NVMe Expert Offload I/O Analysis — GB10 (273 GB/s GPU BW / 123 TOPS FP16)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64592" y="621792"/>
            <a:ext cx="11832336" cy="475488"/>
          </a:xfrm>
          <a:prstGeom prst="rect">
            <a:avLst/>
          </a:prstGeom>
          <a:solidFill>
            <a:srgbClr val="D6E4F7"/>
          </a:solidFill>
          <a:ln w="19050">
            <a:solidFill>
              <a:srgbClr val="2458A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630936"/>
            <a:ext cx="11612880" cy="457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PCIe 6.0 x4 (32 GB/s) vs PCIe 5.0 x4 (15.75 GB/s): </a:t>
            </a:r>
            <a:pPr algn="l"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2.03× load speedup; </a:t>
            </a:r>
            <a:pPr algn="l" indent="0" marL="0">
              <a:buNone/>
            </a:pPr>
            <a:r>
              <a:rPr lang="en-US" sz="1050" b="1" dirty="0">
                <a:solidFill>
                  <a:srgbClr val="1A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 cold decode (18.4 vs 9.1 tok/s)</a:t>
            </a:r>
            <a:pPr algn="l"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Decode transitions to GPU-memory-bound at </a:t>
            </a:r>
            <a:pPr algn="l" indent="0" marL="0">
              <a:buNone/>
            </a:pPr>
            <a:r>
              <a:rPr lang="en-US" sz="1050" b="1" dirty="0">
                <a:solidFill>
                  <a:srgbClr val="245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~37% hit (PCIe 6)</a:t>
            </a:r>
            <a:pPr algn="l"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</a:t>
            </a:r>
            <a:pPr algn="l" indent="0" marL="0">
              <a:buNone/>
            </a:pPr>
            <a:r>
              <a:rPr lang="en-US" sz="1050" b="1" dirty="0">
                <a:solidFill>
                  <a:srgbClr val="C84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~67% hit (PCIe 5)</a:t>
            </a:r>
            <a:pPr algn="l"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both converge to </a:t>
            </a:r>
            <a:pPr algn="l" indent="0" marL="0">
              <a:buNone/>
            </a:pPr>
            <a:r>
              <a:rPr lang="en-US" sz="1050" b="1" dirty="0">
                <a:solidFill>
                  <a:srgbClr val="1A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tok/s GPU ceiling</a:t>
            </a:r>
            <a:pPr algn="l"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Prefill C ≥ 1,024: compute-bound for both; storage upgrade provides no prefill benefit.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64592" y="1152144"/>
            <a:ext cx="3474720" cy="2999232"/>
          </a:xfrm>
          <a:prstGeom prst="rect">
            <a:avLst/>
          </a:prstGeom>
          <a:solidFill>
            <a:srgbClr val="F8FBFF"/>
          </a:solidFill>
          <a:ln w="9525">
            <a:solidFill>
              <a:srgbClr val="C5D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4592" y="1152144"/>
            <a:ext cx="3474720" cy="29260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07792" y="1188720"/>
            <a:ext cx="658368" cy="219456"/>
          </a:xfrm>
          <a:prstGeom prst="roundRect">
            <a:avLst>
              <a:gd name="adj" fmla="val 25000"/>
            </a:avLst>
          </a:prstGeom>
          <a:solidFill>
            <a:srgbClr val="D4700A"/>
          </a:solidFill>
          <a:ln w="12700">
            <a:solidFill>
              <a:srgbClr val="D470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07792" y="118872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256032" y="115214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Cold Boot: Model Load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74320" y="1499616"/>
            <a:ext cx="3255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model: </a:t>
            </a:r>
            <a:pPr algn="l" indent="0" marL="0">
              <a:buNone/>
            </a:pPr>
            <a:r>
              <a:rPr lang="en-US" sz="900" b="1" dirty="0">
                <a:solidFill>
                  <a:srgbClr val="245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86.68 GB</a:t>
            </a:r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(8.76 GB dense + 77.92 GB experts)</a:t>
            </a:r>
            <a:pPr algn="l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900" dirty="0"/>
          </a:p>
          <a:p>
            <a:pPr algn="l"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UFS 5.0 full load: </a:t>
            </a:r>
            <a:pPr algn="l" indent="0" marL="0">
              <a:buNone/>
            </a:pPr>
            <a:r>
              <a:rPr lang="en-US" sz="900" b="1" dirty="0">
                <a:solidFill>
                  <a:srgbClr val="1A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8.67 s</a:t>
            </a:r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vs  NVMe 7 GB/s: </a:t>
            </a:r>
            <a:pPr algn="l" indent="0" marL="0">
              <a:buNone/>
            </a:pPr>
            <a:r>
              <a:rPr lang="en-US" sz="900" b="1" dirty="0">
                <a:solidFill>
                  <a:srgbClr val="C84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12.38 s</a:t>
            </a:r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l" indent="0" marL="0">
              <a:buNone/>
            </a:pPr>
            <a:r>
              <a:rPr lang="en-US" sz="900" b="1" dirty="0">
                <a:solidFill>
                  <a:srgbClr val="1A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1.43× faster</a:t>
            </a:r>
            <a:pPr algn="l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900" dirty="0"/>
          </a:p>
          <a:p>
            <a:pPr algn="l"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Dense-only hot path: </a:t>
            </a:r>
            <a:pPr algn="l" indent="0" marL="0">
              <a:buNone/>
            </a:pPr>
            <a:r>
              <a:rPr lang="en-US" sz="900" b="1" dirty="0">
                <a:solidFill>
                  <a:srgbClr val="1A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 s</a:t>
            </a:r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inference ready in &lt;1 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4320" y="2377440"/>
            <a:ext cx="3255264" cy="658368"/>
          </a:xfrm>
          <a:prstGeom prst="rect">
            <a:avLst/>
          </a:prstGeom>
          <a:solidFill>
            <a:srgbClr val="F3F3F3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" y="2414016"/>
            <a:ext cx="314553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model_size / storage_BW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UFS 5.0: 46.6 Gbps × 2 lanes → </a:t>
            </a:r>
            <a:pPr algn="l" indent="0" marL="0">
              <a:buNone/>
            </a:pPr>
            <a:r>
              <a:rPr lang="en-US" sz="850" b="1" dirty="0">
                <a:solidFill>
                  <a:srgbClr val="245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GB/s payload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 = 10 / 7 = </a:t>
            </a:r>
            <a:pPr algn="l" indent="0" marL="0">
              <a:buNone/>
            </a:pPr>
            <a:r>
              <a:rPr lang="en-US" sz="850" b="1" dirty="0">
                <a:solidFill>
                  <a:srgbClr val="1A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1.43×</a:t>
            </a:r>
            <a:pPr algn="l" indent="0" marL="0">
              <a:buNone/>
            </a:pPr>
            <a:r>
              <a:rPr lang="en-US" sz="85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(load independent of GPU specs)</a:t>
            </a:r>
            <a:endParaRPr lang="en-US" sz="85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274320" y="3090672"/>
          <a:ext cx="3255264" cy="96926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Shape 12"/>
          <p:cNvSpPr/>
          <p:nvPr/>
        </p:nvSpPr>
        <p:spPr>
          <a:xfrm>
            <a:off x="3730752" y="1152144"/>
            <a:ext cx="4151376" cy="2999232"/>
          </a:xfrm>
          <a:prstGeom prst="rect">
            <a:avLst/>
          </a:prstGeom>
          <a:solidFill>
            <a:srgbClr val="F8FBFF"/>
          </a:solidFill>
          <a:ln w="9525">
            <a:solidFill>
              <a:srgbClr val="C5D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730752" y="1152144"/>
            <a:ext cx="4151376" cy="29260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150608" y="1188720"/>
            <a:ext cx="658368" cy="219456"/>
          </a:xfrm>
          <a:prstGeom prst="roundRect">
            <a:avLst>
              <a:gd name="adj" fmla="val 25000"/>
            </a:avLst>
          </a:prstGeom>
          <a:solidFill>
            <a:srgbClr val="2458A4"/>
          </a:solidFill>
          <a:ln w="12700">
            <a:solidFill>
              <a:srgbClr val="2458A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150608" y="118872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3822192" y="1152144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Prefill: Layer Pipeline IO vs Compute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3840480" y="1499616"/>
            <a:ext cx="3931920" cy="566928"/>
          </a:xfrm>
          <a:prstGeom prst="rect">
            <a:avLst/>
          </a:prstGeom>
          <a:solidFill>
            <a:srgbClr val="F3F3F3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95344" y="1517904"/>
            <a:ext cx="38770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IO/layer UFS5.0: </a:t>
            </a:r>
            <a:pPr algn="l" indent="0" marL="0">
              <a:buNone/>
            </a:pPr>
            <a:r>
              <a:rPr lang="en-US" sz="800" b="1" dirty="0">
                <a:solidFill>
                  <a:srgbClr val="1A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6×7.08MB/10GB/s = 4.25 ms</a:t>
            </a: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IO/layer NVMe 7: </a:t>
            </a:r>
            <a:pPr algn="l" indent="0" marL="0">
              <a:buNone/>
            </a:pPr>
            <a:r>
              <a:rPr lang="en-US" sz="800" b="1" dirty="0">
                <a:solidFill>
                  <a:srgbClr val="C84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6×7.08MB/7GB/s  = 6.07 ms</a:t>
            </a: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Compute/layer (240T, C=2K): </a:t>
            </a:r>
            <a:pPr algn="l" indent="0" marL="0">
              <a:buNone/>
            </a:pPr>
            <a:r>
              <a:rPr lang="en-US" sz="800" b="1" dirty="0">
                <a:solidFill>
                  <a:srgbClr val="245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4.83 ms</a:t>
            </a:r>
            <a:pPr algn="l" indent="0" marL="0">
              <a:buNone/>
            </a:pPr>
            <a:r>
              <a:rPr lang="en-US" sz="8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[DGX 123T: 9.43 ms]</a:t>
            </a:r>
            <a:endParaRPr lang="en-US" sz="8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2121408"/>
          <a:ext cx="39319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66928"/>
                <a:gridCol w="621792"/>
                <a:gridCol w="493776"/>
                <a:gridCol w="621792"/>
                <a:gridCol w="493776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UFS5 TPS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NVMe TPS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1.21ms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2.42ms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458A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1,800★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458A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4.25ms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458A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2,048▶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4.83ms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A62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7,700✓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7,851★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IO&gt;CPU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E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9.67ms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C"/>
                    </a:solidFill>
                  </a:tcPr>
                </a:tc>
              </a:tr>
            </a:tbl>
          </a:graphicData>
        </a:graphic>
      </p:graphicFrame>
      <p:sp>
        <p:nvSpPr>
          <p:cNvPr id="23" name="Text 19"/>
          <p:cNvSpPr/>
          <p:nvPr/>
        </p:nvSpPr>
        <p:spPr>
          <a:xfrm>
            <a:off x="3840480" y="355701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245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New(240T): </a:t>
            </a:r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UFS5 C≥1,800 | NVMe C≥2,572 | </a:t>
            </a:r>
            <a:pPr indent="0" marL="0">
              <a:buNone/>
            </a:pPr>
            <a:r>
              <a:rPr lang="en-US" sz="750" b="1" dirty="0">
                <a:solidFill>
                  <a:srgbClr val="A0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DGX(123T): </a:t>
            </a:r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UFS5 C≥922 | NVMe C≥1,318 | Ceil: </a:t>
            </a:r>
            <a:pPr indent="0" marL="0">
              <a:buNone/>
            </a:pPr>
            <a:r>
              <a:rPr lang="en-US" sz="750" b="1" dirty="0">
                <a:solidFill>
                  <a:srgbClr val="1A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9,445 / 4,840 tok/s</a:t>
            </a:r>
            <a:endParaRPr lang="en-US" sz="750" dirty="0"/>
          </a:p>
        </p:txBody>
      </p:sp>
      <p:graphicFrame>
        <p:nvGraphicFramePr>
          <p:cNvPr id="24" name="Chart 1" descr=""/>
          <p:cNvGraphicFramePr/>
          <p:nvPr/>
        </p:nvGraphicFramePr>
        <p:xfrm>
          <a:off x="3840480" y="3767328"/>
          <a:ext cx="3931920" cy="32918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hape 20"/>
          <p:cNvSpPr/>
          <p:nvPr/>
        </p:nvSpPr>
        <p:spPr>
          <a:xfrm>
            <a:off x="7973568" y="1152144"/>
            <a:ext cx="4023360" cy="2999232"/>
          </a:xfrm>
          <a:prstGeom prst="rect">
            <a:avLst/>
          </a:prstGeom>
          <a:solidFill>
            <a:srgbClr val="F8FBFF"/>
          </a:solidFill>
          <a:ln w="9525">
            <a:solidFill>
              <a:srgbClr val="C5D8F0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973568" y="1152144"/>
            <a:ext cx="4023360" cy="29260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11265408" y="1188720"/>
            <a:ext cx="658368" cy="219456"/>
          </a:xfrm>
          <a:prstGeom prst="roundRect">
            <a:avLst>
              <a:gd name="adj" fmla="val 25000"/>
            </a:avLst>
          </a:prstGeom>
          <a:solidFill>
            <a:srgbClr val="1A7A3C"/>
          </a:solidFill>
          <a:ln w="12700">
            <a:solidFill>
              <a:srgbClr val="1A7A3C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11265408" y="118872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</a:t>
            </a:r>
            <a:endParaRPr lang="en-US" sz="750" dirty="0"/>
          </a:p>
        </p:txBody>
      </p:sp>
      <p:sp>
        <p:nvSpPr>
          <p:cNvPr id="29" name="Text 24"/>
          <p:cNvSpPr/>
          <p:nvPr/>
        </p:nvSpPr>
        <p:spPr>
          <a:xfrm>
            <a:off x="8065008" y="115214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Decode: Hot Cache × Storage BW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>
            <a:off x="8083296" y="1499616"/>
            <a:ext cx="3803904" cy="402336"/>
          </a:xfrm>
          <a:prstGeom prst="rect">
            <a:avLst/>
          </a:prstGeom>
          <a:solidFill>
            <a:srgbClr val="F3F3F3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8138160" y="151790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IO/token: </a:t>
            </a:r>
            <a:pPr algn="l" indent="0" marL="0">
              <a:buNone/>
            </a:pPr>
            <a:r>
              <a:rPr lang="en-US" sz="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258(6×43) × 6.75 MB = 1.74 GB</a:t>
            </a: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(GPU mem): </a:t>
            </a:r>
            <a:pPr algn="l" indent="0" marL="0">
              <a:buNone/>
            </a:pPr>
            <a:r>
              <a:rPr lang="en-US" sz="800" b="1" dirty="0">
                <a:solidFill>
                  <a:srgbClr val="245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8.76 GB / 273 GB/s = 32.1 ms</a:t>
            </a:r>
            <a:pPr algn="l" indent="0" marL="0">
              <a:buNone/>
            </a:pPr>
            <a:r>
              <a:rPr lang="en-US" sz="8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(always overlapped)</a:t>
            </a:r>
            <a:endParaRPr lang="en-US" sz="8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83296" y="1956816"/>
          <a:ext cx="3803904" cy="914400"/>
        </p:xfrm>
        <a:graphic>
          <a:graphicData uri="http://schemas.openxmlformats.org/drawingml/2006/table">
            <a:tbl>
              <a:tblPr/>
              <a:tblGrid>
                <a:gridCol w="493776"/>
                <a:gridCol w="493776"/>
                <a:gridCol w="512064"/>
                <a:gridCol w="512064"/>
                <a:gridCol w="512064"/>
                <a:gridCol w="512064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 Cache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Cold (GB)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PCIe5 ms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PCIe5 TPS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PCIe6 ms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PCIe6 TPS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54.4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0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0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77.4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0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0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38.1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0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A62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0E7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55.3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A62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35.3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E7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36.6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36.6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E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37.5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37.5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38.5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38.5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  <p:sp>
        <p:nvSpPr>
          <p:cNvPr id="33" name="Text 27"/>
          <p:cNvSpPr/>
          <p:nvPr/>
        </p:nvSpPr>
        <p:spPr>
          <a:xfrm>
            <a:off x="8083296" y="3529584"/>
            <a:ext cx="3803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PCIe5→GPU-bnd: ~67% hit  |  PCIe6→GPU-bnd: </a:t>
            </a:r>
            <a:pPr indent="0" marL="0">
              <a:buNone/>
            </a:pPr>
            <a:r>
              <a:rPr lang="en-US" sz="750" b="1" dirty="0">
                <a:solidFill>
                  <a:srgbClr val="245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~37% hit</a:t>
            </a:r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GPU ceil = </a:t>
            </a:r>
            <a:pPr indent="0" marL="0">
              <a:buNone/>
            </a:pPr>
            <a:r>
              <a:rPr lang="en-US" sz="750" b="1" dirty="0">
                <a:solidFill>
                  <a:srgbClr val="1A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 tok/s</a:t>
            </a:r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(273 GB/s fixed)</a:t>
            </a:r>
            <a:endParaRPr lang="en-US" sz="750" dirty="0"/>
          </a:p>
        </p:txBody>
      </p:sp>
      <p:graphicFrame>
        <p:nvGraphicFramePr>
          <p:cNvPr id="34" name="Chart 2" descr=""/>
          <p:cNvGraphicFramePr/>
          <p:nvPr/>
        </p:nvGraphicFramePr>
        <p:xfrm>
          <a:off x="8083296" y="3758184"/>
          <a:ext cx="3803904" cy="3383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5" name="Shape 28"/>
          <p:cNvSpPr/>
          <p:nvPr/>
        </p:nvSpPr>
        <p:spPr>
          <a:xfrm>
            <a:off x="164592" y="4206240"/>
            <a:ext cx="11832336" cy="23774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6" name="Text 29"/>
          <p:cNvSpPr/>
          <p:nvPr/>
        </p:nvSpPr>
        <p:spPr>
          <a:xfrm>
            <a:off x="256032" y="4215384"/>
            <a:ext cx="1164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Summary: PCIe 5.0 x4 (15.75 GB/s) vs PCIe 6.0 x4 (32 GB/s) NVMe  —  ds4 FlashMoE on GB10 (273 GB/s / 123 TOPS)</a:t>
            </a:r>
            <a:endParaRPr lang="en-US" sz="900" dirty="0"/>
          </a:p>
        </p:txBody>
      </p:sp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64592" y="4462272"/>
          <a:ext cx="11832336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645920"/>
                <a:gridCol w="1645920"/>
                <a:gridCol w="1225296"/>
                <a:gridCol w="539496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PCIe 5.0 (15.75 GB/s)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PCIe 6.0 (32 GB/s)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Improvement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Bottleneck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Cold Boot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20.55 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10.12 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2.03× faster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 BW (I/O-bound both)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Prefill C=128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403 tok/s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806 tok/s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2.03×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GPU Mem BW-bound (C × BW / model_size)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Prefill C=2,048 ★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2,985 tok/s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2,985 tok/s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Compute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Compute-bound (both identical)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Decode 0% hot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 tok/s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18.4 tok/s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2.03×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Cold NVMe bottleneck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Decode ~50% hot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 tok/s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 tok/s ★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PCIe6 peak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PCIe5=SSD-bnd; PCIe6=GPU-bnd (peak at ~37% hit)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Decode ≥70% hot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~27 tok/s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~27 tok/s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≈1.0× (tied)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GPU memory ceiling (both) @ 273 GB/s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Text 30"/>
          <p:cNvSpPr/>
          <p:nvPr/>
        </p:nvSpPr>
        <p:spPr>
          <a:xfrm>
            <a:off x="164592" y="6638544"/>
            <a:ext cx="1183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GB10: 273 GB/s GPU mem BW, 123 TOPS FP16. ds4 FlashMoE: 43 layers, 256 experts/layer, 6 active, expert=6.75 MB (Q4), total expert IO/token=258×6.75=1.74 GB. PCIe 5.0 x4: 32GT/s×4×128/130/8=15.75 GB/s; PCIe 6.0 x4: 64GT/s×4/8=32 GB/s. Decode: bottleneck=max(cold_storage_time, GPU_mem_time); PCIe5→GPU-bnd@~67% hit; PCIe6→GPU-bnd@~37%. GPU ceiling: 10.5 GB/273 GB/s=38.5 ms=26 tok/s.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2026-05-26T02:45:09Z</dcterms:created>
  <dcterms:modified xsi:type="dcterms:W3CDTF">2026-05-26T02:45:09Z</dcterms:modified>
</cp:coreProperties>
</file>