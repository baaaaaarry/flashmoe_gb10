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7efc21f46294297" /><Relationship Type="http://schemas.openxmlformats.org/officeDocument/2006/relationships/extended-properties" Target="/docProps/app.xml" Id="R54617a65cede474c" /><Relationship Type="http://schemas.openxmlformats.org/officeDocument/2006/relationships/officeDocument" Target="/ppt/presentation.xml" Id="Rcb16c6ca1c3d4d5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9b08657ead74185"/>
  </p:sldMasterIdLst>
  <p:notesMasterIdLst>
    <p:notesMasterId xmlns:r="http://schemas.openxmlformats.org/officeDocument/2006/relationships" r:id="Ra3c759952d7640f9"/>
  </p:notesMasterIdLst>
  <p:sldIdLst>
    <p:sldId xmlns:r="http://schemas.openxmlformats.org/officeDocument/2006/relationships" id="256" r:id="R357ac94701b44363"/>
    <p:sldId xmlns:r="http://schemas.openxmlformats.org/officeDocument/2006/relationships" id="257" r:id="Rae83bf24a5b34b4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9a66a24bc4c4fc5" /><Relationship Type="http://schemas.openxmlformats.org/officeDocument/2006/relationships/slideMaster" Target="/ppt/slideMasters/slideMaster1.xml" Id="R29b08657ead74185" /><Relationship Type="http://schemas.openxmlformats.org/officeDocument/2006/relationships/notesMaster" Target="/ppt/notesMasters/notesMaster1.xml" Id="Ra3c759952d7640f9" /><Relationship Type="http://schemas.openxmlformats.org/officeDocument/2006/relationships/presProps" Target="/ppt/presProps.xml" Id="R77b959c9201b4fd0" /><Relationship Type="http://schemas.openxmlformats.org/officeDocument/2006/relationships/tableStyles" Target="/ppt/tableStyles.xml" Id="Rb5e6587f2dfc4645" /><Relationship Type="http://schemas.openxmlformats.org/officeDocument/2006/relationships/slide" Target="/ppt/slides/slide1.xml" Id="R357ac94701b44363" /><Relationship Type="http://schemas.openxmlformats.org/officeDocument/2006/relationships/slide" Target="/ppt/slides/slide2.xml" Id="Rae83bf24a5b34b4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4300b10a592403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c1e88aceaa04633" /><Relationship Type="http://schemas.openxmlformats.org/officeDocument/2006/relationships/notesMaster" Target="/ppt/notesMasters/notesMaster1.xml" Id="Ra63d7e9aeae649a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ac36e294f744a5a" /><Relationship Type="http://schemas.openxmlformats.org/officeDocument/2006/relationships/notesMaster" Target="/ppt/notesMasters/notesMaster1.xml" Id="R286d046f385441f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b6234068aa540c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55f777cf9b2496f" /><Relationship Type="http://schemas.openxmlformats.org/officeDocument/2006/relationships/slideLayout" Target="/ppt/slideLayouts/slideLayout1.xml" Id="Rfdfa6c84b0984d7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dfa6c84b0984d7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508d4aea234d6d" /><Relationship Type="http://schemas.openxmlformats.org/officeDocument/2006/relationships/notesSlide" Target="/ppt/notesSlides/notesSlide1.xml" Id="R2898757c6a3f418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da750d9fcc4339" /><Relationship Type="http://schemas.openxmlformats.org/officeDocument/2006/relationships/notesSlide" Target="/ppt/notesSlides/notesSlide2.xml" Id="Rc63aa013dfc84824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F2310050-268A-4ADF-8115-C9150D7DA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133350"/>
            <a:ext cx="9334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E5FBF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1E5FBF"/>
                </a:solidFill>
                <a:latin typeface="Aptos Display"/>
                <a:ea typeface="Aptos Display"/>
                <a:cs typeface="Aptos Display"/>
              </a:rPr>
              <a:t>从 Metal 到 CUDA：为什么必须重做 DS4 端侧运行时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35C0E8-68E2-4F1F-9BC6-AE8FF0922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523875"/>
            <a:ext cx="11658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5FBF"/>
          </a:solidFill>
          <a:ln xmlns:a="http://schemas.openxmlformats.org/drawingml/2006/main" w="9525">
            <a:solidFill>
              <a:srgbClr val="1E5FB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CE102D-7A1D-4187-957A-0E37F2862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990600"/>
            <a:ext cx="685800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D2DDF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DC4432-D9F7-4669-8B76-CD0DAFFF8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66750"/>
            <a:ext cx="6858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5FBF"/>
          </a:solidFill>
          <a:ln xmlns:a="http://schemas.openxmlformats.org/drawingml/2006/main" w="10478">
            <a:solidFill>
              <a:srgbClr val="1E5FB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716034-84AD-4028-A4C0-39BC80EEE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33425"/>
            <a:ext cx="6591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迁移必要性：Metal 路线无法直接复用于 GB10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02A4C7-9E84-49EF-B9D7-E490A1E8A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990600"/>
            <a:ext cx="483870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D2DDF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328275-6D33-4C91-8B83-FCFCF5A72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666750"/>
            <a:ext cx="4838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79D2"/>
          </a:solidFill>
          <a:ln xmlns:a="http://schemas.openxmlformats.org/drawingml/2006/main" w="10478">
            <a:solidFill>
              <a:srgbClr val="4F79D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E3A58E-9E0B-4CD3-A322-D32AEC278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733425"/>
            <a:ext cx="4572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我们为什么选择 CUDA 原生重构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BF5955-47A2-4234-9F7A-04EC4C4A6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23950"/>
            <a:ext cx="10287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DB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9EFAEA-A97D-4753-94B8-5D2B91F7D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123950"/>
            <a:ext cx="5562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EDE3A81-6B3A-4542-9284-81F759EC8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219200"/>
            <a:ext cx="952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30" b="1">
                <a:solidFill>
                  <a:srgbClr val="E68600"/>
                </a:solidFill>
                <a:latin typeface="Aptos"/>
                <a:ea typeface="Aptos"/>
                <a:cs typeface="Aptos"/>
              </a:defRPr>
            </a:pPr>
            <a:r>
              <a:rPr sz="930" b="1">
                <a:solidFill>
                  <a:srgbClr val="E68600"/>
                </a:solidFill>
                <a:latin typeface="Aptos"/>
                <a:ea typeface="Aptos"/>
                <a:cs typeface="Aptos"/>
              </a:rPr>
              <a:t>平台绑定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49C16B-70CB-4992-A2CE-8507BCF2A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190625"/>
            <a:ext cx="5372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78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878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DS4 原始路线围绕 Apple unified memory + Metal kernel 组织，底层算子和数据流天然贴合苹果执行栈。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D5A625-30CA-491A-BCC7-3776135B8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24000"/>
            <a:ext cx="10287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7028EF-2114-4D87-8E72-E0923F300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524000"/>
            <a:ext cx="5562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BF251F-890F-49F0-8E62-C034A71CF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19250"/>
            <a:ext cx="952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30" b="1">
                <a:solidFill>
                  <a:srgbClr val="E68600"/>
                </a:solidFill>
                <a:latin typeface="Aptos"/>
                <a:ea typeface="Aptos"/>
                <a:cs typeface="Aptos"/>
              </a:defRPr>
            </a:pPr>
            <a:r>
              <a:rPr sz="930" b="1">
                <a:solidFill>
                  <a:srgbClr val="E68600"/>
                </a:solidFill>
                <a:latin typeface="Aptos"/>
                <a:ea typeface="Aptos"/>
                <a:cs typeface="Aptos"/>
              </a:rPr>
              <a:t>闭源限制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5BEBD12-DDCC-4F48-BDCD-36D7453B5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590675"/>
            <a:ext cx="5372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78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878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Metal / MPS / Apple 系统栈的大量关键行为是黑盒，很多性能行为可观察但不可改写，无法作为 GB10 的工程基座。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849A828-6D3B-40CA-87F4-2C3D380CE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24050"/>
            <a:ext cx="10287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DB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E86DC19-D18F-41F0-AE50-810A98AF2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924050"/>
            <a:ext cx="5562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ABA5DE0-F621-4BBA-A676-FCAD21A2C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2019300"/>
            <a:ext cx="952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30" b="1">
                <a:solidFill>
                  <a:srgbClr val="E68600"/>
                </a:solidFill>
                <a:latin typeface="Aptos"/>
                <a:ea typeface="Aptos"/>
                <a:cs typeface="Aptos"/>
              </a:defRPr>
            </a:pPr>
            <a:r>
              <a:rPr sz="930" b="1">
                <a:solidFill>
                  <a:srgbClr val="E68600"/>
                </a:solidFill>
                <a:latin typeface="Aptos"/>
                <a:ea typeface="Aptos"/>
                <a:cs typeface="Aptos"/>
              </a:rPr>
              <a:t>框架限制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494EF4E-1346-4A2E-B866-78D5C57DC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990725"/>
            <a:ext cx="5372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78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878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原实现部分生命周期深度绑定上层框架与参数树；底层 runtime、page-cache 路径、内存策略不能按 GB10 目标任意修改。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F4F52E8-4483-4DE6-BD48-50960AA1B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324100"/>
            <a:ext cx="10287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9CD054-2D66-4A2A-85A2-B0F38A0C0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324100"/>
            <a:ext cx="5562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1221B6A-D09C-452A-88FB-D6AA7F5C5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2419350"/>
            <a:ext cx="952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30" b="1">
                <a:solidFill>
                  <a:srgbClr val="E68600"/>
                </a:solidFill>
                <a:latin typeface="Aptos"/>
                <a:ea typeface="Aptos"/>
                <a:cs typeface="Aptos"/>
              </a:defRPr>
            </a:pPr>
            <a:r>
              <a:rPr sz="930" b="1">
                <a:solidFill>
                  <a:srgbClr val="E68600"/>
                </a:solidFill>
                <a:latin typeface="Aptos"/>
                <a:ea typeface="Aptos"/>
                <a:cs typeface="Aptos"/>
              </a:rPr>
              <a:t>硬件差异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9E1F727-EA43-4770-A275-EA507A6A9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390775"/>
            <a:ext cx="5372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78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878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GB10 面对的是 UMA + CUDA + SSD expert store，需要显式处理 SSD→DDR→GPU copy/compute overlap，Metal 方案没有现成答案。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7577BDA-1420-44D3-8E8B-C2DD2F6C1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24150"/>
            <a:ext cx="10287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DB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5036067-277C-4F38-A040-5F2DEA30A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724150"/>
            <a:ext cx="5562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0FF1512-CB6F-49B2-8903-7F91A718F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2819400"/>
            <a:ext cx="952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30" b="1">
                <a:solidFill>
                  <a:srgbClr val="E68600"/>
                </a:solidFill>
                <a:latin typeface="Aptos"/>
                <a:ea typeface="Aptos"/>
                <a:cs typeface="Aptos"/>
              </a:defRPr>
            </a:pPr>
            <a:r>
              <a:rPr sz="930" b="1">
                <a:solidFill>
                  <a:srgbClr val="E68600"/>
                </a:solidFill>
                <a:latin typeface="Aptos"/>
                <a:ea typeface="Aptos"/>
                <a:cs typeface="Aptos"/>
              </a:rPr>
              <a:t>产品要求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6BD1152-8E04-486D-9C98-CDE1E44BE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790825"/>
            <a:ext cx="5372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78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878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我们需要可控的 profile、cache policy、服务化接口和后续在线部署能力，这要求运行时必须完全可改、可测、可演进。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8D1170E-D5F1-4524-9483-1AD72EEE7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1123950"/>
            <a:ext cx="152400" cy="1857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1">
                <a:solidFill>
                  <a:srgbClr val="1E5FBF"/>
                </a:solidFill>
                <a:latin typeface="Aptos"/>
                <a:ea typeface="Aptos"/>
                <a:cs typeface="Aptos"/>
              </a:defRPr>
            </a:pPr>
            <a:r>
              <a:rPr sz="1163" b="1">
                <a:solidFill>
                  <a:srgbClr val="1E5FBF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BA71C0-7E31-4CC1-B373-84A8C51A5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1123950"/>
            <a:ext cx="4381500" cy="2047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不能只做“Metal kernel → CUDA kernel”的语法级替换；真正要迁移的是 streamed-MoE 的控制面思想。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456E6D1-9CEE-4785-A61D-3B9FAF895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1638300"/>
            <a:ext cx="152400" cy="1857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1">
                <a:solidFill>
                  <a:srgbClr val="1E5FBF"/>
                </a:solidFill>
                <a:latin typeface="Aptos"/>
                <a:ea typeface="Aptos"/>
                <a:cs typeface="Aptos"/>
              </a:defRPr>
            </a:pPr>
            <a:r>
              <a:rPr sz="1163" b="1">
                <a:solidFill>
                  <a:srgbClr val="1E5FBF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63E994D-181F-4349-9214-B7557466C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1638300"/>
            <a:ext cx="4381500" cy="2047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必须把冷数据读取、expert cache、decode scheduler、service interface 全部从苹果黑盒依赖中解耦出来。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D341407-C308-441E-859A-6F9F67600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152650"/>
            <a:ext cx="152400" cy="1857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1">
                <a:solidFill>
                  <a:srgbClr val="1E5FBF"/>
                </a:solidFill>
                <a:latin typeface="Aptos"/>
                <a:ea typeface="Aptos"/>
                <a:cs typeface="Aptos"/>
              </a:defRPr>
            </a:pPr>
            <a:r>
              <a:rPr sz="1163" b="1">
                <a:solidFill>
                  <a:srgbClr val="1E5FBF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9DF679B-B3E7-495B-BD50-792F00940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152650"/>
            <a:ext cx="4381500" cy="2047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只有这样，后续才能继续做带宽建模、命中率分析、Nsight/profile、在线服务化与多模型扩展。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D0AF458-B845-44A4-832F-FB5B152ED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724150"/>
            <a:ext cx="4572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FD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EE18AAE-A6E0-4663-BB9A-B153D2302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838450"/>
            <a:ext cx="4381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90" b="1">
                <a:solidFill>
                  <a:srgbClr val="1F314A"/>
                </a:solidFill>
                <a:latin typeface="Aptos"/>
                <a:ea typeface="Aptos"/>
                <a:cs typeface="Aptos"/>
              </a:defRPr>
            </a:pPr>
            <a:r>
              <a:rPr sz="990" b="1">
                <a:solidFill>
                  <a:srgbClr val="1F314A"/>
                </a:solidFill>
                <a:latin typeface="Aptos"/>
                <a:ea typeface="Aptos"/>
                <a:cs typeface="Aptos"/>
              </a:rPr>
              <a:t>结论：迁移不是为了“换个后端”，而是为了拿回底层可控性，建立能面向 GB10 长期演进的运行时底座。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03F3507-E40E-468A-B873-38ED4106C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3733800"/>
            <a:ext cx="1165860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D2DDF0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6F3F205-1512-40C4-9DB3-931D59435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3733800"/>
            <a:ext cx="11658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5FBF"/>
          </a:solidFill>
          <a:ln xmlns:a="http://schemas.openxmlformats.org/drawingml/2006/main" w="9525">
            <a:solidFill>
              <a:srgbClr val="1E5FBF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D37F5A0-2417-4DA4-96A1-773F60A2D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00475"/>
            <a:ext cx="11239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迁移映射：从 Apple/Metal 约束，转换到 GB10/CUDA 可控运行时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B08B0FC-D843-4E02-A503-AF560CD7A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4057650"/>
            <a:ext cx="16764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2BBFCAD-0DEF-45C9-BEEC-47C1990B3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4124325"/>
            <a:ext cx="16002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40" b="1">
                <a:solidFill>
                  <a:srgbClr val="1F314A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1F314A"/>
                </a:solidFill>
                <a:latin typeface="Aptos"/>
                <a:ea typeface="Aptos"/>
                <a:cs typeface="Aptos"/>
              </a:rPr>
              <a:t>维度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28BE421-50B6-45B8-AE5C-BD0605CE8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4057650"/>
            <a:ext cx="2476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B51D294-2B42-4D8F-B69C-48200D790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4124325"/>
            <a:ext cx="2400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40" b="1">
                <a:solidFill>
                  <a:srgbClr val="1F314A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1F314A"/>
                </a:solidFill>
                <a:latin typeface="Aptos"/>
                <a:ea typeface="Aptos"/>
                <a:cs typeface="Aptos"/>
              </a:rPr>
              <a:t>Apple / Metal 原始状态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855520E-E882-47EF-83B6-7A7B9501E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057650"/>
            <a:ext cx="2476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BF747F9-AB60-47B6-99EF-4F8BEA425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124325"/>
            <a:ext cx="2400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40" b="1">
                <a:solidFill>
                  <a:srgbClr val="1F314A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1F314A"/>
                </a:solidFill>
                <a:latin typeface="Aptos"/>
                <a:ea typeface="Aptos"/>
                <a:cs typeface="Aptos"/>
              </a:rPr>
              <a:t>为什么不够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047E0B9-FB6C-4A20-AAEA-3C5F9FD5D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057650"/>
            <a:ext cx="24003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DE253F3-7158-4C93-A917-58641AFBA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124325"/>
            <a:ext cx="23241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40" b="1">
                <a:solidFill>
                  <a:srgbClr val="1F314A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1F314A"/>
                </a:solidFill>
                <a:latin typeface="Aptos"/>
                <a:ea typeface="Aptos"/>
                <a:cs typeface="Aptos"/>
              </a:rPr>
              <a:t>GB10 / CUDA 改造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1A2E979-DA6A-4E35-994B-1865F8297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057650"/>
            <a:ext cx="2628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FB9AB7B-0CEF-45E5-BFAE-E93B8E380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124325"/>
            <a:ext cx="25527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40" b="1">
                <a:solidFill>
                  <a:srgbClr val="1F314A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1F314A"/>
                </a:solidFill>
                <a:latin typeface="Aptos"/>
                <a:ea typeface="Aptos"/>
                <a:cs typeface="Aptos"/>
              </a:rPr>
              <a:t>结果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09E1C51-93EA-46F5-A0F4-5AD2613E4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4343400"/>
            <a:ext cx="1676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A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4AF3F4E-F781-4DCF-BC04-E36D9D9D0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" y="4362450"/>
            <a:ext cx="158115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35" b="1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735" b="1">
                <a:solidFill>
                  <a:srgbClr val="27384E"/>
                </a:solidFill>
                <a:latin typeface="Aptos"/>
                <a:ea typeface="Aptos"/>
                <a:cs typeface="Aptos"/>
              </a:rPr>
              <a:t>执行栈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797B60F-0D64-4BE3-B0C1-0D1F3029A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434340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A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96FFCF0-0EA2-4F59-A131-91ABFE0F7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4362450"/>
            <a:ext cx="238125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735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Metal / MPS / Apple runtime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091789F-EF95-4701-8CB1-014F09B14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34340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A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A5F8AF9F-F2D6-4951-A1E8-5CA642443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4362450"/>
            <a:ext cx="238125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735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底层黑盒，无法按 GB10 目标重排数据流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B4D880CA-4404-445A-81A1-CA982E64F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343400"/>
            <a:ext cx="2400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A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F36F6820-F1EB-4E50-9E42-2ADFDDBC2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4362450"/>
            <a:ext cx="230505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12803C"/>
                </a:solidFill>
                <a:latin typeface="Aptos"/>
                <a:ea typeface="Aptos"/>
                <a:cs typeface="Aptos"/>
              </a:defRPr>
            </a:pPr>
            <a:r>
              <a:rPr sz="735" b="0">
                <a:solidFill>
                  <a:srgbClr val="12803C"/>
                </a:solidFill>
                <a:latin typeface="Aptos"/>
                <a:ea typeface="Aptos"/>
                <a:cs typeface="Aptos"/>
              </a:rPr>
              <a:t>CUDA / Tensor Core kernel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DFF23D0-93BC-4F62-8820-9D1D1CC02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343400"/>
            <a:ext cx="2628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A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3CE6B67D-9111-4525-8FC7-692EDC2D2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4025" y="4362450"/>
            <a:ext cx="253365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735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获得 kernel、copy、调度全链路可控性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AF1A7623-FE7F-481B-B573-B5CC6305D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4514850"/>
            <a:ext cx="1676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B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40480731-5175-4767-933C-FE6363A37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" y="4533900"/>
            <a:ext cx="158115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35" b="1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735" b="1">
                <a:solidFill>
                  <a:srgbClr val="27384E"/>
                </a:solidFill>
                <a:latin typeface="Aptos"/>
                <a:ea typeface="Aptos"/>
                <a:cs typeface="Aptos"/>
              </a:rPr>
              <a:t>参数组织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7125538E-345A-4717-9AB9-EBE2068C7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45148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B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2C983262-3AF2-47F6-BE3F-32DAB3112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4533900"/>
            <a:ext cx="238125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735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框架参数树强耦合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4099A8BB-8C71-42A1-A0CE-B448496BE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5148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B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A3F5AFBC-EB15-4227-BCA4-CD3D6939B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4533900"/>
            <a:ext cx="238125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735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无法显式拆开 dense resident 与 expert store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5B6EF25D-BD25-4239-BF50-287DC0951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514850"/>
            <a:ext cx="2400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B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1633EF54-0FE2-4132-ABB9-6B64CDA3C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4533900"/>
            <a:ext cx="230505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12803C"/>
                </a:solidFill>
                <a:latin typeface="Aptos"/>
                <a:ea typeface="Aptos"/>
                <a:cs typeface="Aptos"/>
              </a:defRPr>
            </a:pPr>
            <a:r>
              <a:rPr sz="735" b="0">
                <a:solidFill>
                  <a:srgbClr val="12803C"/>
                </a:solidFill>
                <a:latin typeface="Aptos"/>
                <a:ea typeface="Aptos"/>
                <a:cs typeface="Aptos"/>
              </a:rPr>
              <a:t>dense resident + manifest expert store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4988BFC1-25FF-4A02-8B42-BF96135F4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514850"/>
            <a:ext cx="2628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B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03AE781A-3447-4704-8D88-0DF2426E0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4025" y="4533900"/>
            <a:ext cx="253365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735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支持热冷分层与可测 miss 成本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14C4E3FC-08B7-41D2-88E8-8B984C72C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4686300"/>
            <a:ext cx="1676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A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BF0F706F-F8D4-4E21-9D03-3FB21C600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" y="4705350"/>
            <a:ext cx="158115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35" b="1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735" b="1">
                <a:solidFill>
                  <a:srgbClr val="27384E"/>
                </a:solidFill>
                <a:latin typeface="Aptos"/>
                <a:ea typeface="Aptos"/>
                <a:cs typeface="Aptos"/>
              </a:rPr>
              <a:t>冷数据读取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48413B7E-61FC-4DD3-9FC4-3AC293861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468630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A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8B8B13B3-4872-421D-90A6-AF7CC6166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4705350"/>
            <a:ext cx="238125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735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page-cache 风格读取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6AFBE373-2D9F-4D4E-A3C8-AD0EF961C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68630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A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0E02A8C4-C6CB-4090-8260-3A7F4F598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4705350"/>
            <a:ext cx="238125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735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难以准确控制 load path 和预取策略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678B086C-A19F-4EE2-BE50-43972D5ED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686300"/>
            <a:ext cx="2400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A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9345B9B9-14FE-4F75-939F-3997C839E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4705350"/>
            <a:ext cx="230505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12803C"/>
                </a:solidFill>
                <a:latin typeface="Aptos"/>
                <a:ea typeface="Aptos"/>
                <a:cs typeface="Aptos"/>
              </a:defRPr>
            </a:pPr>
            <a:r>
              <a:rPr sz="735" b="0">
                <a:solidFill>
                  <a:srgbClr val="12803C"/>
                </a:solidFill>
                <a:latin typeface="Aptos"/>
                <a:ea typeface="Aptos"/>
                <a:cs typeface="Aptos"/>
              </a:rPr>
              <a:t>chunked pread + explicit cache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CD4CEDCB-E590-4864-B043-8D9967AC2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686300"/>
            <a:ext cx="2628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A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3615F81C-2E84-44DE-8864-8ECF900EE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4025" y="4705350"/>
            <a:ext cx="253365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735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可做带宽建模和命中率优化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18F5A483-5E30-4B05-BDC8-528532F4E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4857750"/>
            <a:ext cx="1676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B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8CDDCBDA-190F-4C96-B98A-7A2A36BCF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" y="4876800"/>
            <a:ext cx="158115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35" b="1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735" b="1">
                <a:solidFill>
                  <a:srgbClr val="27384E"/>
                </a:solidFill>
                <a:latin typeface="Aptos"/>
                <a:ea typeface="Aptos"/>
                <a:cs typeface="Aptos"/>
              </a:rPr>
              <a:t>运行时接口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92415921-1D2A-4F69-A20C-715A253C9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48577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B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83587149-AF65-49DA-AE20-5AEE8EF5C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4876800"/>
            <a:ext cx="238125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735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更偏实验性实现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EC52CCBD-74E6-4EB9-B090-5176476A4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8577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B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AB13D1AA-FA2A-44EF-802C-5A34A9CEE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4876800"/>
            <a:ext cx="238125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735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难服务化、难长期维护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D2D9876C-2AB5-43B6-A3A0-A2AC689AE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857750"/>
            <a:ext cx="2400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B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007DD538-EA57-48AE-9DBD-BCB82A195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4876800"/>
            <a:ext cx="230505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12803C"/>
                </a:solidFill>
                <a:latin typeface="Aptos"/>
                <a:ea typeface="Aptos"/>
                <a:cs typeface="Aptos"/>
              </a:defRPr>
            </a:pPr>
            <a:r>
              <a:rPr sz="735" b="0">
                <a:solidFill>
                  <a:srgbClr val="12803C"/>
                </a:solidFill>
                <a:latin typeface="Aptos"/>
                <a:ea typeface="Aptos"/>
                <a:cs typeface="Aptos"/>
              </a:rPr>
              <a:t>engine / session / service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A8E9643B-E3E5-4A3D-AB00-127E21D3F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857750"/>
            <a:ext cx="2628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B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88D8138B-D0D3-460E-A3ED-5A0D766E0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4025" y="4876800"/>
            <a:ext cx="253365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735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形成可部署、可扩展的产品底座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ABD1CBAE-42DE-40FF-A84E-6A53DEBCE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5600700"/>
            <a:ext cx="37338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D2DDF0"/>
            </a:solidFill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06DE5DF2-37EF-4FA6-983B-87405CB6F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5276850"/>
            <a:ext cx="37338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5FBF"/>
          </a:solidFill>
          <a:ln xmlns:a="http://schemas.openxmlformats.org/drawingml/2006/main" w="10478">
            <a:solidFill>
              <a:srgbClr val="1E5FBF"/>
            </a:solidFill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34F07BD9-0E57-4A26-BC8B-98085C6A4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343525"/>
            <a:ext cx="3467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闭源与框架约束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B9E535C5-B68A-4034-A944-C20AE2817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5600700"/>
            <a:ext cx="37338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D2DDF0"/>
            </a:solidFill>
            <a:prstDash val="solid"/>
          </a:ln>
        </p:spPr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7BB2EE0C-8D62-44C6-A3AF-D867EE7E2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5276850"/>
            <a:ext cx="37338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5FBF"/>
          </a:solidFill>
          <a:ln xmlns:a="http://schemas.openxmlformats.org/drawingml/2006/main" w="10478">
            <a:solidFill>
              <a:srgbClr val="1E5FBF"/>
            </a:solidFill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89D04F56-2612-45A9-9D1B-F73056648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5343525"/>
            <a:ext cx="3467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我们已经完成的重构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3FF281F5-FCAC-4943-9028-FE582F5B8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5600700"/>
            <a:ext cx="37338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D2DDF0"/>
            </a:solidFill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2D449504-2899-42A7-9444-0B47C0698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5276850"/>
            <a:ext cx="37338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79D2"/>
          </a:solidFill>
          <a:ln xmlns:a="http://schemas.openxmlformats.org/drawingml/2006/main" w="10478">
            <a:solidFill>
              <a:srgbClr val="4F79D2"/>
            </a:solidFill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48A27054-5719-4615-B45C-31AFCEC02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5343525"/>
            <a:ext cx="3467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本页结论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7E715857-A61B-4901-9FC3-33CF4CFCE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734050"/>
            <a:ext cx="152400" cy="174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73" b="1">
                <a:solidFill>
                  <a:srgbClr val="1E5FBF"/>
                </a:solidFill>
                <a:latin typeface="Aptos"/>
                <a:ea typeface="Aptos"/>
                <a:cs typeface="Aptos"/>
              </a:defRPr>
            </a:pPr>
            <a:r>
              <a:rPr sz="1073" b="1">
                <a:solidFill>
                  <a:srgbClr val="1E5FBF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FB7BDFE4-C8DC-4B2D-9F7C-A01B9746C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34050"/>
            <a:ext cx="3314700" cy="1933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923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原始 Metal 路线很多关键能力可观察但不可改。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5D25DD39-CCE3-4D44-A446-252B717F2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981700"/>
            <a:ext cx="152400" cy="174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73" b="1">
                <a:solidFill>
                  <a:srgbClr val="1E5FBF"/>
                </a:solidFill>
                <a:latin typeface="Aptos"/>
                <a:ea typeface="Aptos"/>
                <a:cs typeface="Aptos"/>
              </a:defRPr>
            </a:pPr>
            <a:r>
              <a:rPr sz="1073" b="1">
                <a:solidFill>
                  <a:srgbClr val="1E5FBF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C40B4416-476C-44EF-85BD-14755F927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81700"/>
            <a:ext cx="3314700" cy="1933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923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底层框架和系统栈不是我们可长期依赖的可控资产。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111AAD63-8DE9-4E8A-A2A8-3E17ADBCA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5734050"/>
            <a:ext cx="152400" cy="174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73" b="1">
                <a:solidFill>
                  <a:srgbClr val="1E5FBF"/>
                </a:solidFill>
                <a:latin typeface="Aptos"/>
                <a:ea typeface="Aptos"/>
                <a:cs typeface="Aptos"/>
              </a:defRPr>
            </a:pPr>
            <a:r>
              <a:rPr sz="1073" b="1">
                <a:solidFill>
                  <a:srgbClr val="1E5FBF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E1BA3507-B262-4449-867A-31444C81F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5734050"/>
            <a:ext cx="3314700" cy="1933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923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保留 streamed-MoE 控制面思想。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2BDCD2A6-F478-418B-B9DD-C531A2ED4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5981700"/>
            <a:ext cx="152400" cy="174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73" b="1">
                <a:solidFill>
                  <a:srgbClr val="1E5FBF"/>
                </a:solidFill>
                <a:latin typeface="Aptos"/>
                <a:ea typeface="Aptos"/>
                <a:cs typeface="Aptos"/>
              </a:defRPr>
            </a:pPr>
            <a:r>
              <a:rPr sz="1073" b="1">
                <a:solidFill>
                  <a:srgbClr val="1E5FBF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AB607783-152C-4553-8406-EA96B1870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5981700"/>
            <a:ext cx="3314700" cy="1933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923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重写 dense resident / expert store / hot cache / scheduler。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024F71F7-014B-49DC-8120-6E40BACBF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5753100"/>
            <a:ext cx="3429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05" b="1">
                <a:solidFill>
                  <a:srgbClr val="1F314A"/>
                </a:solidFill>
                <a:latin typeface="Aptos"/>
                <a:ea typeface="Aptos"/>
                <a:cs typeface="Aptos"/>
              </a:defRPr>
            </a:pPr>
            <a:r>
              <a:rPr sz="1005" b="1">
                <a:solidFill>
                  <a:srgbClr val="1F314A"/>
                </a:solidFill>
                <a:latin typeface="Aptos"/>
                <a:ea typeface="Aptos"/>
                <a:cs typeface="Aptos"/>
              </a:rPr>
              <a:t>我们迁移的不是 Metal 本身，而是 DS4 的思路；我们重做的是底层 runtime，以便在 GB10 上真正可控、可调、可产品化。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4CED8154-BA72-44F1-97CD-7D0D62D36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496050"/>
            <a:ext cx="1165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11430">
            <a:solidFill>
              <a:srgbClr val="1E5FBF"/>
            </a:solidFill>
            <a:prstDash val="dash"/>
          </a:ln>
        </p:spPr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557A7AC5-DAEA-4C8E-BA17-F3EB677E8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113538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F31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F314A"/>
                </a:solidFill>
                <a:latin typeface="Aptos"/>
                <a:ea typeface="Aptos"/>
                <a:cs typeface="Aptos"/>
              </a:rPr>
              <a:t>Takeaway：从 Metal 转向 CUDA 的根本原因，是 Apple 路线闭源、黑盒、难改，无法支撑 GB10 所需的底层可控性与后续产品化演进。</a:t>
            </a:r>
          </a:p>
        </p:txBody>
      </p:sp>
    </p:spTree>
    <p:extLst>
      <p:ext uri="{BB962C8B-B14F-4D97-AF65-F5344CB8AC3E}">
        <p14:creationId xmlns:p14="http://schemas.microsoft.com/office/powerpoint/2010/main" val="266808546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0FE8E039-9C58-40E1-90B0-947EAEB6A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133350"/>
            <a:ext cx="9429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E5FBF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1E5FBF"/>
                </a:solidFill>
                <a:latin typeface="Aptos Display"/>
                <a:ea typeface="Aptos Display"/>
                <a:cs typeface="Aptos Display"/>
              </a:rPr>
              <a:t>GB10 端侧优化与体验差距：为什么还需要云端模型补齐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986795-2549-48C2-B3BB-A04C8168B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523875"/>
            <a:ext cx="11658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5FBF"/>
          </a:solidFill>
          <a:ln xmlns:a="http://schemas.openxmlformats.org/drawingml/2006/main" w="9525">
            <a:solidFill>
              <a:srgbClr val="1E5FB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E72067-560C-4BFB-B1F4-0021CF2C8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1009650"/>
            <a:ext cx="69532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D2DDF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3B795C-258A-45B2-B38A-26C6F9C97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85800"/>
            <a:ext cx="6953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5FBF"/>
          </a:solidFill>
          <a:ln xmlns:a="http://schemas.openxmlformats.org/drawingml/2006/main" w="10478">
            <a:solidFill>
              <a:srgbClr val="1E5FB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6B305F-5748-4251-BE11-320A8BE96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52475"/>
            <a:ext cx="6686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跑通 FlashMoE 版本 + 软件深度优化性能的关键实现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F7909B-4610-45CB-AD65-96C7054BC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009650"/>
            <a:ext cx="44767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D2DDF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032CEB-DA98-49C8-B20B-5C380C851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685800"/>
            <a:ext cx="4476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79D2"/>
          </a:solidFill>
          <a:ln xmlns:a="http://schemas.openxmlformats.org/drawingml/2006/main" w="10478">
            <a:solidFill>
              <a:srgbClr val="4F79D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01D5A7-F3DE-4256-B573-B8C3FAA7C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752475"/>
            <a:ext cx="421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实测性能与用户体验差距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AE4562-7E72-41C0-8BB8-72C471250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43000"/>
            <a:ext cx="1104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949982-24F8-46D3-8F9B-FA4F5D939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209675"/>
            <a:ext cx="10287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40" b="1">
                <a:solidFill>
                  <a:srgbClr val="1F314A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1F314A"/>
                </a:solidFill>
                <a:latin typeface="Aptos"/>
                <a:ea typeface="Aptos"/>
                <a:cs typeface="Aptos"/>
              </a:rPr>
              <a:t>类别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CE4C7E-ABC2-4F8A-AB2F-A78EA3488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143000"/>
            <a:ext cx="1809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040846-A407-44C2-87B3-05C52172C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1209675"/>
            <a:ext cx="17335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40" b="1">
                <a:solidFill>
                  <a:srgbClr val="1F314A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1F314A"/>
                </a:solidFill>
                <a:latin typeface="Aptos"/>
                <a:ea typeface="Aptos"/>
                <a:cs typeface="Aptos"/>
              </a:rPr>
              <a:t>关键修改点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8A0FCEF-FD89-4F04-897A-4B115DE3E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1143000"/>
            <a:ext cx="1924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5B71FC-66F0-485F-B3E7-CD665929E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1209675"/>
            <a:ext cx="18478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40" b="1">
                <a:solidFill>
                  <a:srgbClr val="1F314A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1F314A"/>
                </a:solidFill>
                <a:latin typeface="Aptos"/>
                <a:ea typeface="Aptos"/>
                <a:cs typeface="Aptos"/>
              </a:rPr>
              <a:t>深度优化实现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AD6F46-5FE8-4C15-AAAD-396B40962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1143000"/>
            <a:ext cx="1828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9426DC0-8863-4438-937C-349E508E9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1209675"/>
            <a:ext cx="1752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40" b="1">
                <a:solidFill>
                  <a:srgbClr val="1F314A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1F314A"/>
                </a:solidFill>
                <a:latin typeface="Aptos"/>
                <a:ea typeface="Aptos"/>
                <a:cs typeface="Aptos"/>
              </a:rPr>
              <a:t>价值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D7955EB-5760-45C5-A690-E1CA584B6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1049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A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F56FD0D-1D59-421B-951A-2C582174E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447800"/>
            <a:ext cx="10287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30" b="1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630" b="1">
                <a:solidFill>
                  <a:srgbClr val="27384E"/>
                </a:solidFill>
                <a:latin typeface="Aptos"/>
                <a:ea typeface="Aptos"/>
                <a:cs typeface="Aptos"/>
              </a:rPr>
              <a:t>跑通修改 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8EE8719-F0FB-4894-A6FC-5C6C04993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428750"/>
            <a:ext cx="1809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A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8C8C3AE-8C6C-4687-A238-6BD1C6C0E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1447800"/>
            <a:ext cx="17335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30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630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把 DS4 2bit 路线改成可运行 FlashMoE 版本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99DBC97-5148-48A1-B6A6-E42B6450F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1428750"/>
            <a:ext cx="19240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A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E0D8E7D-DAF4-4FB3-806B-90A603F16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1447800"/>
            <a:ext cx="1847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30" b="0">
                <a:solidFill>
                  <a:srgbClr val="12803C"/>
                </a:solidFill>
                <a:latin typeface="Aptos"/>
                <a:ea typeface="Aptos"/>
                <a:cs typeface="Aptos"/>
              </a:defRPr>
            </a:pPr>
            <a:r>
              <a:rPr sz="630" b="0">
                <a:solidFill>
                  <a:srgbClr val="12803C"/>
                </a:solidFill>
                <a:latin typeface="Aptos"/>
                <a:ea typeface="Aptos"/>
                <a:cs typeface="Aptos"/>
              </a:rPr>
              <a:t>重建模型加载、权重组织与执行入口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573ABFB-A411-4EE7-9F5D-EB75BEFC8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1428750"/>
            <a:ext cx="18288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A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70F9ACC-7D75-4D5B-95BB-46EB24103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1447800"/>
            <a:ext cx="17526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30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630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先解决“能不能在 GB10 上跑起来”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2519487-62BB-4EDA-B5A9-EC10FFD77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81150"/>
            <a:ext cx="11049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B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1AFAC99-ED8F-4196-B91A-BFA0A71CE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00200"/>
            <a:ext cx="10287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30" b="1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630" b="1">
                <a:solidFill>
                  <a:srgbClr val="27384E"/>
                </a:solidFill>
                <a:latin typeface="Aptos"/>
                <a:ea typeface="Aptos"/>
                <a:cs typeface="Aptos"/>
              </a:rPr>
              <a:t>跑通修改 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AF31A92-8E9D-4321-A767-6E7215DFD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581150"/>
            <a:ext cx="1809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B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5A14CDA-E8C7-4D3B-9C86-80225A94E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1600200"/>
            <a:ext cx="17335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30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630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把专家权重从框架参数树中解耦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46323FD-CB30-4248-A342-70471161E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1581150"/>
            <a:ext cx="19240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B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0B17841-1864-4605-9377-4E9FB0464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1600200"/>
            <a:ext cx="1847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30" b="0">
                <a:solidFill>
                  <a:srgbClr val="12803C"/>
                </a:solidFill>
                <a:latin typeface="Aptos"/>
                <a:ea typeface="Aptos"/>
                <a:cs typeface="Aptos"/>
              </a:defRPr>
            </a:pPr>
            <a:r>
              <a:rPr sz="630" b="0">
                <a:solidFill>
                  <a:srgbClr val="12803C"/>
                </a:solidFill>
                <a:latin typeface="Aptos"/>
                <a:ea typeface="Aptos"/>
                <a:cs typeface="Aptos"/>
              </a:rPr>
              <a:t>dense resident + layer-major expert store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932CF8D-B4F7-495A-9F72-C6A67CC9F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1581150"/>
            <a:ext cx="18288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B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1B72981-2DDA-4CE8-BEA7-BB989F909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1600200"/>
            <a:ext cx="17526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30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630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形成热冷分层，支持后续专家流式访问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18D2C9B-2F0C-4C41-B0E1-FBF4C4DB5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33550"/>
            <a:ext cx="11049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A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7185CAE-FC73-4B91-8A5A-A5A5EC588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752600"/>
            <a:ext cx="10287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30" b="1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630" b="1">
                <a:solidFill>
                  <a:srgbClr val="27384E"/>
                </a:solidFill>
                <a:latin typeface="Aptos"/>
                <a:ea typeface="Aptos"/>
                <a:cs typeface="Aptos"/>
              </a:rPr>
              <a:t>优化实现 1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E0E07C3-CB06-4B60-BC37-93A6EDAA4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733550"/>
            <a:ext cx="1809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A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0ADD6F3-B1D7-4438-BF2A-D1E563C96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1752600"/>
            <a:ext cx="17335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30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630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显式管理专家读取路径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16B71EB-52DB-4D9F-ADAC-50110EE18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1733550"/>
            <a:ext cx="19240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A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F8D6611-FB92-4E40-BFF3-A5682274E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1752600"/>
            <a:ext cx="1847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30" b="0">
                <a:solidFill>
                  <a:srgbClr val="12803C"/>
                </a:solidFill>
                <a:latin typeface="Aptos"/>
                <a:ea typeface="Aptos"/>
                <a:cs typeface="Aptos"/>
              </a:defRPr>
            </a:pPr>
            <a:r>
              <a:rPr sz="630" b="0">
                <a:solidFill>
                  <a:srgbClr val="12803C"/>
                </a:solidFill>
                <a:latin typeface="Aptos"/>
                <a:ea typeface="Aptos"/>
                <a:cs typeface="Aptos"/>
              </a:rPr>
              <a:t>manifest + chunked pread + load path 统计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FBF966B-9E57-49A7-90F4-D57272945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1733550"/>
            <a:ext cx="18288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A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C9C0856-C2D8-4550-8A94-D2E249A49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1752600"/>
            <a:ext cx="17526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30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630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可分析 cold load、带宽和 miss 成本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8990ABF-703E-469D-A940-519C7B916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85950"/>
            <a:ext cx="11049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B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70AB2DF-04D4-49A2-8C6A-65C7F933A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905000"/>
            <a:ext cx="10287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30" b="1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630" b="1">
                <a:solidFill>
                  <a:srgbClr val="27384E"/>
                </a:solidFill>
                <a:latin typeface="Aptos"/>
                <a:ea typeface="Aptos"/>
                <a:cs typeface="Aptos"/>
              </a:rPr>
              <a:t>优化实现 2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750F2DC-E13A-456E-B13D-97FE11976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885950"/>
            <a:ext cx="1809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B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D43AE63-FD60-4A41-8AD2-83DB34739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1905000"/>
            <a:ext cx="17335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30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630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显式管理专家复用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55C81FB-5729-4D42-9541-2C69AE660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1885950"/>
            <a:ext cx="19240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B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0E9DD9A-B061-4977-887A-B1568E2B3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1905000"/>
            <a:ext cx="1847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30" b="0">
                <a:solidFill>
                  <a:srgbClr val="12803C"/>
                </a:solidFill>
                <a:latin typeface="Aptos"/>
                <a:ea typeface="Aptos"/>
                <a:cs typeface="Aptos"/>
              </a:defRPr>
            </a:pPr>
            <a:r>
              <a:rPr sz="630" b="0">
                <a:solidFill>
                  <a:srgbClr val="12803C"/>
                </a:solidFill>
                <a:latin typeface="Aptos"/>
                <a:ea typeface="Aptos"/>
                <a:cs typeface="Aptos"/>
              </a:rPr>
              <a:t>compute-ready hot expert cache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ED876B0-9694-438F-A891-FC7B2EC8A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1885950"/>
            <a:ext cx="18288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B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2EA2E86-3543-4211-9C41-C82AAC353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1905000"/>
            <a:ext cx="17526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30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630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减少重复解包/搬运，提升命中收益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9203EB1-4153-4991-820A-F400018FB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38350"/>
            <a:ext cx="11049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A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B140648-B302-47A6-BC27-439134FAC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2057400"/>
            <a:ext cx="10287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30" b="1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630" b="1">
                <a:solidFill>
                  <a:srgbClr val="27384E"/>
                </a:solidFill>
                <a:latin typeface="Aptos"/>
                <a:ea typeface="Aptos"/>
                <a:cs typeface="Aptos"/>
              </a:rPr>
              <a:t>优化实现 3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6305658-F801-4ED9-8D6B-24010D241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038350"/>
            <a:ext cx="1809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A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6A504C9-DFEB-46BC-ACB7-EB6833C17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057400"/>
            <a:ext cx="17335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30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630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拆开 decode 热路径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60E4041-594E-4AA6-921D-C794D9662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038350"/>
            <a:ext cx="19240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A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18ABA048-7AE9-41DB-A8CF-CE9630BFA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057400"/>
            <a:ext cx="1847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30" b="0">
                <a:solidFill>
                  <a:srgbClr val="12803C"/>
                </a:solidFill>
                <a:latin typeface="Aptos"/>
                <a:ea typeface="Aptos"/>
                <a:cs typeface="Aptos"/>
              </a:defRPr>
            </a:pPr>
            <a:r>
              <a:rPr sz="630" b="0">
                <a:solidFill>
                  <a:srgbClr val="12803C"/>
                </a:solidFill>
                <a:latin typeface="Aptos"/>
                <a:ea typeface="Aptos"/>
                <a:cs typeface="Aptos"/>
              </a:rPr>
              <a:t>route / load / unpack / compute / combine 分段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D57877B2-7562-4B31-9949-EE7BB0329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038350"/>
            <a:ext cx="18288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A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4349D70-D64F-4AFA-951A-F5D4D2B27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057400"/>
            <a:ext cx="17526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30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630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能直接定位阶段性瓶颈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B095795D-742E-4A17-BBE8-2E428A881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90750"/>
            <a:ext cx="11049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B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A46FE6E-89BA-48FC-8DD8-397AD38B8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2209800"/>
            <a:ext cx="10287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30" b="1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630" b="1">
                <a:solidFill>
                  <a:srgbClr val="27384E"/>
                </a:solidFill>
                <a:latin typeface="Aptos"/>
                <a:ea typeface="Aptos"/>
                <a:cs typeface="Aptos"/>
              </a:rPr>
              <a:t>优化实现 4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58DAF104-519F-4E66-A451-72C6A46F6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190750"/>
            <a:ext cx="1809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B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2AC3A976-BBBE-4954-8E61-09D0F29A3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209800"/>
            <a:ext cx="17335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30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630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稳定 prefill/decode 执行行为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6BBE8A97-87FA-459C-BC96-4E3FD88E9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190750"/>
            <a:ext cx="19240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B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0CB54A7B-D677-4112-BB62-E3C35F20C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209800"/>
            <a:ext cx="1847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30" b="0">
                <a:solidFill>
                  <a:srgbClr val="12803C"/>
                </a:solidFill>
                <a:latin typeface="Aptos"/>
                <a:ea typeface="Aptos"/>
                <a:cs typeface="Aptos"/>
              </a:defRPr>
            </a:pPr>
            <a:r>
              <a:rPr sz="630" b="0">
                <a:solidFill>
                  <a:srgbClr val="12803C"/>
                </a:solidFill>
                <a:latin typeface="Aptos"/>
                <a:ea typeface="Aptos"/>
                <a:cs typeface="Aptos"/>
              </a:rPr>
              <a:t>dense 常驻 UMA + experts 流式调度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EEEC9C2E-27DA-4649-A828-EF7B14A35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190750"/>
            <a:ext cx="18288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B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0DFF972E-DCBE-4729-BE16-D2BBFAE8C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209800"/>
            <a:ext cx="17526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30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630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减少无关参数参与热路径，提升吞吐稳定性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C953AC0D-81CB-4893-80A1-54950C4E4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343150"/>
            <a:ext cx="11049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A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013448C6-FA3A-4365-A281-D58FE19A8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2362200"/>
            <a:ext cx="10287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30" b="1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630" b="1">
                <a:solidFill>
                  <a:srgbClr val="27384E"/>
                </a:solidFill>
                <a:latin typeface="Aptos"/>
                <a:ea typeface="Aptos"/>
                <a:cs typeface="Aptos"/>
              </a:rPr>
              <a:t>优化实现 5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EA0B506D-818B-4676-82A3-9959657E2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343150"/>
            <a:ext cx="1809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A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02421ED4-7C80-4016-B7F5-9E906DA07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362200"/>
            <a:ext cx="17335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30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630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把实验代码变成可演进 runtime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6CA2F45A-47F1-46EA-8B3F-4E78E20D4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343150"/>
            <a:ext cx="19240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A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DCF429B4-83C0-4654-8E16-19FC1FCD9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362200"/>
            <a:ext cx="1847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30" b="0">
                <a:solidFill>
                  <a:srgbClr val="12803C"/>
                </a:solidFill>
                <a:latin typeface="Aptos"/>
                <a:ea typeface="Aptos"/>
                <a:cs typeface="Aptos"/>
              </a:defRPr>
            </a:pPr>
            <a:r>
              <a:rPr sz="630" b="0">
                <a:solidFill>
                  <a:srgbClr val="12803C"/>
                </a:solidFill>
                <a:latin typeface="Aptos"/>
                <a:ea typeface="Aptos"/>
                <a:cs typeface="Aptos"/>
              </a:rPr>
              <a:t>engine / session / service 分层 + profiling hooks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F7036775-516E-4CAE-A9C9-4A5D19BB7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343150"/>
            <a:ext cx="18288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A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A5DF8BD1-17A6-4A1F-9F85-9018E65C7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362200"/>
            <a:ext cx="17526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30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630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方便继续做性能分析、策略优化和产品集成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76EE9488-7AE0-4384-BAB6-A602DCFA0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1143000"/>
            <a:ext cx="10668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8E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836FFEE0-559C-4ED9-87C5-2BC2E8DF4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1143000"/>
            <a:ext cx="3143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C3AF5E5E-A13B-4F13-9933-18E0D29F1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257300"/>
            <a:ext cx="990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38" b="1">
                <a:solidFill>
                  <a:srgbClr val="12803C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12803C"/>
                </a:solidFill>
                <a:latin typeface="Aptos"/>
                <a:ea typeface="Aptos"/>
                <a:cs typeface="Aptos"/>
              </a:rPr>
              <a:t>Prefill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2B92D5B9-F3AC-470B-BF1F-C48E5E08E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1200150"/>
            <a:ext cx="29527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1">
                <a:solidFill>
                  <a:srgbClr val="1F314A"/>
                </a:solidFill>
                <a:latin typeface="Aptos"/>
                <a:ea typeface="Aptos"/>
                <a:cs typeface="Aptos"/>
              </a:defRPr>
            </a:pPr>
            <a:r>
              <a:rPr sz="915" b="1">
                <a:solidFill>
                  <a:srgbClr val="1F314A"/>
                </a:solidFill>
                <a:latin typeface="Aptos"/>
                <a:ea typeface="Aptos"/>
                <a:cs typeface="Aptos"/>
              </a:rPr>
              <a:t>58 → 130 tok/s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5A479FA0-3134-4475-99BC-E83A8FB2D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1333500"/>
            <a:ext cx="2952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0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780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512 ctx 约 58 tok/s；64K/128K ctx 分别约 125/130 tok/s，长上下文首响仍慢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2316C99D-9F5F-4936-B1C4-71D57A6A3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1657350"/>
            <a:ext cx="10668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DB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69F4D0E7-AB98-4742-B615-DDC628C2F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1657350"/>
            <a:ext cx="3143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E307A8A3-0759-43E8-A975-B12BCD505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771650"/>
            <a:ext cx="990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38" b="1">
                <a:solidFill>
                  <a:srgbClr val="E68600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E68600"/>
                </a:solidFill>
                <a:latin typeface="Aptos"/>
                <a:ea typeface="Aptos"/>
                <a:cs typeface="Aptos"/>
              </a:rPr>
              <a:t>Decode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F7FEB7A9-50A9-47E1-85AA-DADA4DF57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1714500"/>
            <a:ext cx="29527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1">
                <a:solidFill>
                  <a:srgbClr val="1F314A"/>
                </a:solidFill>
                <a:latin typeface="Aptos"/>
                <a:ea typeface="Aptos"/>
                <a:cs typeface="Aptos"/>
              </a:defRPr>
            </a:pPr>
            <a:r>
              <a:rPr sz="915" b="1">
                <a:solidFill>
                  <a:srgbClr val="1F314A"/>
                </a:solidFill>
                <a:latin typeface="Aptos"/>
                <a:ea typeface="Aptos"/>
                <a:cs typeface="Aptos"/>
              </a:rPr>
              <a:t>8.15 → 4.2 tok/s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B525D5CE-E20E-4537-9DDD-5754FCD1B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1847850"/>
            <a:ext cx="2952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0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780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512 ctx 约 8.15 tok/s；64K ctx 约 5.3 tok/s；128K ctx 约 4.2 tok/s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2175598A-6B40-4908-A1CB-72346CA91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171700"/>
            <a:ext cx="10668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CEC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2C193EBB-0F98-4D0F-A5C8-7531F8A99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171700"/>
            <a:ext cx="3143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5FDBEDBF-6E65-45D2-8027-1E6007EA5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286000"/>
            <a:ext cx="990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38" b="1">
                <a:solidFill>
                  <a:srgbClr val="C93A2B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C93A2B"/>
                </a:solidFill>
                <a:latin typeface="Aptos"/>
                <a:ea typeface="Aptos"/>
                <a:cs typeface="Aptos"/>
              </a:rPr>
              <a:t>体验差距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E6694805-D1B3-4AED-82F0-CACCE3E26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228850"/>
            <a:ext cx="29527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1">
                <a:solidFill>
                  <a:srgbClr val="1F314A"/>
                </a:solidFill>
                <a:latin typeface="Aptos"/>
                <a:ea typeface="Aptos"/>
                <a:cs typeface="Aptos"/>
              </a:defRPr>
            </a:pPr>
            <a:r>
              <a:rPr sz="915" b="1">
                <a:solidFill>
                  <a:srgbClr val="1F314A"/>
                </a:solidFill>
                <a:latin typeface="Aptos"/>
                <a:ea typeface="Aptos"/>
                <a:cs typeface="Aptos"/>
              </a:rPr>
              <a:t>仍低于产品预期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FAE53F75-CA0E-44B6-82FD-A7F12D655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362200"/>
            <a:ext cx="2952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0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780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复杂 reasoning、多轮工具、长文档任务下，用户感知瓶颈已从“能不能跑”转向“够不够快、够不够强”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472C3B2A-F974-4F67-A73B-473875AAE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686050"/>
            <a:ext cx="4210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FD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BD4FAC01-19EC-4A82-8258-6E9BA02F6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724150"/>
            <a:ext cx="40195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55" b="1">
                <a:solidFill>
                  <a:srgbClr val="1F314A"/>
                </a:solidFill>
                <a:latin typeface="Aptos"/>
                <a:ea typeface="Aptos"/>
                <a:cs typeface="Aptos"/>
              </a:defRPr>
            </a:pPr>
            <a:r>
              <a:rPr sz="855" b="1">
                <a:solidFill>
                  <a:srgbClr val="1F314A"/>
                </a:solidFill>
                <a:latin typeface="Aptos"/>
                <a:ea typeface="Aptos"/>
                <a:cs typeface="Aptos"/>
              </a:rPr>
              <a:t>实测说明：后端侧已经被我们优化到“可运行且可量化”，但仍不足以单独承担完整高质量体验。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472A1908-D0F0-4914-8D28-CBD415581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3314700"/>
            <a:ext cx="116586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D2DDF0"/>
            </a:solidFill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C22A5607-22B6-4CE4-91DE-F6D46C969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2990850"/>
            <a:ext cx="11658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5FBF"/>
          </a:solidFill>
          <a:ln xmlns:a="http://schemas.openxmlformats.org/drawingml/2006/main" w="10478">
            <a:solidFill>
              <a:srgbClr val="1E5FBF"/>
            </a:solidFill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EF70846F-27F5-4208-B83B-0EE3AEBCB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57525"/>
            <a:ext cx="11391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代表性实测数据：上下文增大后 decode 明显下降，整体仍达不到高质量体验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F223AF3E-9050-4F75-B80C-6DCEA9851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48050"/>
            <a:ext cx="1257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62E7FCF1-BE2D-4242-A91C-99CFDA41A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3514725"/>
            <a:ext cx="11811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10" b="1">
                <a:solidFill>
                  <a:srgbClr val="1F314A"/>
                </a:solidFill>
                <a:latin typeface="Aptos"/>
                <a:ea typeface="Aptos"/>
                <a:cs typeface="Aptos"/>
              </a:defRPr>
            </a:pPr>
            <a:r>
              <a:rPr sz="810" b="1">
                <a:solidFill>
                  <a:srgbClr val="1F314A"/>
                </a:solidFill>
                <a:latin typeface="Aptos"/>
                <a:ea typeface="Aptos"/>
                <a:cs typeface="Aptos"/>
              </a:rPr>
              <a:t>Context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06A7E7F8-023C-42DF-8FCA-7B44915F8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448050"/>
            <a:ext cx="1371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9AB9F340-B5CB-4F41-9A91-7D35A4A3E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514725"/>
            <a:ext cx="12954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10" b="1">
                <a:solidFill>
                  <a:srgbClr val="1F314A"/>
                </a:solidFill>
                <a:latin typeface="Aptos"/>
                <a:ea typeface="Aptos"/>
                <a:cs typeface="Aptos"/>
              </a:defRPr>
            </a:pPr>
            <a:r>
              <a:rPr sz="810" b="1">
                <a:solidFill>
                  <a:srgbClr val="1F314A"/>
                </a:solidFill>
                <a:latin typeface="Aptos"/>
                <a:ea typeface="Aptos"/>
                <a:cs typeface="Aptos"/>
              </a:rPr>
              <a:t>Prefill TPS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E885D1FE-E773-4698-B9FB-76B36CF4F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448050"/>
            <a:ext cx="1371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28C89FBD-E6B1-4C81-BE65-819E6337A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514725"/>
            <a:ext cx="12954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10" b="1">
                <a:solidFill>
                  <a:srgbClr val="1F314A"/>
                </a:solidFill>
                <a:latin typeface="Aptos"/>
                <a:ea typeface="Aptos"/>
                <a:cs typeface="Aptos"/>
              </a:defRPr>
            </a:pPr>
            <a:r>
              <a:rPr sz="810" b="1">
                <a:solidFill>
                  <a:srgbClr val="1F314A"/>
                </a:solidFill>
                <a:latin typeface="Aptos"/>
                <a:ea typeface="Aptos"/>
                <a:cs typeface="Aptos"/>
              </a:rPr>
              <a:t>Decode TPS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5451731A-BA3E-441F-ADEC-604628C8D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448050"/>
            <a:ext cx="2362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24396243-EC36-4674-BA8C-66EAAF44A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514725"/>
            <a:ext cx="2286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10" b="1">
                <a:solidFill>
                  <a:srgbClr val="1F314A"/>
                </a:solidFill>
                <a:latin typeface="Aptos"/>
                <a:ea typeface="Aptos"/>
                <a:cs typeface="Aptos"/>
              </a:defRPr>
            </a:pPr>
            <a:r>
              <a:rPr sz="810" b="1">
                <a:solidFill>
                  <a:srgbClr val="1F314A"/>
                </a:solidFill>
                <a:latin typeface="Aptos"/>
                <a:ea typeface="Aptos"/>
                <a:cs typeface="Aptos"/>
              </a:rPr>
              <a:t>端侧表现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C6DC8B15-A376-4A54-AB16-01CA5B8F1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448050"/>
            <a:ext cx="2438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4F323D2C-2179-41C8-BF5C-B055A75A6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514725"/>
            <a:ext cx="23622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10" b="1">
                <a:solidFill>
                  <a:srgbClr val="1F314A"/>
                </a:solidFill>
                <a:latin typeface="Aptos"/>
                <a:ea typeface="Aptos"/>
                <a:cs typeface="Aptos"/>
              </a:defRPr>
            </a:pPr>
            <a:r>
              <a:rPr sz="810" b="1">
                <a:solidFill>
                  <a:srgbClr val="1F314A"/>
                </a:solidFill>
                <a:latin typeface="Aptos"/>
                <a:ea typeface="Aptos"/>
                <a:cs typeface="Aptos"/>
              </a:rPr>
              <a:t>用户感知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F17EB4B0-623E-41C3-A2A3-1B387B0A8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448050"/>
            <a:ext cx="24574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AC76DB29-63D4-454C-B732-F2F86AAC4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514725"/>
            <a:ext cx="23812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10" b="1">
                <a:solidFill>
                  <a:srgbClr val="1F314A"/>
                </a:solidFill>
                <a:latin typeface="Aptos"/>
                <a:ea typeface="Aptos"/>
                <a:cs typeface="Aptos"/>
              </a:defRPr>
            </a:pPr>
            <a:r>
              <a:rPr sz="810" b="1">
                <a:solidFill>
                  <a:srgbClr val="1F314A"/>
                </a:solidFill>
                <a:latin typeface="Aptos"/>
                <a:ea typeface="Aptos"/>
                <a:cs typeface="Aptos"/>
              </a:rPr>
              <a:t>结论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9C8A9323-0A2F-4DBD-8612-BE3471F2E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714750"/>
            <a:ext cx="1257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A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A84CEF90-CAA5-4ACA-924C-B1D8CD6E9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3733800"/>
            <a:ext cx="11811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660" b="1">
                <a:solidFill>
                  <a:srgbClr val="27384E"/>
                </a:solidFill>
                <a:latin typeface="Aptos"/>
                <a:ea typeface="Aptos"/>
                <a:cs typeface="Aptos"/>
              </a:rPr>
              <a:t>512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A194AA58-B150-4817-84A3-EE094A9DB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714750"/>
            <a:ext cx="1371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A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E4CBBB29-BA26-4151-9D05-5EAB4FA05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733800"/>
            <a:ext cx="12954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12803C"/>
                </a:solidFill>
                <a:latin typeface="Aptos"/>
                <a:ea typeface="Aptos"/>
                <a:cs typeface="Aptos"/>
              </a:defRPr>
            </a:pPr>
            <a:r>
              <a:rPr sz="660" b="0">
                <a:solidFill>
                  <a:srgbClr val="12803C"/>
                </a:solidFill>
                <a:latin typeface="Aptos"/>
                <a:ea typeface="Aptos"/>
                <a:cs typeface="Aptos"/>
              </a:rPr>
              <a:t>58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C7513EAE-AB64-4A7E-9793-E155DB00C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714750"/>
            <a:ext cx="1371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A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C01B2FB8-E966-4DD9-AE54-F4A10F218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733800"/>
            <a:ext cx="12954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12803C"/>
                </a:solidFill>
                <a:latin typeface="Aptos"/>
                <a:ea typeface="Aptos"/>
                <a:cs typeface="Aptos"/>
              </a:defRPr>
            </a:pPr>
            <a:r>
              <a:rPr sz="660" b="0">
                <a:solidFill>
                  <a:srgbClr val="12803C"/>
                </a:solidFill>
                <a:latin typeface="Aptos"/>
                <a:ea typeface="Aptos"/>
                <a:cs typeface="Aptos"/>
              </a:rPr>
              <a:t>8.15</a:t>
            </a: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4069484E-548C-4D2A-BE36-72C6F1118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714750"/>
            <a:ext cx="23622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A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8AD44A15-B17F-42FF-9F8C-ACB23E62C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733800"/>
            <a:ext cx="2286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660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短上下文也未达到产品可接受甜点区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4B81B4C4-1294-4AD0-B441-A8B7DE975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714750"/>
            <a:ext cx="2438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A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D464E42F-224A-4695-8BFB-965574A58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733800"/>
            <a:ext cx="23622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660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首响和回复都偏慢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76B07ECA-3B2A-4BF9-A868-1B16FF0C9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714750"/>
            <a:ext cx="2457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A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516EFCAB-5FC1-4015-8573-19ED97532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733800"/>
            <a:ext cx="2381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C93A2B"/>
                </a:solidFill>
                <a:latin typeface="Aptos"/>
                <a:ea typeface="Aptos"/>
                <a:cs typeface="Aptos"/>
              </a:defRPr>
            </a:pPr>
            <a:r>
              <a:rPr sz="660" b="0">
                <a:solidFill>
                  <a:srgbClr val="C93A2B"/>
                </a:solidFill>
                <a:latin typeface="Aptos"/>
                <a:ea typeface="Aptos"/>
                <a:cs typeface="Aptos"/>
              </a:rPr>
              <a:t>说明当前版本已能跑通，但短上下文体验仍不够强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734CD8CF-55DC-483B-91FF-E5BBB5956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67150"/>
            <a:ext cx="1257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B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F7E692F9-7F7E-4212-BB04-7CCF9488E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3886200"/>
            <a:ext cx="11811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660" b="1">
                <a:solidFill>
                  <a:srgbClr val="27384E"/>
                </a:solidFill>
                <a:latin typeface="Aptos"/>
                <a:ea typeface="Aptos"/>
                <a:cs typeface="Aptos"/>
              </a:rPr>
              <a:t>64K</a:t>
            </a: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A493B242-8C1C-4721-908A-C051E8A63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867150"/>
            <a:ext cx="1371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B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26EE33E0-EA90-4A2F-8DDC-C0574E942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886200"/>
            <a:ext cx="12954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12803C"/>
                </a:solidFill>
                <a:latin typeface="Aptos"/>
                <a:ea typeface="Aptos"/>
                <a:cs typeface="Aptos"/>
              </a:defRPr>
            </a:pPr>
            <a:r>
              <a:rPr sz="660" b="0">
                <a:solidFill>
                  <a:srgbClr val="12803C"/>
                </a:solidFill>
                <a:latin typeface="Aptos"/>
                <a:ea typeface="Aptos"/>
                <a:cs typeface="Aptos"/>
              </a:rPr>
              <a:t>125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0F1C21BF-FF8D-496E-BA1C-2C5DCAE2A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67150"/>
            <a:ext cx="1371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B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0C6FD718-D771-4C0A-A32D-B82C9A21E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886200"/>
            <a:ext cx="12954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12803C"/>
                </a:solidFill>
                <a:latin typeface="Aptos"/>
                <a:ea typeface="Aptos"/>
                <a:cs typeface="Aptos"/>
              </a:defRPr>
            </a:pPr>
            <a:r>
              <a:rPr sz="660" b="0">
                <a:solidFill>
                  <a:srgbClr val="12803C"/>
                </a:solidFill>
                <a:latin typeface="Aptos"/>
                <a:ea typeface="Aptos"/>
                <a:cs typeface="Aptos"/>
              </a:rPr>
              <a:t>5.3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7563D64A-FA82-43E6-BDB7-219BAEF70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867150"/>
            <a:ext cx="23622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B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BA9F28FD-ACAD-4B7F-876B-3AC891CE6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886200"/>
            <a:ext cx="2286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660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prefill 提升，但 decode 明显被长上下文拖慢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6087C76A-721D-4613-9213-BDB506A52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867150"/>
            <a:ext cx="2438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B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63477450-5FBD-4B53-A157-36E2B1DF8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886200"/>
            <a:ext cx="23622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660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长文档回复等待感强</a:t>
            </a:r>
          </a:p>
        </p:txBody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CC1DA6B6-678D-4AF6-8A86-22D78404B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867150"/>
            <a:ext cx="2457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B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88594BB3-40A5-4D51-8150-AC0CD41F3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886200"/>
            <a:ext cx="2381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C93A2B"/>
                </a:solidFill>
                <a:latin typeface="Aptos"/>
                <a:ea typeface="Aptos"/>
                <a:cs typeface="Aptos"/>
              </a:defRPr>
            </a:pPr>
            <a:r>
              <a:rPr sz="660" b="0">
                <a:solidFill>
                  <a:srgbClr val="C93A2B"/>
                </a:solidFill>
                <a:latin typeface="Aptos"/>
                <a:ea typeface="Aptos"/>
                <a:cs typeface="Aptos"/>
              </a:rPr>
              <a:t>长上下文场景下，用户体验已明显落后于云端预期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61BD0DE4-8203-4FD2-BE2E-5C740D65B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19550"/>
            <a:ext cx="1257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A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947DBAA8-8D5C-47F6-BC36-DAEEC8666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038600"/>
            <a:ext cx="11811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660" b="1">
                <a:solidFill>
                  <a:srgbClr val="27384E"/>
                </a:solidFill>
                <a:latin typeface="Aptos"/>
                <a:ea typeface="Aptos"/>
                <a:cs typeface="Aptos"/>
              </a:rPr>
              <a:t>128K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2835C1C0-8593-4EBF-9046-4DDF5835D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019550"/>
            <a:ext cx="1371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A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96E64673-759A-48BC-94DA-9BB365636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038600"/>
            <a:ext cx="12954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12803C"/>
                </a:solidFill>
                <a:latin typeface="Aptos"/>
                <a:ea typeface="Aptos"/>
                <a:cs typeface="Aptos"/>
              </a:defRPr>
            </a:pPr>
            <a:r>
              <a:rPr sz="660" b="0">
                <a:solidFill>
                  <a:srgbClr val="12803C"/>
                </a:solidFill>
                <a:latin typeface="Aptos"/>
                <a:ea typeface="Aptos"/>
                <a:cs typeface="Aptos"/>
              </a:rPr>
              <a:t>130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25FDB35F-B072-4AB9-AF79-1151996A5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019550"/>
            <a:ext cx="1371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A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C4880D15-7C4C-4117-B152-1C344BA5D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4038600"/>
            <a:ext cx="12954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12803C"/>
                </a:solidFill>
                <a:latin typeface="Aptos"/>
                <a:ea typeface="Aptos"/>
                <a:cs typeface="Aptos"/>
              </a:defRPr>
            </a:pPr>
            <a:r>
              <a:rPr sz="660" b="0">
                <a:solidFill>
                  <a:srgbClr val="12803C"/>
                </a:solidFill>
                <a:latin typeface="Aptos"/>
                <a:ea typeface="Aptos"/>
                <a:cs typeface="Aptos"/>
              </a:rPr>
              <a:t>4.2</a:t>
            </a:r>
          </a:p>
        </p:txBody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4DE5D9AE-1155-44D8-A7D9-7DD3C4531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019550"/>
            <a:ext cx="23622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A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BE287D04-ED1D-4F3D-9C5D-867B7FDF0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038600"/>
            <a:ext cx="2286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660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prefill 基本见顶，decode 进一步下探</a:t>
            </a:r>
          </a:p>
        </p:txBody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564235F5-582B-4B50-B712-97B047CF2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019550"/>
            <a:ext cx="2438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A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2F952426-96C6-4C15-9EA9-1634BCA96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038600"/>
            <a:ext cx="23622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660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复杂任务和长文档体感更差</a:t>
            </a: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EE921E87-DC24-46FA-AD3D-98E065075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4019550"/>
            <a:ext cx="2457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A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C807D2B2-AC21-481F-A177-2BB348DD7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038600"/>
            <a:ext cx="2381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C93A2B"/>
                </a:solidFill>
                <a:latin typeface="Aptos"/>
                <a:ea typeface="Aptos"/>
                <a:cs typeface="Aptos"/>
              </a:defRPr>
            </a:pPr>
            <a:r>
              <a:rPr sz="660" b="0">
                <a:solidFill>
                  <a:srgbClr val="C93A2B"/>
                </a:solidFill>
                <a:latin typeface="Aptos"/>
                <a:ea typeface="Aptos"/>
                <a:cs typeface="Aptos"/>
              </a:rPr>
              <a:t>真正缺的是模型能力与 tail latency，不只是后端实现</a:t>
            </a:r>
          </a:p>
        </p:txBody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9FBD66C7-405B-467C-9002-5994E1A4D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4667250"/>
            <a:ext cx="37338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D2DDF0"/>
            </a:solidFill>
            <a:prstDash val="solid"/>
          </a:ln>
        </p:spPr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05063E43-4409-4582-A575-0CEBE1018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4343400"/>
            <a:ext cx="37338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5FBF"/>
          </a:solidFill>
          <a:ln xmlns:a="http://schemas.openxmlformats.org/drawingml/2006/main" w="10478">
            <a:solidFill>
              <a:srgbClr val="1E5FBF"/>
            </a:solidFill>
            <a:prstDash val="solid"/>
          </a:ln>
        </p:spPr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8106D0C1-582D-4754-8738-74A73A1C0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410075"/>
            <a:ext cx="3467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离用户体验还差什么</a:t>
            </a: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EA5E516B-2BE3-4D1F-8DA6-8F82D40BB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4667250"/>
            <a:ext cx="37338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D2DDF0"/>
            </a:solidFill>
            <a:prstDash val="solid"/>
          </a:ln>
        </p:spPr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0CAF46C7-CD63-4C6F-8758-33E750C26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4343400"/>
            <a:ext cx="37338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5FBF"/>
          </a:solidFill>
          <a:ln xmlns:a="http://schemas.openxmlformats.org/drawingml/2006/main" w="10478">
            <a:solidFill>
              <a:srgbClr val="1E5FBF"/>
            </a:solidFill>
            <a:prstDash val="solid"/>
          </a:ln>
        </p:spPr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FD94166D-76EC-474A-8391-02DE2CF22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410075"/>
            <a:ext cx="3467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为什么必须补齐云端模型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AE23715C-BD71-4398-B0F6-5289115BD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667250"/>
            <a:ext cx="37338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D2DDF0"/>
            </a:solidFill>
            <a:prstDash val="solid"/>
          </a:ln>
        </p:spPr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A40DA984-9320-4621-B1ED-851ECB060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343400"/>
            <a:ext cx="37338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79D2"/>
          </a:solidFill>
          <a:ln xmlns:a="http://schemas.openxmlformats.org/drawingml/2006/main" w="10478">
            <a:solidFill>
              <a:srgbClr val="4F79D2"/>
            </a:solidFill>
            <a:prstDash val="solid"/>
          </a:ln>
        </p:spPr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8F90E4A8-255A-4B9B-BB3B-6ECC881C9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410075"/>
            <a:ext cx="3467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推荐的产品形态</a:t>
            </a:r>
          </a:p>
        </p:txBody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46ACA033-BD3F-4FE7-8C68-ADD4A02CC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800600"/>
            <a:ext cx="152400" cy="174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73" b="1">
                <a:solidFill>
                  <a:srgbClr val="1E5FBF"/>
                </a:solidFill>
                <a:latin typeface="Aptos"/>
                <a:ea typeface="Aptos"/>
                <a:cs typeface="Aptos"/>
              </a:defRPr>
            </a:pPr>
            <a:r>
              <a:rPr sz="1073" b="1">
                <a:solidFill>
                  <a:srgbClr val="1E5FBF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203D23BA-1260-48EF-91D4-834FC4389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00600"/>
            <a:ext cx="3314700" cy="1933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923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复杂 reasoning 依赖更强模型能力，而不是仅仅更好的 cache policy。</a:t>
            </a: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4BD0CAF5-838A-4CB9-95F0-C065AB29F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048250"/>
            <a:ext cx="152400" cy="174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73" b="1">
                <a:solidFill>
                  <a:srgbClr val="1E5FBF"/>
                </a:solidFill>
                <a:latin typeface="Aptos"/>
                <a:ea typeface="Aptos"/>
                <a:cs typeface="Aptos"/>
              </a:defRPr>
            </a:pPr>
            <a:r>
              <a:rPr sz="1073" b="1">
                <a:solidFill>
                  <a:srgbClr val="1E5FBF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3AC1D83D-0FE8-40E7-8925-AFEC5ACA1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0"/>
            <a:ext cx="3314700" cy="1933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923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长上下文、多工具、多文档任务下，tail latency 与完成质量仍落后于用户预期。</a:t>
            </a: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B51923AA-4077-48E9-901A-357C8590F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800600"/>
            <a:ext cx="152400" cy="174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73" b="1">
                <a:solidFill>
                  <a:srgbClr val="1E5FBF"/>
                </a:solidFill>
                <a:latin typeface="Aptos"/>
                <a:ea typeface="Aptos"/>
                <a:cs typeface="Aptos"/>
              </a:defRPr>
            </a:pPr>
            <a:r>
              <a:rPr sz="1073" b="1">
                <a:solidFill>
                  <a:srgbClr val="1E5FBF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A6A8A3A2-95F5-4E0D-BBB4-4CF630D5E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800600"/>
            <a:ext cx="3314700" cy="1933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923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端侧负责低延迟、隐私和会话连续性。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0530964A-FDC6-4434-A9A7-F69D9D2DB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5048250"/>
            <a:ext cx="152400" cy="174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73" b="1">
                <a:solidFill>
                  <a:srgbClr val="1E5FBF"/>
                </a:solidFill>
                <a:latin typeface="Aptos"/>
                <a:ea typeface="Aptos"/>
                <a:cs typeface="Aptos"/>
              </a:defRPr>
            </a:pPr>
            <a:r>
              <a:rPr sz="1073" b="1">
                <a:solidFill>
                  <a:srgbClr val="1E5FBF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7A00EF7E-F0B4-466E-BB12-98FA3D2D8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5048250"/>
            <a:ext cx="3314700" cy="1933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923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云端负责高质量 reasoning、长上下文和复杂工具链。</a:t>
            </a:r>
          </a:p>
        </p:txBody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2F1C4DC1-C875-49F3-9E46-4A8A0A54D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800600"/>
            <a:ext cx="3429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90" b="1">
                <a:solidFill>
                  <a:srgbClr val="1F314A"/>
                </a:solidFill>
                <a:latin typeface="Aptos"/>
                <a:ea typeface="Aptos"/>
                <a:cs typeface="Aptos"/>
              </a:defRPr>
            </a:pPr>
            <a:r>
              <a:rPr sz="990" b="1">
                <a:solidFill>
                  <a:srgbClr val="1F314A"/>
                </a:solidFill>
                <a:latin typeface="Aptos"/>
                <a:ea typeface="Aptos"/>
                <a:cs typeface="Aptos"/>
              </a:rPr>
              <a:t>最合理的形态不是“端侧替代云端”，而是 device-first + cloud-assisted：本地给首响与连续性，云端补能力上限。</a:t>
            </a:r>
          </a:p>
        </p:txBody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51E470F0-4324-47B2-AA12-2C3442367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5543550"/>
            <a:ext cx="116586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D2DDF0"/>
            </a:solidFill>
            <a:prstDash val="solid"/>
          </a:ln>
        </p:spPr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29FEA1C0-FE25-4777-9669-5DD416819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676900"/>
            <a:ext cx="11315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F31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F314A"/>
                </a:solidFill>
                <a:latin typeface="Aptos"/>
                <a:ea typeface="Aptos"/>
                <a:cs typeface="Aptos"/>
              </a:rPr>
              <a:t>核心结论：我们已经把 GB10 端侧后端优化到“能跑、能测、能迭代”的阶段，但当前实测仅约为：512 ctx prefill/decode = 58 / 8.15 tok/s，64K ctx = 125 / 5.3 tok/s，128K ctx = 130 / 4.2 tok/s。真正限制用户体验的，已经不只是后端实现，而是模型能力、长上下文质量和复杂任务 tail latency。因此下一步必须用云端模型补齐体验上限。</a:t>
            </a: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1FA57F86-7292-4448-9F29-81D2EE581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381750"/>
            <a:ext cx="11658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11430">
            <a:solidFill>
              <a:srgbClr val="1E5FBF"/>
            </a:solidFill>
            <a:prstDash val="dash"/>
          </a:ln>
        </p:spPr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073BA5E7-ADB0-4863-B238-E9D0305E2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48425"/>
            <a:ext cx="11353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40" b="1">
                <a:solidFill>
                  <a:srgbClr val="1F314A"/>
                </a:solidFill>
                <a:latin typeface="Aptos"/>
                <a:ea typeface="Aptos"/>
                <a:cs typeface="Aptos"/>
              </a:defRPr>
            </a:pPr>
            <a:r>
              <a:rPr sz="1140" b="1">
                <a:solidFill>
                  <a:srgbClr val="1F314A"/>
                </a:solidFill>
                <a:latin typeface="Aptos"/>
                <a:ea typeface="Aptos"/>
                <a:cs typeface="Aptos"/>
              </a:rPr>
              <a:t>Takeaway：GB10 端侧优化解决的是“本地可运行性”，云端模型补齐的是“高质量体验上限”；后续重点应转向端云协同，而不是继续单点堆本地后端优化。</a:t>
            </a:r>
          </a:p>
        </p:txBody>
      </p:sp>
    </p:spTree>
    <p:extLst>
      <p:ext uri="{BB962C8B-B14F-4D97-AF65-F5344CB8AC3E}">
        <p14:creationId xmlns:p14="http://schemas.microsoft.com/office/powerpoint/2010/main" val="197530497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2026-07-28T12:26:22.8050000Z</dcterms:created>
  <dcterms:modified xsi:type="dcterms:W3CDTF">2026-07-28T12:26:22.8050000Z</dcterms:modified>
</coreProperties>
</file>