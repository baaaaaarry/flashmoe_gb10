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0f377fdc33432c" /><Relationship Type="http://schemas.openxmlformats.org/officeDocument/2006/relationships/extended-properties" Target="/docProps/app.xml" Id="R46ecab767a0a46f9" /><Relationship Type="http://schemas.openxmlformats.org/officeDocument/2006/relationships/officeDocument" Target="/ppt/presentation.xml" Id="Rffefbe2423b947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1ff989346f454f"/>
  </p:sldMasterIdLst>
  <p:notesMasterIdLst>
    <p:notesMasterId xmlns:r="http://schemas.openxmlformats.org/officeDocument/2006/relationships" r:id="R8a0ab061a81742f5"/>
  </p:notesMasterIdLst>
  <p:sldIdLst>
    <p:sldId xmlns:r="http://schemas.openxmlformats.org/officeDocument/2006/relationships" id="256" r:id="Rd3679490a5a94ea8"/>
    <p:sldId xmlns:r="http://schemas.openxmlformats.org/officeDocument/2006/relationships" id="257" r:id="R90d50680b16440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393cc92eb047c3" /><Relationship Type="http://schemas.openxmlformats.org/officeDocument/2006/relationships/slideMaster" Target="/ppt/slideMasters/slideMaster1.xml" Id="R381ff989346f454f" /><Relationship Type="http://schemas.openxmlformats.org/officeDocument/2006/relationships/notesMaster" Target="/ppt/notesMasters/notesMaster1.xml" Id="R8a0ab061a81742f5" /><Relationship Type="http://schemas.openxmlformats.org/officeDocument/2006/relationships/presProps" Target="/ppt/presProps.xml" Id="Rf78eedc7a7f44b0f" /><Relationship Type="http://schemas.openxmlformats.org/officeDocument/2006/relationships/tableStyles" Target="/ppt/tableStyles.xml" Id="R49b2431b31ff44c7" /><Relationship Type="http://schemas.openxmlformats.org/officeDocument/2006/relationships/slide" Target="/ppt/slides/slide1.xml" Id="Rd3679490a5a94ea8" /><Relationship Type="http://schemas.openxmlformats.org/officeDocument/2006/relationships/slide" Target="/ppt/slides/slide2.xml" Id="R90d50680b16440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ef722fc8d245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83da8f87004c1a" /><Relationship Type="http://schemas.openxmlformats.org/officeDocument/2006/relationships/notesMaster" Target="/ppt/notesMasters/notesMaster1.xml" Id="R71c349a28a5743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fd9a9040394376" /><Relationship Type="http://schemas.openxmlformats.org/officeDocument/2006/relationships/notesMaster" Target="/ppt/notesMasters/notesMaster1.xml" Id="R57b6fdd0b17940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72399febe24f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74ab1642704b00" /><Relationship Type="http://schemas.openxmlformats.org/officeDocument/2006/relationships/slideLayout" Target="/ppt/slideLayouts/slideLayout1.xml" Id="Rd8f4527caaf641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f4527caaf641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71ae6df524a2c" /><Relationship Type="http://schemas.openxmlformats.org/officeDocument/2006/relationships/notesSlide" Target="/ppt/notesSlides/notesSlide1.xml" Id="R1cafef1075dd46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8fecce7f344a4" /><Relationship Type="http://schemas.openxmlformats.org/officeDocument/2006/relationships/notesSlide" Target="/ppt/notesSlides/notesSlide2.xml" Id="Rda611336a0b7440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3AB48A9-D00D-4BA5-9040-E86B7362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从 Metal 到 CUDA：为什么必须重做 DS4 端侧运行时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4A6A2-3A01-4181-8B64-D41252DD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41FB1-D793-4B83-BC24-E37D0679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90600"/>
            <a:ext cx="6858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AB4395-AE5E-429D-B024-418DC5CB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67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890DC-1108-4F1D-A435-439FB807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33425"/>
            <a:ext cx="659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迁移必要性：Metal 路线无法直接复用于 GB10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40A8F-AB24-4ECB-80CD-688FBBA1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9906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EC4CA-5D72-4D14-A4E6-3112D6F7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666750"/>
            <a:ext cx="4838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6DD57-B826-4698-A7D4-9167E2FA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733425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我们为什么选择 CUDA 原生重构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89C4F-A40B-4E92-8B93-CBD0E1BB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C333B-B32A-49C8-A56D-AF70FF3D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4D3BD-9F47-462E-944D-4452DE6D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192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平台绑定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69F3D1-75A6-4605-86AB-971FC286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906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DS4 原始路线围绕 Apple unified memory + Metal kernel 组织，底层算子和数据流天然贴合苹果执行栈。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A612C-692A-471D-8B46-1BB2ACDD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C8A17-460C-4B60-B865-E9822520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2400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B1D634-05CA-4C19-B9AC-E5DCE295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192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闭源限制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69F5AC-1C8D-491F-AB44-BA0B90E5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9067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Metal / MPS / Apple 系统栈的大量关键行为是黑盒，很多性能行为可观察但不可改写，无法作为 GB10 的工程基座。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2A123A-FC9B-4A8F-89EB-F97CA7BA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808BD-581A-4C6D-914D-5CAEF586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240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D6B457-3A8F-4C99-AE18-A07BB626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193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框架限制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A922A-14CC-4257-94AC-20EA3A72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907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原实现部分生命周期深度绑定上层框架与参数树；底层 runtime、page-cache 路径、内存策略不能按 GB10 目标任意修改。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E35B39-4005-4E74-9461-DD2DCE1E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C5CF5-6093-44D1-84E8-936F49C9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2410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5BE41-F732-46B7-9A41-4D7BC6BD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1935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硬件差异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48F0AA-7EF5-441D-BC60-D04554DA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9077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GB10 面对的是 UMA + CUDA + SSD expert store，需要显式处理 SSD→DDR→GPU copy/compute overlap，Metal 方案没有现成答案。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B6FCF4-63A6-41DB-B760-B8C84AE4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802DBE-E14D-4A7A-A8FC-17B56169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5562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B94FFA-CDC3-44A4-B887-E028DC62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819400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0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0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产品要求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FD54A1-A6D7-48F9-BA07-D08156B6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90825"/>
            <a:ext cx="537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78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878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我们需要可控的 profile、cache policy、服务化接口和后续在线部署能力，这要求运行时必须完全可改、可测、可演进。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BCD2F9-15AC-4660-95AA-66072F36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12395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D51F7-B2E0-42A0-B24C-B244D68B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2395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不能只做“Metal kernel → CUDA kernel”的语法级替换；真正要迁移的是 streamed-MoE 的控制面思想。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E3F2F2-BA0F-47B5-8C71-A94C39F0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3830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600EC3-72C3-4C25-83CF-1B4D9E05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3830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必须把冷数据读取、expert cache、decode scheduler、service interface 全部从苹果黑盒依赖中解耦出来。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583D44-1EB4-44D1-AE34-D888FFB7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52650"/>
            <a:ext cx="152400" cy="185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BB0B0A-0079-4101-B336-E0CFC5AE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52650"/>
            <a:ext cx="4381500" cy="2047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只有这样，后续才能继续做带宽建模、命中率分析、Nsight/profile、在线服务化与多模型扩展。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96319C-4AA8-4551-834F-CC0015C4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4572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5E09D1-D546-49E5-9CA9-415F2554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384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结论：迁移不是为了“换个后端”，而是为了拿回底层可控性，建立能面向 GB10 长期演进的运行时底座。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AEE090-9E08-4850-A002-DB088DFA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733800"/>
            <a:ext cx="116586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EC6AC7-A2EC-402F-A767-773527DC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73380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06E955-A1AC-479A-B425-D0637C0B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0475"/>
            <a:ext cx="1123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迁移映射：从 Apple/Metal 约束，转换到 GB10/CUDA 可控运行时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35B035-DCDC-46CD-8D00-D872363F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05765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75515E-6D86-42ED-B5DA-E8D981DB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124325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维度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D584A8-CE01-4AB0-B418-72EFD5FB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576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FE252B-7BD6-48D1-8791-5BCE88AF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24325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Apple / Metal 原始状态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139513-6A37-4125-9475-1A35781D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576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97351C-A360-406F-B0C5-E03DC6C0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24325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为什么不够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464D1E-3841-411F-9255-6865A22E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57650"/>
            <a:ext cx="2400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EE341B-D781-4398-9903-5B6A8393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2324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GB10 / CUDA 改造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8753FF-454D-4F79-879E-6A1EDA4C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57650"/>
            <a:ext cx="2628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529A31-709C-4D0F-A7F2-F535FE1D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24325"/>
            <a:ext cx="2552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F5D0A2-88C2-4D86-B6BF-8E29E7EC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434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D819F8-3DD7-4F43-86BD-0683838E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36245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执行栈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20AC94-A77D-4E73-B3F5-7E556C97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343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1CEF72-3F3A-488D-8359-7A35FEEA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3624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Metal / MPS / Apple runtime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FCBD76-DE9A-4FC9-819D-DC6698D3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B965F25-41DB-42B7-A908-950E265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3624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底层黑盒，无法按 GB10 目标重排数据流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ECCB77-C757-4CCA-BACF-1844C2CD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434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1F25677-C0DD-4605-93B8-42D6F383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36245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CUDA / Tensor Core kernel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A22562-E8CD-4583-8680-D2D77E26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4340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FF7B78-4F8F-4D30-A993-5B60F178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36245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获得 kernel、copy、调度全链路可控性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18DE80-88E4-4251-A753-92B922CF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51485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81134EA-C0DF-4CF9-9D18-8A555DD9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53390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参数组织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BAFA8F-1580-4CEA-B05A-D4236C25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14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83C758-9ED5-4FD9-AED1-229F71F9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339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框架参数树强耦合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EEF9B5C-929A-4922-A259-594E4D49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14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026D241-9032-4703-ABD1-DEF3308F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5339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无法显式拆开 dense resident 与 expert store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2FBEC47-023C-4C4F-867F-6A515526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148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05070B1-2C7C-49AF-86B6-465FD661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53390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resident + manifest expert store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792520E-70CA-4048-B6AF-04E1ED65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148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DD2109D-D7D7-4D47-83DF-98C15C24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53390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支持热冷分层与可测 miss 成本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4AE9FE5-B341-4AA1-AF81-C2099818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863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BFE2B9-6298-437E-9FBE-1ECF9FC7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70535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冷数据读取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D229A12-EDD4-4C4D-975F-12517200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86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655DB11-9A5A-45FA-89B5-1E0CF064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7053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page-cache 风格读取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B268649-74A2-41F6-85FA-CBD6978C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86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DAA054E-02E5-4C41-A17F-29D7ABFA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0535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难以准确控制 load path 和预取策略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CE11D7B-2E99-45D9-90A1-9FE79DA9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7B31619-A91F-4E67-9749-A0244446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70535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chunked pread + explicit cache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754BC11-D971-4761-91C8-450612C8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68630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0302180-367A-4DD8-9CF7-00C8AAA6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可做带宽建模和命中率优化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722312F-1839-48B1-B417-765349B5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85775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F2986D4-D8E2-4278-BAF2-2B076614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876800"/>
            <a:ext cx="15811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运行时接口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A6A0FB4-899A-42BD-9DF9-C3933E09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57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5EBE94A-3138-4B76-84D4-590C84AD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8768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更偏实验性实现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6897798-BB9B-41C3-8A1D-438F93A3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57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ECA5293-423C-4FDB-A40E-3FEA2B82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876800"/>
            <a:ext cx="2381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难服务化、难长期维护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DB536CE-14D7-4AF1-B24D-6A6A085B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577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0D26C04-34EB-4A30-844E-2D50CFCD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876800"/>
            <a:ext cx="23050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engine / session / service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8825126-1BCC-43CD-B263-CA0ED5A5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577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B3DA907-2761-42DF-A519-D2B621A7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876800"/>
            <a:ext cx="25336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形成可部署、可扩展的产品底座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19541CD-6FA2-4832-B803-1D411ED9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BC111F7-DD48-4894-B41D-CA3B7341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02A59F8-9A0E-4A88-88AF-35938C4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闭源与框架约束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3513157-AF39-49AD-85FE-04307E9B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F8A2EAD-A1FE-4347-9735-A7503A71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FA44B23-AB29-4E96-B993-D84620DC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我们已经完成的重构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C81B94B-A5F3-46E7-8CA7-81547EBE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00700"/>
            <a:ext cx="3733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80F3FFC-F21A-4716-855D-ABC4302C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76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F55E646-895E-4020-B1B3-6E31E305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4352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本页结论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CF6534E-AA4E-419B-A168-85E8388F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89CB9B7-216B-4D5E-AED1-64DDF6BA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原始 Metal 路线很多关键能力可观察但不可改。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A391D8E-C6C7-4579-AB3B-B9857D19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BA524D3-DA02-45EE-AECF-61E3AEFE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底层框架和系统栈不是我们可长期依赖的可控资产。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B5D816D-43D9-4053-B304-AD1C6FDC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340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D69E6D3-26B8-43C1-BB35-4738C6B9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7340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保留 streamed-MoE 控制面思想。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387C865-7DAC-461F-94F7-86721E0A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817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0DF386C-EECC-4743-9A07-1093A356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9817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重写 dense resident / expert store / hot cache / scheduler。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C9AB3CF-81BB-4F14-8D2E-8BFF2428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75310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00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我们迁移的不是 Metal 本身，而是 DS4 的思路；我们重做的是底层 runtime，以便在 GB10 上真正可控、可调、可产品化。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E00F6F4-E287-401B-BB9C-7E6641D7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496050"/>
            <a:ext cx="1165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1F0696A-DFF9-4B43-B585-08EA8160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11353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Takeaway：从 Metal 转向 CUDA 的根本原因，是 Apple 路线闭源、黑盒、难改，无法支撑 GB10 所需的底层可控性与后续产品化演进。</a:t>
            </a:r>
          </a:p>
        </p:txBody>
      </p:sp>
    </p:spTree>
    <p:extLst>
      <p:ext uri="{BB962C8B-B14F-4D97-AF65-F5344CB8AC3E}">
        <p14:creationId xmlns:p14="http://schemas.microsoft.com/office/powerpoint/2010/main" val="10819310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6126E35-49EE-4865-ADC4-16CFB6E8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3350"/>
            <a:ext cx="942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5FBF"/>
                </a:solidFill>
                <a:latin typeface="Aptos Display"/>
                <a:ea typeface="Aptos Display"/>
                <a:cs typeface="Aptos Display"/>
              </a:rPr>
              <a:t>GB10 端侧优化与体验差距：为什么还需要云端模型补齐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616A5-ABC8-49BC-82E9-7B32F5A9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3875"/>
            <a:ext cx="1165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9525">
            <a:solidFill>
              <a:srgbClr val="1E5F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31892-9FA7-4B8B-B32D-541F4A1F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009650"/>
            <a:ext cx="6953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3C7DF-16A8-440B-AD5C-3BCD2BE7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8580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542CA-64CC-409C-ABBB-A0DF6FA6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2475"/>
            <a:ext cx="668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我们在 GB10 端侧已经完成的关键优化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F4F8C-E006-492A-99B2-F4FC7CA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009650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3066E4-6433-4C48-84A6-B40F414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6858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9C6600-93CE-40C8-8EF8-A0591CF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752475"/>
            <a:ext cx="421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实测性能与用户体验差距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631FA6-C321-44CE-A3B4-D3BBA5F1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09F06-C80E-4582-88DC-D3A92575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09675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优化项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25AC6-5F6E-4486-83C3-85D7C0FB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143000"/>
            <a:ext cx="167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B5E1C-AEB8-4AC8-9ED1-9A8A77E7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209675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改造前问题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B189D-39A8-4061-8C1A-6F4DBB87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43000"/>
            <a:ext cx="1752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09206-20F0-4503-AC23-69CE0460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209675"/>
            <a:ext cx="1676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当前实现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DE224D-49D6-48FB-BBA6-D9D4E75A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143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9594C-3611-45DE-8B77-EEC3C80F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209675"/>
            <a:ext cx="2019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收益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8801F9-6AB7-46FF-8873-C646770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0EAC58-6E36-43A8-90BA-6DB39F92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4573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Dense Resident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A73114-871C-48AB-B959-E94F57C4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4287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2BC0E9-409A-43C6-ADD5-E1FAE124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45732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所有参数路径混在一起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A398C-44E2-47E4-A1AB-9A47424C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4287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4634BB-4AE1-402F-B9A3-5739405C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57325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dense / router / shared 常驻 UMA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703936-33AD-456B-BA09-208885C3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4287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26CDAF-F7BE-4CAE-8945-13B5EB1B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45732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热路径稳定，减少无关搬运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861B2-E654-4697-9FD3-336D2B78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CB968-6799-4340-B38C-6871896A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66687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Expert Store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A74532-D3CE-4DCB-AD34-6504653D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3830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79ECBD-0E7E-43FA-8474-50B9CEB3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66687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expert 读取不可显式建模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B548C9-651D-41DB-8F6D-9E4805C7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3830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5C2C75-2F53-44A4-B526-62D2C5CF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66875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layer-major SSD bundles + manifest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7E97AD-6E54-4FCB-8F16-60ED8B2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6383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1728D6-E89C-4995-8499-2474750C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6668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可测 cold load / miss 成本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0FBBF1-1881-4832-BA74-782D95CB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B83310-B12E-45E4-94DF-594477E3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8764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Hot Cache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3F729F-0D38-4E4C-891C-43BC35A3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478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D94B7F-4B2A-4BFD-A443-FD401F61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87642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命中/驱逐不可控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E63C8E-912C-43CE-992A-C90D8EE6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478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28A45D-49E1-4944-9363-C7588331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876425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compute-ready slot cache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2745E1-AA8B-46B5-9A73-6DEE9159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8478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5B5566-F67B-4631-A2D5-E30CE66E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87642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能分析命中率与带宽占用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6C0FBA-CA11-47F0-9998-7814A12E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ED383D-2371-4733-8258-E4C86F75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08597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Decode Harness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72FA8C-5AF3-4A38-A203-F839868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05740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1A1B5C-CE47-41BB-8C5A-57377F73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08597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瓶颈不透明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1724E9-726A-45D0-9099-D9A91DCF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5740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CCD3E7-88C8-428E-BE44-EDF3AA7A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85975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route/load/unpack/compute/combine 分段统计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18ABCD-5E69-4541-B10F-9C92619D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574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12603C-0E18-4503-A069-533791A7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0859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可直接定位阶段性瓶颈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8D55D6-A6E1-47CC-8C6C-7BE0CE0C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2BE6CB-329E-421A-8482-8D3288A0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2955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Runtime Split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D72E767-377F-4C25-AE42-B6B43BD2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669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C33D1A-B836-4BC6-8C0C-9EEE3C27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29552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实验代码难服务化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6137C4-F76F-40EB-AAF5-06AFBA7A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682F20-D94A-46AF-9CDF-61824F43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95525"/>
            <a:ext cx="1657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engine / session / service 分层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B12157-7B3B-42EE-AB67-DDDD33DB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669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62B3A1-F316-4096-8613-3AD80907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29552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4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4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能继续做 profile 与产品集成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375ECE-587D-4418-A865-E411A2ED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14300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E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2BB63E-149F-467E-9574-89B3C32F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143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902DC8B-81A6-49C9-8AA1-F8CE0E26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573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2803C"/>
                </a:solidFill>
                <a:latin typeface="Aptos"/>
                <a:ea typeface="Aptos"/>
                <a:cs typeface="Aptos"/>
              </a:rPr>
              <a:t>Prefill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743C256-9942-4D9A-B6E7-35F5DF7E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0015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峰值 ~396 tok/s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3CFD5A-DA92-455F-A225-858A0CE6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335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2K ctx 实测最高约 396.4 tok/s；128K ctx 下降到约 290.6 tok/s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C78E899-5F9F-4C80-BF24-3BEB52CC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5735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B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579D788-FE23-45DB-B4CA-3E4965C9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57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6EEE98F-78AA-485D-876D-2F1F2DC1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E6860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E68600"/>
                </a:solidFill>
                <a:latin typeface="Aptos"/>
                <a:ea typeface="Aptos"/>
                <a:cs typeface="Aptos"/>
              </a:rPr>
              <a:t>Decode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1F42CFD-1FB5-4841-B120-5535B660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10.7–16.1 tok/s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E57115-C8ED-4C0B-865F-99700FDF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478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128 ctx 约 16.1 tok/s；128K ctx 约 10.7 tok/s，仍明显受长上下文影响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8F8A655-CFBB-493F-9147-FA58F74F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066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88720D5-AC71-4D3A-92E0-C86F8FFD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717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E7A87C8-004E-4439-AE37-5B423848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86000"/>
            <a:ext cx="990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C93A2B"/>
                </a:solidFill>
                <a:latin typeface="Aptos"/>
                <a:ea typeface="Aptos"/>
                <a:cs typeface="Aptos"/>
              </a:rPr>
              <a:t>体验差距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436364E-5CE1-4051-BF57-D2986BEF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28850"/>
            <a:ext cx="2952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1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仍低于产品预期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E407808-8976-42AF-AA2B-C60ECB0A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6220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复杂 reasoning、多轮工具、长文档任务下，用户感知瓶颈已从“能不能跑”转向“够不够快、够不够强”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845373C-59EB-4501-9209-C7E62FDE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86050"/>
            <a:ext cx="421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D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9A78693-414C-4F32-809E-A062AE0F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24150"/>
            <a:ext cx="4019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5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5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实测说明：后端侧已经被我们优化到“可运行且可量化”，但仍不足以单独承担完整高质量体验。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74562AD-4A17-4FAD-9241-8ADEAE00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314700"/>
            <a:ext cx="11658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1E1E48-50E2-4318-9150-9CCB515C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9908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C5363E3-002B-4264-AB4E-E866D67A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11391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代表性实测数据：短上下文可用，长上下文与复杂任务仍明显掉体验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8E7A056-9836-45F1-82A5-5D25D974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48050"/>
            <a:ext cx="1257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92E3D25-116C-4401-8CEF-E8C8FF9B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514725"/>
            <a:ext cx="1181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A8EAC7F-8A0D-41C8-9D33-E9059666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371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F26BB77-85DD-43D4-BF1E-FCBB4537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147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Prefill TPS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30C667A-BDC5-431E-A7B8-5BB44D7C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48050"/>
            <a:ext cx="1371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CE0F3F7-C8CF-494E-90ED-28C140C1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14725"/>
            <a:ext cx="1295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Decode TPS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404158F-A3DD-40FA-9BCB-C22B011F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C30EBC9-3454-4517-9609-0A722F1C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14725"/>
            <a:ext cx="2286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端侧表现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4CE69D7-9A2D-4FF1-93BB-EBA30C83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2438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1B432C-751C-4FAB-82B6-F2A1B736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14725"/>
            <a:ext cx="2362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用户感知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E8D6558-ED6A-4A0A-928D-5E907224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48050"/>
            <a:ext cx="2457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6B61E2F-D0FF-459B-97BA-BA10F285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1472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1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81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结论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8FCE2D5-1182-4977-85FD-14888460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641A2AC-01B2-43D5-845C-BADD183C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338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128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C1D431-A6B7-426D-8D0C-E86AFFE6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147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36E72F-28D4-4F61-8534-7B6CE321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338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148.98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2351ECA-C077-4612-9CDB-E1E386B1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147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9FBA8DE-E09B-4827-84CB-B0A7D5EC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338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16.12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0D80600-760F-4507-AF76-A4D7EB96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147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3568A1B-FABB-4DC9-B4BA-DD4E6481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338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首响可接受，但 prefill 还未进入甜点区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E981E63-99A0-444E-BC6A-32087A02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B1EEE9D-5FE1-4DE1-A832-CA15FDDA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33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轻问答可用，回复速度一般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F8E17CE-D800-44FF-AE73-3472EEE1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147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EEB30E5-F601-4383-B1A7-EEE872C2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338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证明本地跑通了，但还不是高质量体验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14560A1-8BB0-4CCD-8B7E-B46BB153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987C2B8-B2C4-40BB-AFBE-35026D48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862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2,048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F896866-E79F-487E-8874-09F09561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671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C4E39BD-C15F-436A-8D70-250619E0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862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396.40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304BEF5-CEAF-471D-9793-F5828BE1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671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CFE8C4E-F16B-4B00-809E-EEB97E2F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862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14.58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19EBFCC-F47F-4E91-84F0-1627BE66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671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4CD73A5-09BB-42F4-A78F-9EC505A3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862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当前 GB10 端侧最优工作点之一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31FD397-7179-4E9F-9B11-CE1CEADF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671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A6074F0-707A-4541-A799-6321F953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86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常见问答可运行，但复杂任务仍偏慢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66CFA17-9351-4423-9FD0-7CD6AE3B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ECDB7CC-742A-4E5A-A54F-D3398798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862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后端优化已基本释放短上下文硬件潜力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7DF3CB4-EAF7-413F-AF4B-D9451ECB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195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DC93D7E-4A2D-4232-BDB4-05843BB2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38600"/>
            <a:ext cx="1181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27384E"/>
                </a:solidFill>
                <a:latin typeface="Aptos"/>
                <a:ea typeface="Aptos"/>
                <a:cs typeface="Aptos"/>
              </a:rPr>
              <a:t>131,072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3ECFF89-7FB0-40F6-A653-B85C9A7F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195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56FB9C4-ED2D-46C2-8218-5288CF9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386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290.63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33F0477-2E9E-4E2E-AC61-06F02ABF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1955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2045382-B0D8-4AFA-98F6-93BA3AB5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38600"/>
            <a:ext cx="1295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12803C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12803C"/>
                </a:solidFill>
                <a:latin typeface="Aptos"/>
                <a:ea typeface="Aptos"/>
                <a:cs typeface="Aptos"/>
              </a:rPr>
              <a:t>10.73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22BB5BF-8907-4FB9-8E4A-9D23DA44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9550"/>
            <a:ext cx="2362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C728DE0-0066-43C0-A02A-346E6750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3860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长上下文下 prefill / decode 同时退化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1BECA00-EF9B-4E9B-9981-E6FC9F27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3DEA277-3448-4D1D-991F-85B926D2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38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长文档与复杂任务等待感明显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1A80805-24B6-4322-B5AA-8ECD6800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019550"/>
            <a:ext cx="2457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A"/>
          </a:solidFill>
          <a:ln xmlns:a="http://schemas.openxmlformats.org/drawingml/2006/main" w="9525">
            <a:solidFill>
              <a:srgbClr val="D2DDF0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7A4C007-1704-4DC3-AB99-38FD35D2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C93A2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C93A2B"/>
                </a:solidFill>
                <a:latin typeface="Aptos"/>
                <a:ea typeface="Aptos"/>
                <a:cs typeface="Aptos"/>
              </a:rPr>
              <a:t>真正缺的是模型能力与 tail latency，不只是后端实现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18F5413-19AC-449B-83E7-9E048E4D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DBDC467-93DF-4894-8742-25BB6F18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48492C1-63C8-415D-8D2B-3A2D7128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离用户体验还差什么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0EAF79B8-2DED-4922-B3DC-5FECFED7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16FF336-81D4-4F7A-81B2-FB7C238B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FBF"/>
          </a:solidFill>
          <a:ln xmlns:a="http://schemas.openxmlformats.org/drawingml/2006/main" w="10478">
            <a:solidFill>
              <a:srgbClr val="1E5FBF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22FE289-AA11-463C-947A-DF6130CB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为什么必须补齐云端模型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2D34FF7-D7B7-4161-9920-63906FA6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67250"/>
            <a:ext cx="3733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DCF1C91-FB2D-4690-9072-716B3971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9D2"/>
          </a:solidFill>
          <a:ln xmlns:a="http://schemas.openxmlformats.org/drawingml/2006/main" w="10478">
            <a:solidFill>
              <a:srgbClr val="4F79D2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71286B1-6E6B-4C44-9823-9C260A76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10075"/>
            <a:ext cx="3467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推荐的产品形态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EF0CDE3-CC75-49FA-9504-B9980257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006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49DAE0D-7EFB-4CDA-A1DE-46830DF9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复杂 reasoning 依赖更强模型能力，而不是仅仅更好的 cache policy。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F76BBDE-866F-4CDA-9DED-96D26BE0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482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C3F0E6E-CBB2-4CDC-ABB6-292D9741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长上下文、多工具、多文档任务下，tail latency 与完成质量仍落后于用户预期。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D94DECE-B794-4BB3-89F3-7FDFFF9D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0060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809FB12-32CD-4E8A-A275-81B49C28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0060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端侧负责低延迟、隐私和会话连续性。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06AFC47-FEC1-488F-9561-174FEBB8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048250"/>
            <a:ext cx="152400" cy="17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3" b="1">
                <a:solidFill>
                  <a:srgbClr val="1E5FBF"/>
                </a:solidFill>
                <a:latin typeface="Aptos"/>
                <a:ea typeface="Aptos"/>
                <a:cs typeface="Aptos"/>
              </a:defRPr>
            </a:pPr>
            <a:r>
              <a:rPr sz="1073" b="1">
                <a:solidFill>
                  <a:srgbClr val="1E5FBF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402B41E-4B7A-4C19-BD07-FB6992C6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48250"/>
            <a:ext cx="3314700" cy="1933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27384E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27384E"/>
                </a:solidFill>
                <a:latin typeface="Aptos"/>
                <a:ea typeface="Aptos"/>
                <a:cs typeface="Aptos"/>
              </a:rPr>
              <a:t>云端负责高质量 reasoning、长上下文和复杂工具链。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1989D84-D048-4E29-8BB1-C94B3C8E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00600"/>
            <a:ext cx="342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99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最合理的形态不是“端侧替代云端”，而是 device-first + cloud-assisted：本地给首响与连续性，云端补能力上限。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969FA00-21F0-4478-973C-65F8606D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43550"/>
            <a:ext cx="11658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2DDF0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EEA18DF-40EF-4A0E-B067-F37586C7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76900"/>
            <a:ext cx="1131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核心结论：我们已经把 GB10 端侧后端优化到“能跑、能测、能迭代”的阶段，实测 prefill 峰值约 396 tok/s、decode 约 10.7–16.1 tok/s；但真正限制用户体验的，已经不只是后端实现，而是模型能力、长上下文质量和复杂任务 tail latency。因此下一步必须用云端模型补齐体验上限。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4605386-78F1-458B-B4F8-C0E76706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81750"/>
            <a:ext cx="1165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1E5FBF"/>
            </a:solidFill>
            <a:prstDash val="dash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EF0B997-D41C-418B-B636-01933F3C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53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40" b="1">
                <a:solidFill>
                  <a:srgbClr val="1F314A"/>
                </a:solidFill>
                <a:latin typeface="Aptos"/>
                <a:ea typeface="Aptos"/>
                <a:cs typeface="Aptos"/>
              </a:defRPr>
            </a:pPr>
            <a:r>
              <a:rPr sz="1140" b="1">
                <a:solidFill>
                  <a:srgbClr val="1F314A"/>
                </a:solidFill>
                <a:latin typeface="Aptos"/>
                <a:ea typeface="Aptos"/>
                <a:cs typeface="Aptos"/>
              </a:rPr>
              <a:t>Takeaway：GB10 端侧优化解决的是“本地可运行性”，云端模型补齐的是“高质量体验上限”；后续重点应转向端云协同，而不是继续单点堆本地后端优化。</a:t>
            </a:r>
          </a:p>
        </p:txBody>
      </p:sp>
    </p:spTree>
    <p:extLst>
      <p:ext uri="{BB962C8B-B14F-4D97-AF65-F5344CB8AC3E}">
        <p14:creationId xmlns:p14="http://schemas.microsoft.com/office/powerpoint/2010/main" val="5171498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2026-07-28T07:49:26.3380000Z</dcterms:created>
  <dcterms:modified xsi:type="dcterms:W3CDTF">2026-07-28T07:49:26.3380000Z</dcterms:modified>
</coreProperties>
</file>