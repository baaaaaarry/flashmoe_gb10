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7f9e698f7334a6b" /><Relationship Type="http://schemas.openxmlformats.org/officeDocument/2006/relationships/extended-properties" Target="/docProps/app.xml" Id="Rd3b19d4ea551498f" /><Relationship Type="http://schemas.openxmlformats.org/officeDocument/2006/relationships/officeDocument" Target="/ppt/presentation.xml" Id="R2733a086c3f5463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d42ea17cafe42ed"/>
  </p:sldMasterIdLst>
  <p:notesMasterIdLst>
    <p:notesMasterId xmlns:r="http://schemas.openxmlformats.org/officeDocument/2006/relationships" r:id="R34b4cbc7c8914dac"/>
  </p:notesMasterIdLst>
  <p:sldIdLst>
    <p:sldId xmlns:r="http://schemas.openxmlformats.org/officeDocument/2006/relationships" id="256" r:id="Rc253a3c4b6884b5b"/>
    <p:sldId xmlns:r="http://schemas.openxmlformats.org/officeDocument/2006/relationships" id="257" r:id="R0fe578bb7dbb4ef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497b40081f4436b" /><Relationship Type="http://schemas.openxmlformats.org/officeDocument/2006/relationships/slideMaster" Target="/ppt/slideMasters/slideMaster1.xml" Id="Rbd42ea17cafe42ed" /><Relationship Type="http://schemas.openxmlformats.org/officeDocument/2006/relationships/notesMaster" Target="/ppt/notesMasters/notesMaster1.xml" Id="R34b4cbc7c8914dac" /><Relationship Type="http://schemas.openxmlformats.org/officeDocument/2006/relationships/presProps" Target="/ppt/presProps.xml" Id="R1a4db1e695084c84" /><Relationship Type="http://schemas.openxmlformats.org/officeDocument/2006/relationships/tableStyles" Target="/ppt/tableStyles.xml" Id="Rd60a01a22a2048e4" /><Relationship Type="http://schemas.openxmlformats.org/officeDocument/2006/relationships/slide" Target="/ppt/slides/slide1.xml" Id="Rc253a3c4b6884b5b" /><Relationship Type="http://schemas.openxmlformats.org/officeDocument/2006/relationships/slide" Target="/ppt/slides/slide2.xml" Id="R0fe578bb7dbb4ef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550f8bea3b94fb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4ee6f876430406d" /><Relationship Type="http://schemas.openxmlformats.org/officeDocument/2006/relationships/notesMaster" Target="/ppt/notesMasters/notesMaster1.xml" Id="Rd20c99ced76c4f2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8d26a0963d84cf1" /><Relationship Type="http://schemas.openxmlformats.org/officeDocument/2006/relationships/notesMaster" Target="/ppt/notesMasters/notesMaster1.xml" Id="R5835bfb5e65b4b9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10b398ddc74ba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ca2b1a676c24864" /><Relationship Type="http://schemas.openxmlformats.org/officeDocument/2006/relationships/slideLayout" Target="/ppt/slideLayouts/slideLayout1.xml" Id="R33f0f1d7f9984b5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3f0f1d7f9984b5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32cdd042f44ebd" /><Relationship Type="http://schemas.openxmlformats.org/officeDocument/2006/relationships/notesSlide" Target="/ppt/notesSlides/notesSlide1.xml" Id="Rebef9a7853b0490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554249f6694f3d" /><Relationship Type="http://schemas.openxmlformats.org/officeDocument/2006/relationships/notesSlide" Target="/ppt/notesSlides/notesSlide2.xml" Id="Rd2d65dd26e144f0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A048A9F3-B498-4E50-9EA4-FCC3EA308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333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5FB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E5FBF"/>
                </a:solidFill>
                <a:latin typeface="Aptos Display"/>
                <a:ea typeface="Aptos Display"/>
                <a:cs typeface="Aptos Display"/>
              </a:rPr>
              <a:t>从 Metal 到 CUDA：为什么必须重做 DS4 端侧运行时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D20BA0-80B5-4F3E-B8DE-5469B807D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23875"/>
            <a:ext cx="1165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FBF"/>
          </a:solidFill>
          <a:ln xmlns:a="http://schemas.openxmlformats.org/drawingml/2006/main" w="9525">
            <a:solidFill>
              <a:srgbClr val="1E5FB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845839-7415-4AF0-B9C5-C3DB5627F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90600"/>
            <a:ext cx="68580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2DD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A2FFD7-691A-44A2-9932-FC9127182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685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FBF"/>
          </a:solidFill>
          <a:ln xmlns:a="http://schemas.openxmlformats.org/drawingml/2006/main" w="10478">
            <a:solidFill>
              <a:srgbClr val="1E5FB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999D2A-68C9-43D1-AE28-D6ECA5F6C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33425"/>
            <a:ext cx="6591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迁移必要性：Metal 路线无法直接复用于 GB10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647150-5753-438A-AFE0-15E3F1C4F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990600"/>
            <a:ext cx="48387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2DD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A69B43-6965-437A-A687-59C615315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666750"/>
            <a:ext cx="4838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9D2"/>
          </a:solidFill>
          <a:ln xmlns:a="http://schemas.openxmlformats.org/drawingml/2006/main" w="10478">
            <a:solidFill>
              <a:srgbClr val="4F79D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C76DA7-86EE-44BC-A841-E2C71202E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733425"/>
            <a:ext cx="457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我们为什么选择 CUDA 原生重构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BA5DB4-09B2-4D9C-B833-B6764A578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1028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B"/>
          </a:solidFill>
          <a:ln xmlns:a="http://schemas.openxmlformats.org/drawingml/2006/main" w="9525">
            <a:solidFill>
              <a:srgbClr val="D2DD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EDDC96-EF58-4EE0-8BF1-DE3108913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123950"/>
            <a:ext cx="5562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D2DD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B948C1-D85B-4FDE-9E34-79CC4ED54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219200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0" b="1">
                <a:solidFill>
                  <a:srgbClr val="E68600"/>
                </a:solidFill>
                <a:latin typeface="Aptos"/>
                <a:ea typeface="Aptos"/>
                <a:cs typeface="Aptos"/>
              </a:defRPr>
            </a:pPr>
            <a:r>
              <a:rPr sz="930" b="1">
                <a:solidFill>
                  <a:srgbClr val="E68600"/>
                </a:solidFill>
                <a:latin typeface="Aptos"/>
                <a:ea typeface="Aptos"/>
                <a:cs typeface="Aptos"/>
              </a:rPr>
              <a:t>平台绑定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1FA403-48A1-4291-AE9C-88644CB87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190625"/>
            <a:ext cx="5372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27384E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27384E"/>
                </a:solidFill>
                <a:latin typeface="Aptos"/>
                <a:ea typeface="Aptos"/>
                <a:cs typeface="Aptos"/>
              </a:rPr>
              <a:t>DS4 原始路线围绕 Apple unified memory + Metal kernel 组织，底层算子和数据流天然贴合苹果执行栈。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1843E7-03A9-450E-914E-0A7737AFE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1028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2DD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8CD078-7110-4D31-B314-5C460171C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24000"/>
            <a:ext cx="5562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D2DD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C257A2-3E7D-40AE-8C49-870FB7F30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619250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0" b="1">
                <a:solidFill>
                  <a:srgbClr val="E68600"/>
                </a:solidFill>
                <a:latin typeface="Aptos"/>
                <a:ea typeface="Aptos"/>
                <a:cs typeface="Aptos"/>
              </a:defRPr>
            </a:pPr>
            <a:r>
              <a:rPr sz="930" b="1">
                <a:solidFill>
                  <a:srgbClr val="E68600"/>
                </a:solidFill>
                <a:latin typeface="Aptos"/>
                <a:ea typeface="Aptos"/>
                <a:cs typeface="Aptos"/>
              </a:rPr>
              <a:t>闭源限制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F9DF54-1422-4744-BE51-A08334A86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90675"/>
            <a:ext cx="5372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27384E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27384E"/>
                </a:solidFill>
                <a:latin typeface="Aptos"/>
                <a:ea typeface="Aptos"/>
                <a:cs typeface="Aptos"/>
              </a:rPr>
              <a:t>Metal / MPS / Apple 系统栈的大量关键行为是黑盒，很多性能行为可观察但不可改写，无法作为 GB10 的工程基座。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6F8EBF-F744-4BFC-8CC1-4E41BDA9F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1028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B"/>
          </a:solidFill>
          <a:ln xmlns:a="http://schemas.openxmlformats.org/drawingml/2006/main" w="9525">
            <a:solidFill>
              <a:srgbClr val="D2DD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C04280-96B1-428A-8A2E-540A08065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924050"/>
            <a:ext cx="5562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D2DD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7D96AB-F2A5-472E-8475-09638A0FD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019300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0" b="1">
                <a:solidFill>
                  <a:srgbClr val="E68600"/>
                </a:solidFill>
                <a:latin typeface="Aptos"/>
                <a:ea typeface="Aptos"/>
                <a:cs typeface="Aptos"/>
              </a:defRPr>
            </a:pPr>
            <a:r>
              <a:rPr sz="930" b="1">
                <a:solidFill>
                  <a:srgbClr val="E68600"/>
                </a:solidFill>
                <a:latin typeface="Aptos"/>
                <a:ea typeface="Aptos"/>
                <a:cs typeface="Aptos"/>
              </a:rPr>
              <a:t>框架限制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19FA20-F059-4C0B-9B6A-A86A6849A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990725"/>
            <a:ext cx="5372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27384E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27384E"/>
                </a:solidFill>
                <a:latin typeface="Aptos"/>
                <a:ea typeface="Aptos"/>
                <a:cs typeface="Aptos"/>
              </a:rPr>
              <a:t>原实现部分生命周期深度绑定上层框架与参数树；底层 runtime、page-cache 路径、内存策略不能按 GB10 目标任意修改。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A7C52E-A045-4C51-977B-5E2A6B3E0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1028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2DD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7BC52A-EDB8-4CA2-B382-183DE4169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24100"/>
            <a:ext cx="5562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D2DD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643662-FC73-43B4-9591-008D8088C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419350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0" b="1">
                <a:solidFill>
                  <a:srgbClr val="E68600"/>
                </a:solidFill>
                <a:latin typeface="Aptos"/>
                <a:ea typeface="Aptos"/>
                <a:cs typeface="Aptos"/>
              </a:defRPr>
            </a:pPr>
            <a:r>
              <a:rPr sz="930" b="1">
                <a:solidFill>
                  <a:srgbClr val="E68600"/>
                </a:solidFill>
                <a:latin typeface="Aptos"/>
                <a:ea typeface="Aptos"/>
                <a:cs typeface="Aptos"/>
              </a:rPr>
              <a:t>硬件差异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0AAF37-0964-4D07-A340-32E562848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90775"/>
            <a:ext cx="5372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27384E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27384E"/>
                </a:solidFill>
                <a:latin typeface="Aptos"/>
                <a:ea typeface="Aptos"/>
                <a:cs typeface="Aptos"/>
              </a:rPr>
              <a:t>GB10 面对的是 UMA + CUDA + SSD expert store，需要显式处理 SSD→DDR→GPU copy/compute overlap，Metal 方案没有现成答案。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8A0932-0F7C-4BA5-9DC5-F5C3DDE22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24150"/>
            <a:ext cx="1028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B"/>
          </a:solidFill>
          <a:ln xmlns:a="http://schemas.openxmlformats.org/drawingml/2006/main" w="9525">
            <a:solidFill>
              <a:srgbClr val="D2DDF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71ADEA-60B6-4BA0-8D97-5769E880D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24150"/>
            <a:ext cx="5562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D2DDF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230F5D-616B-450F-A050-73E75378C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819400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0" b="1">
                <a:solidFill>
                  <a:srgbClr val="E68600"/>
                </a:solidFill>
                <a:latin typeface="Aptos"/>
                <a:ea typeface="Aptos"/>
                <a:cs typeface="Aptos"/>
              </a:defRPr>
            </a:pPr>
            <a:r>
              <a:rPr sz="930" b="1">
                <a:solidFill>
                  <a:srgbClr val="E68600"/>
                </a:solidFill>
                <a:latin typeface="Aptos"/>
                <a:ea typeface="Aptos"/>
                <a:cs typeface="Aptos"/>
              </a:rPr>
              <a:t>产品要求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A42903-850E-4ED4-A5A4-D20ECBA59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90825"/>
            <a:ext cx="5372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27384E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27384E"/>
                </a:solidFill>
                <a:latin typeface="Aptos"/>
                <a:ea typeface="Aptos"/>
                <a:cs typeface="Aptos"/>
              </a:rPr>
              <a:t>我们需要可控的 profile、cache policy、服务化接口和后续在线部署能力，这要求运行时必须完全可改、可测、可演进。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B6DC29C-45E4-4149-AB49-108AED577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123950"/>
            <a:ext cx="152400" cy="1857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E5FBF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1E5FB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4CB9463-9B04-4EFA-848B-85924A670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123950"/>
            <a:ext cx="4381500" cy="2047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7384E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27384E"/>
                </a:solidFill>
                <a:latin typeface="Aptos"/>
                <a:ea typeface="Aptos"/>
                <a:cs typeface="Aptos"/>
              </a:rPr>
              <a:t>不能只做“Metal kernel → CUDA kernel”的语法级替换；真正要迁移的是 streamed-MoE 的控制面思想。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74261E4-9E5D-48E8-B1CE-3451C0ABE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638300"/>
            <a:ext cx="152400" cy="1857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E5FBF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1E5FB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72A6BFB-87FD-4C1D-AD02-CED2E4E82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638300"/>
            <a:ext cx="4381500" cy="2047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7384E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27384E"/>
                </a:solidFill>
                <a:latin typeface="Aptos"/>
                <a:ea typeface="Aptos"/>
                <a:cs typeface="Aptos"/>
              </a:rPr>
              <a:t>必须把冷数据读取、expert cache、decode scheduler、service interface 全部从苹果黑盒依赖中解耦出来。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982FAD-8252-430D-BB8B-650580698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152650"/>
            <a:ext cx="152400" cy="1857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E5FBF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1E5FB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104F485-EF91-440A-A264-0C2B6CB93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152650"/>
            <a:ext cx="4381500" cy="2047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7384E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27384E"/>
                </a:solidFill>
                <a:latin typeface="Aptos"/>
                <a:ea typeface="Aptos"/>
                <a:cs typeface="Aptos"/>
              </a:rPr>
              <a:t>只有这样，后续才能继续做带宽建模、命中率分析、Nsight/profile、在线服务化与多模型扩展。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802FDAB-B9D3-4E6C-BE4D-7291A1304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724150"/>
            <a:ext cx="457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D"/>
          </a:solidFill>
          <a:ln xmlns:a="http://schemas.openxmlformats.org/drawingml/2006/main" w="9525">
            <a:solidFill>
              <a:srgbClr val="D2DDF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98EB944-C82D-4FD0-8616-E50B400B8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838450"/>
            <a:ext cx="4381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F314A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1F314A"/>
                </a:solidFill>
                <a:latin typeface="Aptos"/>
                <a:ea typeface="Aptos"/>
                <a:cs typeface="Aptos"/>
              </a:rPr>
              <a:t>结论：迁移不是为了“换个后端”，而是为了拿回底层可控性，建立能面向 GB10 长期演进的运行时底座。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2B0B251-FD05-4723-ADB4-1EB1CF49E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733800"/>
            <a:ext cx="116586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2DDF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E04BC3C-4F74-4C61-B2FC-CB286DB5F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733800"/>
            <a:ext cx="11658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FBF"/>
          </a:solidFill>
          <a:ln xmlns:a="http://schemas.openxmlformats.org/drawingml/2006/main" w="9525">
            <a:solidFill>
              <a:srgbClr val="1E5FB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3DF7723-CDE9-4D6F-AB35-B00F0EA46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00475"/>
            <a:ext cx="1123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迁移映射：从 Apple/Metal 约束，转换到 GB10/CUDA 可控运行时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4F2EF8E-F389-40CB-AE1B-7D48E5835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057650"/>
            <a:ext cx="1676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D2DDF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7D6EB5A-B7C8-401D-860B-90BC1AA08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124325"/>
            <a:ext cx="1600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F314A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F314A"/>
                </a:solidFill>
                <a:latin typeface="Aptos"/>
                <a:ea typeface="Aptos"/>
                <a:cs typeface="Aptos"/>
              </a:rPr>
              <a:t>维度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10E59E5-4C34-4E3C-9B83-677B75E44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0576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D2DDF0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4643725-E38F-4550-9070-7CC0F3902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124325"/>
            <a:ext cx="2400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F314A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F314A"/>
                </a:solidFill>
                <a:latin typeface="Aptos"/>
                <a:ea typeface="Aptos"/>
                <a:cs typeface="Aptos"/>
              </a:rPr>
              <a:t>Apple / Metal 原始状态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A8EF47E-2874-4AAD-9C0B-673C6FD08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576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D2DDF0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941E6E0-2A26-475C-9516-055218BEC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124325"/>
            <a:ext cx="2400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F314A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F314A"/>
                </a:solidFill>
                <a:latin typeface="Aptos"/>
                <a:ea typeface="Aptos"/>
                <a:cs typeface="Aptos"/>
              </a:rPr>
              <a:t>为什么不够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46CA79B-D661-4972-AE49-E7C885E87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057650"/>
            <a:ext cx="2400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D2DDF0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32B309A-1DF4-4969-988F-84EE9AD49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124325"/>
            <a:ext cx="2324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F314A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F314A"/>
                </a:solidFill>
                <a:latin typeface="Aptos"/>
                <a:ea typeface="Aptos"/>
                <a:cs typeface="Aptos"/>
              </a:rPr>
              <a:t>GB10 / CUDA 改造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D5B1D4B-240B-42D3-AD0C-010D4E096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057650"/>
            <a:ext cx="2628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D2DDF0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A8F389A-8668-4018-B730-ED044DC5F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124325"/>
            <a:ext cx="2552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F314A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F314A"/>
                </a:solidFill>
                <a:latin typeface="Aptos"/>
                <a:ea typeface="Aptos"/>
                <a:cs typeface="Aptos"/>
              </a:rPr>
              <a:t>结果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4BCDD69-2002-472A-A770-78BA803D4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343400"/>
            <a:ext cx="1676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A"/>
          </a:solidFill>
          <a:ln xmlns:a="http://schemas.openxmlformats.org/drawingml/2006/main" w="9525">
            <a:solidFill>
              <a:srgbClr val="D2DDF0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504E896-D934-4E50-A094-1F144414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362450"/>
            <a:ext cx="15811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35" b="1">
                <a:solidFill>
                  <a:srgbClr val="27384E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27384E"/>
                </a:solidFill>
                <a:latin typeface="Aptos"/>
                <a:ea typeface="Aptos"/>
                <a:cs typeface="Aptos"/>
              </a:rPr>
              <a:t>执行栈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D608697-4C14-4B8C-901A-0ED8BEFC2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3434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A"/>
          </a:solidFill>
          <a:ln xmlns:a="http://schemas.openxmlformats.org/drawingml/2006/main" w="9525">
            <a:solidFill>
              <a:srgbClr val="D2DDF0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A3A69DA-9BA5-4FF6-AA7A-332D84541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4362450"/>
            <a:ext cx="2381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35" b="0">
                <a:solidFill>
                  <a:srgbClr val="27384E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27384E"/>
                </a:solidFill>
                <a:latin typeface="Aptos"/>
                <a:ea typeface="Aptos"/>
                <a:cs typeface="Aptos"/>
              </a:rPr>
              <a:t>Metal / MPS / Apple runtime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6C978CE-3AD6-49DC-9E55-FC81AC95F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3434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A"/>
          </a:solidFill>
          <a:ln xmlns:a="http://schemas.openxmlformats.org/drawingml/2006/main" w="9525">
            <a:solidFill>
              <a:srgbClr val="D2DDF0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EEEF4E6-5B41-4AFC-8C9C-9E1F7417B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362450"/>
            <a:ext cx="2381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35" b="0">
                <a:solidFill>
                  <a:srgbClr val="27384E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27384E"/>
                </a:solidFill>
                <a:latin typeface="Aptos"/>
                <a:ea typeface="Aptos"/>
                <a:cs typeface="Aptos"/>
              </a:rPr>
              <a:t>底层黑盒，无法按 GB10 目标重排数据流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FE2AFD8-0502-4751-9ACC-ABA867E0A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343400"/>
            <a:ext cx="2400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A"/>
          </a:solidFill>
          <a:ln xmlns:a="http://schemas.openxmlformats.org/drawingml/2006/main" w="9525">
            <a:solidFill>
              <a:srgbClr val="D2DDF0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E756E53-06E7-45A3-B09A-C5FB7282E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4362450"/>
            <a:ext cx="23050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35" b="0">
                <a:solidFill>
                  <a:srgbClr val="12803C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12803C"/>
                </a:solidFill>
                <a:latin typeface="Aptos"/>
                <a:ea typeface="Aptos"/>
                <a:cs typeface="Aptos"/>
              </a:rPr>
              <a:t>CUDA / Tensor Core kernel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9962BFE-075F-4758-AE9B-01728D904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343400"/>
            <a:ext cx="2628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A"/>
          </a:solidFill>
          <a:ln xmlns:a="http://schemas.openxmlformats.org/drawingml/2006/main" w="9525">
            <a:solidFill>
              <a:srgbClr val="D2DDF0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373AF2F-F077-4AFD-8223-4975F78CB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4362450"/>
            <a:ext cx="25336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35" b="0">
                <a:solidFill>
                  <a:srgbClr val="27384E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27384E"/>
                </a:solidFill>
                <a:latin typeface="Aptos"/>
                <a:ea typeface="Aptos"/>
                <a:cs typeface="Aptos"/>
              </a:rPr>
              <a:t>获得 kernel、copy、调度全链路可控性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F32AE6E-0313-4E5B-AC89-0C5A39D0B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514850"/>
            <a:ext cx="1676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D2DDF0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135713A-2EC1-4097-A7D6-FEED86E26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533900"/>
            <a:ext cx="15811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35" b="1">
                <a:solidFill>
                  <a:srgbClr val="27384E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27384E"/>
                </a:solidFill>
                <a:latin typeface="Aptos"/>
                <a:ea typeface="Aptos"/>
                <a:cs typeface="Aptos"/>
              </a:rPr>
              <a:t>参数组织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16BEC2B-A0D0-439B-B570-1D0062439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5148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D2DDF0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FAF0E23-B87F-42C9-9F8D-76F407A0A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4533900"/>
            <a:ext cx="2381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35" b="0">
                <a:solidFill>
                  <a:srgbClr val="27384E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27384E"/>
                </a:solidFill>
                <a:latin typeface="Aptos"/>
                <a:ea typeface="Aptos"/>
                <a:cs typeface="Aptos"/>
              </a:rPr>
              <a:t>框架参数树强耦合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4FAEF8D-0F38-4758-AD25-20EE560A1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5148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D2DDF0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BE95A8A-3A5A-4897-8DC2-7758C01CC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533900"/>
            <a:ext cx="2381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35" b="0">
                <a:solidFill>
                  <a:srgbClr val="27384E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27384E"/>
                </a:solidFill>
                <a:latin typeface="Aptos"/>
                <a:ea typeface="Aptos"/>
                <a:cs typeface="Aptos"/>
              </a:rPr>
              <a:t>无法显式拆开 dense resident 与 expert store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EC0AB7A-DF7A-4AC9-B9DF-8C8344509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514850"/>
            <a:ext cx="2400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D2DDF0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8541FE7-3EAF-4C2B-A254-5456B1464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4533900"/>
            <a:ext cx="23050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35" b="0">
                <a:solidFill>
                  <a:srgbClr val="12803C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12803C"/>
                </a:solidFill>
                <a:latin typeface="Aptos"/>
                <a:ea typeface="Aptos"/>
                <a:cs typeface="Aptos"/>
              </a:rPr>
              <a:t>dense resident + manifest expert store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23950D4-C86F-4D54-9DB4-CE6514F68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514850"/>
            <a:ext cx="2628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D2DDF0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F70EE83-8272-4EE3-BCD3-8373FA263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4533900"/>
            <a:ext cx="25336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35" b="0">
                <a:solidFill>
                  <a:srgbClr val="27384E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27384E"/>
                </a:solidFill>
                <a:latin typeface="Aptos"/>
                <a:ea typeface="Aptos"/>
                <a:cs typeface="Aptos"/>
              </a:rPr>
              <a:t>支持热冷分层与可测 miss 成本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68B8959-4F51-45F5-9B15-011A66727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686300"/>
            <a:ext cx="1676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A"/>
          </a:solidFill>
          <a:ln xmlns:a="http://schemas.openxmlformats.org/drawingml/2006/main" w="9525">
            <a:solidFill>
              <a:srgbClr val="D2DDF0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CF3985B-5B07-4A5B-9346-C8F8938DE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705350"/>
            <a:ext cx="15811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35" b="1">
                <a:solidFill>
                  <a:srgbClr val="27384E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27384E"/>
                </a:solidFill>
                <a:latin typeface="Aptos"/>
                <a:ea typeface="Aptos"/>
                <a:cs typeface="Aptos"/>
              </a:rPr>
              <a:t>冷数据读取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DBFBC41-1A9E-4D92-909C-6CB7DE76D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6863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A"/>
          </a:solidFill>
          <a:ln xmlns:a="http://schemas.openxmlformats.org/drawingml/2006/main" w="9525">
            <a:solidFill>
              <a:srgbClr val="D2DDF0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49F37B3-D620-4130-A813-2321D4BD0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4705350"/>
            <a:ext cx="2381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35" b="0">
                <a:solidFill>
                  <a:srgbClr val="27384E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27384E"/>
                </a:solidFill>
                <a:latin typeface="Aptos"/>
                <a:ea typeface="Aptos"/>
                <a:cs typeface="Aptos"/>
              </a:rPr>
              <a:t>page-cache 风格读取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12A8677-62E3-48C3-B59C-72D45B5F5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6863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A"/>
          </a:solidFill>
          <a:ln xmlns:a="http://schemas.openxmlformats.org/drawingml/2006/main" w="9525">
            <a:solidFill>
              <a:srgbClr val="D2DDF0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2C8D1F6-F421-4D42-9D4A-800C24F02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705350"/>
            <a:ext cx="2381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35" b="0">
                <a:solidFill>
                  <a:srgbClr val="27384E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27384E"/>
                </a:solidFill>
                <a:latin typeface="Aptos"/>
                <a:ea typeface="Aptos"/>
                <a:cs typeface="Aptos"/>
              </a:rPr>
              <a:t>难以准确控制 load path 和预取策略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1BCEBF9-53BF-429F-9B09-F13578545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686300"/>
            <a:ext cx="2400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A"/>
          </a:solidFill>
          <a:ln xmlns:a="http://schemas.openxmlformats.org/drawingml/2006/main" w="9525">
            <a:solidFill>
              <a:srgbClr val="D2DDF0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7AFABEF-4287-4905-8BEF-89DE5FAF5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4705350"/>
            <a:ext cx="23050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35" b="0">
                <a:solidFill>
                  <a:srgbClr val="12803C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12803C"/>
                </a:solidFill>
                <a:latin typeface="Aptos"/>
                <a:ea typeface="Aptos"/>
                <a:cs typeface="Aptos"/>
              </a:rPr>
              <a:t>chunked pread + explicit cache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7EA8514-A544-457C-949C-943ED7861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686300"/>
            <a:ext cx="2628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A"/>
          </a:solidFill>
          <a:ln xmlns:a="http://schemas.openxmlformats.org/drawingml/2006/main" w="9525">
            <a:solidFill>
              <a:srgbClr val="D2DDF0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8E57D97-887C-4AE3-B595-B108700B2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4705350"/>
            <a:ext cx="25336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35" b="0">
                <a:solidFill>
                  <a:srgbClr val="27384E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27384E"/>
                </a:solidFill>
                <a:latin typeface="Aptos"/>
                <a:ea typeface="Aptos"/>
                <a:cs typeface="Aptos"/>
              </a:rPr>
              <a:t>可做带宽建模和命中率优化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53A978C6-F5AF-4462-ACD5-89234CA22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857750"/>
            <a:ext cx="1676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D2DDF0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F98E7024-0BC9-43B1-960F-207E2CD30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876800"/>
            <a:ext cx="15811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35" b="1">
                <a:solidFill>
                  <a:srgbClr val="27384E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27384E"/>
                </a:solidFill>
                <a:latin typeface="Aptos"/>
                <a:ea typeface="Aptos"/>
                <a:cs typeface="Aptos"/>
              </a:rPr>
              <a:t>运行时接口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B65E4E71-AC35-4BB3-B22F-FC6A0B788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8577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D2DDF0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2F0E6094-94C2-4115-B69B-5699ED0BD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4876800"/>
            <a:ext cx="2381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35" b="0">
                <a:solidFill>
                  <a:srgbClr val="27384E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27384E"/>
                </a:solidFill>
                <a:latin typeface="Aptos"/>
                <a:ea typeface="Aptos"/>
                <a:cs typeface="Aptos"/>
              </a:rPr>
              <a:t>更偏实验性实现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6D8C1FF-352B-419A-B43A-F8913349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8577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D2DDF0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EE4B0B0F-6404-441C-8D99-97FCDFB17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876800"/>
            <a:ext cx="2381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35" b="0">
                <a:solidFill>
                  <a:srgbClr val="27384E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27384E"/>
                </a:solidFill>
                <a:latin typeface="Aptos"/>
                <a:ea typeface="Aptos"/>
                <a:cs typeface="Aptos"/>
              </a:rPr>
              <a:t>难服务化、难长期维护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38C057F-C15F-4E72-95D3-50A336BF6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857750"/>
            <a:ext cx="2400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D2DDF0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E3CEDAF9-569B-4A61-B75A-FB3659D4D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4876800"/>
            <a:ext cx="23050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35" b="0">
                <a:solidFill>
                  <a:srgbClr val="12803C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12803C"/>
                </a:solidFill>
                <a:latin typeface="Aptos"/>
                <a:ea typeface="Aptos"/>
                <a:cs typeface="Aptos"/>
              </a:rPr>
              <a:t>engine / session / service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AE3AA7FE-19B6-41D3-A936-326E2063C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857750"/>
            <a:ext cx="2628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D2DDF0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9B4C8926-894D-43A6-9200-2E1FA8F99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4876800"/>
            <a:ext cx="25336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35" b="0">
                <a:solidFill>
                  <a:srgbClr val="27384E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27384E"/>
                </a:solidFill>
                <a:latin typeface="Aptos"/>
                <a:ea typeface="Aptos"/>
                <a:cs typeface="Aptos"/>
              </a:rPr>
              <a:t>形成可部署、可扩展的产品底座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E27691F8-6F86-4523-9A1F-46E3613D2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600700"/>
            <a:ext cx="3733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2DDF0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AA193AB-BFB6-4CDF-9C9C-5AE585737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276850"/>
            <a:ext cx="3733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FBF"/>
          </a:solidFill>
          <a:ln xmlns:a="http://schemas.openxmlformats.org/drawingml/2006/main" w="10478">
            <a:solidFill>
              <a:srgbClr val="1E5FBF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2070CE82-B58F-434A-8499-0977505D7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43525"/>
            <a:ext cx="3467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闭源与框架约束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034ACC38-4CD8-4C4C-853B-CAE07774B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600700"/>
            <a:ext cx="3733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2DDF0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0B0884F0-988F-44ED-BB04-EC338804A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276850"/>
            <a:ext cx="3733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FBF"/>
          </a:solidFill>
          <a:ln xmlns:a="http://schemas.openxmlformats.org/drawingml/2006/main" w="10478">
            <a:solidFill>
              <a:srgbClr val="1E5FBF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EE270F09-A772-41FF-98A1-C5B2F61B4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343525"/>
            <a:ext cx="3467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我们已经完成的重构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9EA3C3E7-B47D-4B87-9918-68928429B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600700"/>
            <a:ext cx="3733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2DDF0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998C9794-C28E-4A66-A1AC-796F36858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276850"/>
            <a:ext cx="3733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9D2"/>
          </a:solidFill>
          <a:ln xmlns:a="http://schemas.openxmlformats.org/drawingml/2006/main" w="10478">
            <a:solidFill>
              <a:srgbClr val="4F79D2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7DC52C87-93B5-4467-AE9E-2F08E2B8C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343525"/>
            <a:ext cx="3467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本页结论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0F3909F6-39FF-442F-A51F-3C1A70247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734050"/>
            <a:ext cx="152400" cy="174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73" b="1">
                <a:solidFill>
                  <a:srgbClr val="1E5FBF"/>
                </a:solidFill>
                <a:latin typeface="Aptos"/>
                <a:ea typeface="Aptos"/>
                <a:cs typeface="Aptos"/>
              </a:defRPr>
            </a:pPr>
            <a:r>
              <a:rPr sz="1073" b="1">
                <a:solidFill>
                  <a:srgbClr val="1E5FB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2658BD4F-5340-48E6-B8F2-A7B1909CD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34050"/>
            <a:ext cx="3314700" cy="1933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27384E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27384E"/>
                </a:solidFill>
                <a:latin typeface="Aptos"/>
                <a:ea typeface="Aptos"/>
                <a:cs typeface="Aptos"/>
              </a:rPr>
              <a:t>原始 Metal 路线很多关键能力可观察但不可改。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42D61081-0454-40A2-B1AD-203F25ED7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81700"/>
            <a:ext cx="152400" cy="174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73" b="1">
                <a:solidFill>
                  <a:srgbClr val="1E5FBF"/>
                </a:solidFill>
                <a:latin typeface="Aptos"/>
                <a:ea typeface="Aptos"/>
                <a:cs typeface="Aptos"/>
              </a:defRPr>
            </a:pPr>
            <a:r>
              <a:rPr sz="1073" b="1">
                <a:solidFill>
                  <a:srgbClr val="1E5FB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5502250C-4635-46FA-AA91-0D7CE9FE2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81700"/>
            <a:ext cx="3314700" cy="1933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27384E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27384E"/>
                </a:solidFill>
                <a:latin typeface="Aptos"/>
                <a:ea typeface="Aptos"/>
                <a:cs typeface="Aptos"/>
              </a:rPr>
              <a:t>底层框架和系统栈不是我们可长期依赖的可控资产。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9A964555-9C96-47E3-A705-C01FFBEE2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734050"/>
            <a:ext cx="152400" cy="174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73" b="1">
                <a:solidFill>
                  <a:srgbClr val="1E5FBF"/>
                </a:solidFill>
                <a:latin typeface="Aptos"/>
                <a:ea typeface="Aptos"/>
                <a:cs typeface="Aptos"/>
              </a:defRPr>
            </a:pPr>
            <a:r>
              <a:rPr sz="1073" b="1">
                <a:solidFill>
                  <a:srgbClr val="1E5FB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F5187510-4B3B-4C06-9318-C4B11E137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734050"/>
            <a:ext cx="3314700" cy="1933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27384E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27384E"/>
                </a:solidFill>
                <a:latin typeface="Aptos"/>
                <a:ea typeface="Aptos"/>
                <a:cs typeface="Aptos"/>
              </a:rPr>
              <a:t>保留 streamed-MoE 控制面思想。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7BEDAEFC-D84D-49D6-9016-B5B953508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981700"/>
            <a:ext cx="152400" cy="174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73" b="1">
                <a:solidFill>
                  <a:srgbClr val="1E5FBF"/>
                </a:solidFill>
                <a:latin typeface="Aptos"/>
                <a:ea typeface="Aptos"/>
                <a:cs typeface="Aptos"/>
              </a:defRPr>
            </a:pPr>
            <a:r>
              <a:rPr sz="1073" b="1">
                <a:solidFill>
                  <a:srgbClr val="1E5FB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58470ED9-F7DB-44DC-82E8-3F4028140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981700"/>
            <a:ext cx="3314700" cy="1933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27384E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27384E"/>
                </a:solidFill>
                <a:latin typeface="Aptos"/>
                <a:ea typeface="Aptos"/>
                <a:cs typeface="Aptos"/>
              </a:rPr>
              <a:t>重写 dense resident / expert store / hot cache / scheduler。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6A435006-C614-4B8B-A4B1-0CAB94732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753100"/>
            <a:ext cx="3429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5" b="1">
                <a:solidFill>
                  <a:srgbClr val="1F314A"/>
                </a:solidFill>
                <a:latin typeface="Aptos"/>
                <a:ea typeface="Aptos"/>
                <a:cs typeface="Aptos"/>
              </a:defRPr>
            </a:pPr>
            <a:r>
              <a:rPr sz="1005" b="1">
                <a:solidFill>
                  <a:srgbClr val="1F314A"/>
                </a:solidFill>
                <a:latin typeface="Aptos"/>
                <a:ea typeface="Aptos"/>
                <a:cs typeface="Aptos"/>
              </a:rPr>
              <a:t>我们迁移的不是 Metal 本身，而是 DS4 的思路；我们重做的是底层 runtime，以便在 GB10 上真正可控、可调、可产品化。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B2AA1A26-C741-47D7-8F7C-71CD3A3C8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496050"/>
            <a:ext cx="1165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11430">
            <a:solidFill>
              <a:srgbClr val="1E5FBF"/>
            </a:solidFill>
            <a:prstDash val="dash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0499D28E-D968-4F89-B5E0-1E61508D5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11353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314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314A"/>
                </a:solidFill>
                <a:latin typeface="Aptos"/>
                <a:ea typeface="Aptos"/>
                <a:cs typeface="Aptos"/>
              </a:rPr>
              <a:t>Takeaway：从 Metal 转向 CUDA 的根本原因，是 Apple 路线闭源、黑盒、难改，无法支撑 GB10 所需的底层可控性与后续产品化演进。</a:t>
            </a:r>
          </a:p>
        </p:txBody>
      </p:sp>
    </p:spTree>
    <p:extLst>
      <p:ext uri="{BB962C8B-B14F-4D97-AF65-F5344CB8AC3E}">
        <p14:creationId xmlns:p14="http://schemas.microsoft.com/office/powerpoint/2010/main" val="12073494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7BC2388A-AF8C-4AF0-AA9C-E3FE8DD47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33350"/>
            <a:ext cx="942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5FB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E5FBF"/>
                </a:solidFill>
                <a:latin typeface="Aptos Display"/>
                <a:ea typeface="Aptos Display"/>
                <a:cs typeface="Aptos Display"/>
              </a:rPr>
              <a:t>GB10 端侧优化与体验差距：为什么还需要云端模型补齐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AC6C6D-5467-4469-8B59-FE9AC870D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23875"/>
            <a:ext cx="1165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FBF"/>
          </a:solidFill>
          <a:ln xmlns:a="http://schemas.openxmlformats.org/drawingml/2006/main" w="9525">
            <a:solidFill>
              <a:srgbClr val="1E5FB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4CBC5A-4ED6-47BD-9B89-3FABDCC96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009650"/>
            <a:ext cx="6953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2DD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24460F-8E33-4E5C-B3AA-DE99E790B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85800"/>
            <a:ext cx="695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FBF"/>
          </a:solidFill>
          <a:ln xmlns:a="http://schemas.openxmlformats.org/drawingml/2006/main" w="10478">
            <a:solidFill>
              <a:srgbClr val="1E5FB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890F7B-C64B-418D-AA38-FCFEF4053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52475"/>
            <a:ext cx="6686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跑通 FlashMoE 版本 + 软件深度优化性能的关键实现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805DAC-C9DA-42B4-B768-3A0000C3C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009650"/>
            <a:ext cx="4476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2DD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4D0824-AF81-4018-A6C6-426B638CE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85800"/>
            <a:ext cx="4476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9D2"/>
          </a:solidFill>
          <a:ln xmlns:a="http://schemas.openxmlformats.org/drawingml/2006/main" w="10478">
            <a:solidFill>
              <a:srgbClr val="4F79D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60549A-8CA0-45B8-84D4-A87D0BD9E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752475"/>
            <a:ext cx="421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实测性能与用户体验差距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6CF0B1-1112-4A4F-8188-BEEF82F63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1104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D2DD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1350F7-E996-4C47-A80B-1AB840199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209675"/>
            <a:ext cx="1028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F314A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F314A"/>
                </a:solidFill>
                <a:latin typeface="Aptos"/>
                <a:ea typeface="Aptos"/>
                <a:cs typeface="Aptos"/>
              </a:rPr>
              <a:t>类别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D3BF4E-42FE-4D61-AEA6-E306CE373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1430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D2DD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2C9692-B318-401D-9857-7E6FECC61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209675"/>
            <a:ext cx="1733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F314A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F314A"/>
                </a:solidFill>
                <a:latin typeface="Aptos"/>
                <a:ea typeface="Aptos"/>
                <a:cs typeface="Aptos"/>
              </a:rPr>
              <a:t>关键修改点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BCA5B6-BE51-4BEE-8B3C-42A95D1F3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143000"/>
            <a:ext cx="1924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D2DD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8D2F99-E51D-4EAB-BEE0-F2C4BFBF4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209675"/>
            <a:ext cx="1847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F314A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F314A"/>
                </a:solidFill>
                <a:latin typeface="Aptos"/>
                <a:ea typeface="Aptos"/>
                <a:cs typeface="Aptos"/>
              </a:rPr>
              <a:t>深度优化实现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A3E724-67C0-4239-9596-52EC190DE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143000"/>
            <a:ext cx="1828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D2DD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BD96A4-968F-4467-B473-3F8720911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209675"/>
            <a:ext cx="1752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F314A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F314A"/>
                </a:solidFill>
                <a:latin typeface="Aptos"/>
                <a:ea typeface="Aptos"/>
                <a:cs typeface="Aptos"/>
              </a:rPr>
              <a:t>价值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CDB996-12A3-440B-B28C-ED332B829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04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A"/>
          </a:solidFill>
          <a:ln xmlns:a="http://schemas.openxmlformats.org/drawingml/2006/main" w="9525">
            <a:solidFill>
              <a:srgbClr val="D2DD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A222CF-27A3-4567-81E2-1A2E1A68E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447800"/>
            <a:ext cx="10287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0" b="1">
                <a:solidFill>
                  <a:srgbClr val="27384E"/>
                </a:solidFill>
                <a:latin typeface="Aptos"/>
                <a:ea typeface="Aptos"/>
                <a:cs typeface="Aptos"/>
              </a:defRPr>
            </a:pPr>
            <a:r>
              <a:rPr sz="630" b="1">
                <a:solidFill>
                  <a:srgbClr val="27384E"/>
                </a:solidFill>
                <a:latin typeface="Aptos"/>
                <a:ea typeface="Aptos"/>
                <a:cs typeface="Aptos"/>
              </a:rPr>
              <a:t>跑通修改 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8E83C3-2A4F-4236-9BCC-8D0B5E3A8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428750"/>
            <a:ext cx="180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A"/>
          </a:solidFill>
          <a:ln xmlns:a="http://schemas.openxmlformats.org/drawingml/2006/main" w="9525">
            <a:solidFill>
              <a:srgbClr val="D2DD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AEEFF4-DA32-4E60-8147-B414877EF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447800"/>
            <a:ext cx="1733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0" b="0">
                <a:solidFill>
                  <a:srgbClr val="27384E"/>
                </a:solidFill>
                <a:latin typeface="Aptos"/>
                <a:ea typeface="Aptos"/>
                <a:cs typeface="Aptos"/>
              </a:defRPr>
            </a:pPr>
            <a:r>
              <a:rPr sz="630" b="0">
                <a:solidFill>
                  <a:srgbClr val="27384E"/>
                </a:solidFill>
                <a:latin typeface="Aptos"/>
                <a:ea typeface="Aptos"/>
                <a:cs typeface="Aptos"/>
              </a:rPr>
              <a:t>把 DS4 2bit 路线改成可运行 FlashMoE 版本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448539-AD9D-4E6C-A42C-2499063A2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428750"/>
            <a:ext cx="1924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A"/>
          </a:solidFill>
          <a:ln xmlns:a="http://schemas.openxmlformats.org/drawingml/2006/main" w="9525">
            <a:solidFill>
              <a:srgbClr val="D2DD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F85073-64FF-4E0F-920E-E26278C3F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447800"/>
            <a:ext cx="1847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0" b="0">
                <a:solidFill>
                  <a:srgbClr val="12803C"/>
                </a:solidFill>
                <a:latin typeface="Aptos"/>
                <a:ea typeface="Aptos"/>
                <a:cs typeface="Aptos"/>
              </a:defRPr>
            </a:pPr>
            <a:r>
              <a:rPr sz="630" b="0">
                <a:solidFill>
                  <a:srgbClr val="12803C"/>
                </a:solidFill>
                <a:latin typeface="Aptos"/>
                <a:ea typeface="Aptos"/>
                <a:cs typeface="Aptos"/>
              </a:rPr>
              <a:t>重建模型加载、权重组织与执行入口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0C0916-29A8-4236-BD65-F49180A0F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428750"/>
            <a:ext cx="1828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A"/>
          </a:solidFill>
          <a:ln xmlns:a="http://schemas.openxmlformats.org/drawingml/2006/main" w="9525">
            <a:solidFill>
              <a:srgbClr val="D2DD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F6B1B1-2504-4E8C-A093-9A664BAE7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447800"/>
            <a:ext cx="1752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0" b="0">
                <a:solidFill>
                  <a:srgbClr val="27384E"/>
                </a:solidFill>
                <a:latin typeface="Aptos"/>
                <a:ea typeface="Aptos"/>
                <a:cs typeface="Aptos"/>
              </a:defRPr>
            </a:pPr>
            <a:r>
              <a:rPr sz="630" b="0">
                <a:solidFill>
                  <a:srgbClr val="27384E"/>
                </a:solidFill>
                <a:latin typeface="Aptos"/>
                <a:ea typeface="Aptos"/>
                <a:cs typeface="Aptos"/>
              </a:rPr>
              <a:t>先解决“能不能在 GB10 上跑起来”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D5E511-88CF-45F5-BA76-9712F398C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1104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D2DDF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4DBC35-78D3-42FB-BFC9-8FFBA4C0F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600200"/>
            <a:ext cx="10287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0" b="1">
                <a:solidFill>
                  <a:srgbClr val="27384E"/>
                </a:solidFill>
                <a:latin typeface="Aptos"/>
                <a:ea typeface="Aptos"/>
                <a:cs typeface="Aptos"/>
              </a:defRPr>
            </a:pPr>
            <a:r>
              <a:rPr sz="630" b="1">
                <a:solidFill>
                  <a:srgbClr val="27384E"/>
                </a:solidFill>
                <a:latin typeface="Aptos"/>
                <a:ea typeface="Aptos"/>
                <a:cs typeface="Aptos"/>
              </a:rPr>
              <a:t>跑通修改 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91064A-B0F6-472E-86A2-722B9074F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581150"/>
            <a:ext cx="180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D2DDF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17CD8F-63F7-455B-9C9B-A3182AAA4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600200"/>
            <a:ext cx="1733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0" b="0">
                <a:solidFill>
                  <a:srgbClr val="27384E"/>
                </a:solidFill>
                <a:latin typeface="Aptos"/>
                <a:ea typeface="Aptos"/>
                <a:cs typeface="Aptos"/>
              </a:defRPr>
            </a:pPr>
            <a:r>
              <a:rPr sz="630" b="0">
                <a:solidFill>
                  <a:srgbClr val="27384E"/>
                </a:solidFill>
                <a:latin typeface="Aptos"/>
                <a:ea typeface="Aptos"/>
                <a:cs typeface="Aptos"/>
              </a:rPr>
              <a:t>把专家权重从框架参数树中解耦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A85DAE-A641-46D8-9DCE-3FA55E114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581150"/>
            <a:ext cx="1924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D2DDF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083D69C-DC14-4CCD-8FA0-226B7689F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600200"/>
            <a:ext cx="1847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0" b="0">
                <a:solidFill>
                  <a:srgbClr val="12803C"/>
                </a:solidFill>
                <a:latin typeface="Aptos"/>
                <a:ea typeface="Aptos"/>
                <a:cs typeface="Aptos"/>
              </a:defRPr>
            </a:pPr>
            <a:r>
              <a:rPr sz="630" b="0">
                <a:solidFill>
                  <a:srgbClr val="12803C"/>
                </a:solidFill>
                <a:latin typeface="Aptos"/>
                <a:ea typeface="Aptos"/>
                <a:cs typeface="Aptos"/>
              </a:rPr>
              <a:t>dense resident + layer-major expert store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C771F2E-6F72-44CE-A12F-FEEE2696B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581150"/>
            <a:ext cx="1828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D2DDF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A3A5923-7F69-4957-AC31-62F34FF75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600200"/>
            <a:ext cx="1752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0" b="0">
                <a:solidFill>
                  <a:srgbClr val="27384E"/>
                </a:solidFill>
                <a:latin typeface="Aptos"/>
                <a:ea typeface="Aptos"/>
                <a:cs typeface="Aptos"/>
              </a:defRPr>
            </a:pPr>
            <a:r>
              <a:rPr sz="630" b="0">
                <a:solidFill>
                  <a:srgbClr val="27384E"/>
                </a:solidFill>
                <a:latin typeface="Aptos"/>
                <a:ea typeface="Aptos"/>
                <a:cs typeface="Aptos"/>
              </a:rPr>
              <a:t>形成热冷分层，支持后续专家流式访问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D34DDBA-204F-4CC2-8350-CD70502CE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33550"/>
            <a:ext cx="1104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A"/>
          </a:solidFill>
          <a:ln xmlns:a="http://schemas.openxmlformats.org/drawingml/2006/main" w="9525">
            <a:solidFill>
              <a:srgbClr val="D2DDF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51616A9-9520-4FC9-8555-7B82A7E3A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752600"/>
            <a:ext cx="10287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0" b="1">
                <a:solidFill>
                  <a:srgbClr val="27384E"/>
                </a:solidFill>
                <a:latin typeface="Aptos"/>
                <a:ea typeface="Aptos"/>
                <a:cs typeface="Aptos"/>
              </a:defRPr>
            </a:pPr>
            <a:r>
              <a:rPr sz="630" b="1">
                <a:solidFill>
                  <a:srgbClr val="27384E"/>
                </a:solidFill>
                <a:latin typeface="Aptos"/>
                <a:ea typeface="Aptos"/>
                <a:cs typeface="Aptos"/>
              </a:rPr>
              <a:t>优化实现 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CF808D7-1A9B-4931-AAEF-B4DAEEE8A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733550"/>
            <a:ext cx="180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A"/>
          </a:solidFill>
          <a:ln xmlns:a="http://schemas.openxmlformats.org/drawingml/2006/main" w="9525">
            <a:solidFill>
              <a:srgbClr val="D2DDF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61F3381-07DA-4B3C-99B4-09509C8E8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752600"/>
            <a:ext cx="1733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0" b="0">
                <a:solidFill>
                  <a:srgbClr val="27384E"/>
                </a:solidFill>
                <a:latin typeface="Aptos"/>
                <a:ea typeface="Aptos"/>
                <a:cs typeface="Aptos"/>
              </a:defRPr>
            </a:pPr>
            <a:r>
              <a:rPr sz="630" b="0">
                <a:solidFill>
                  <a:srgbClr val="27384E"/>
                </a:solidFill>
                <a:latin typeface="Aptos"/>
                <a:ea typeface="Aptos"/>
                <a:cs typeface="Aptos"/>
              </a:rPr>
              <a:t>显式管理专家读取路径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8CFC2A5-AF67-4C87-BBDB-1A6144A4F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33550"/>
            <a:ext cx="1924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A"/>
          </a:solidFill>
          <a:ln xmlns:a="http://schemas.openxmlformats.org/drawingml/2006/main" w="9525">
            <a:solidFill>
              <a:srgbClr val="D2DDF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77588DC-5D98-4368-9941-31E83BA21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752600"/>
            <a:ext cx="1847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0" b="0">
                <a:solidFill>
                  <a:srgbClr val="12803C"/>
                </a:solidFill>
                <a:latin typeface="Aptos"/>
                <a:ea typeface="Aptos"/>
                <a:cs typeface="Aptos"/>
              </a:defRPr>
            </a:pPr>
            <a:r>
              <a:rPr sz="630" b="0">
                <a:solidFill>
                  <a:srgbClr val="12803C"/>
                </a:solidFill>
                <a:latin typeface="Aptos"/>
                <a:ea typeface="Aptos"/>
                <a:cs typeface="Aptos"/>
              </a:rPr>
              <a:t>manifest + chunked pread + load path 统计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7BBCAB8-EBE7-425A-86B0-A6ECA1B76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733550"/>
            <a:ext cx="1828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A"/>
          </a:solidFill>
          <a:ln xmlns:a="http://schemas.openxmlformats.org/drawingml/2006/main" w="9525">
            <a:solidFill>
              <a:srgbClr val="D2DDF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BDAA8AA-042A-42EC-882D-F7B13699C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752600"/>
            <a:ext cx="1752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0" b="0">
                <a:solidFill>
                  <a:srgbClr val="27384E"/>
                </a:solidFill>
                <a:latin typeface="Aptos"/>
                <a:ea typeface="Aptos"/>
                <a:cs typeface="Aptos"/>
              </a:defRPr>
            </a:pPr>
            <a:r>
              <a:rPr sz="630" b="0">
                <a:solidFill>
                  <a:srgbClr val="27384E"/>
                </a:solidFill>
                <a:latin typeface="Aptos"/>
                <a:ea typeface="Aptos"/>
                <a:cs typeface="Aptos"/>
              </a:rPr>
              <a:t>可分析 cold load、带宽和 miss 成本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67397ED-3FC9-485A-880C-0FEFE5EB1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85950"/>
            <a:ext cx="1104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D2DDF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767F69F-536F-464A-BC05-F5276F647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905000"/>
            <a:ext cx="10287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0" b="1">
                <a:solidFill>
                  <a:srgbClr val="27384E"/>
                </a:solidFill>
                <a:latin typeface="Aptos"/>
                <a:ea typeface="Aptos"/>
                <a:cs typeface="Aptos"/>
              </a:defRPr>
            </a:pPr>
            <a:r>
              <a:rPr sz="630" b="1">
                <a:solidFill>
                  <a:srgbClr val="27384E"/>
                </a:solidFill>
                <a:latin typeface="Aptos"/>
                <a:ea typeface="Aptos"/>
                <a:cs typeface="Aptos"/>
              </a:rPr>
              <a:t>优化实现 2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E3E6563-2FA8-4386-A247-86EA4B2C2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885950"/>
            <a:ext cx="180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D2DDF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C6F54BB-D422-4B65-93D2-34915A81D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905000"/>
            <a:ext cx="1733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0" b="0">
                <a:solidFill>
                  <a:srgbClr val="27384E"/>
                </a:solidFill>
                <a:latin typeface="Aptos"/>
                <a:ea typeface="Aptos"/>
                <a:cs typeface="Aptos"/>
              </a:defRPr>
            </a:pPr>
            <a:r>
              <a:rPr sz="630" b="0">
                <a:solidFill>
                  <a:srgbClr val="27384E"/>
                </a:solidFill>
                <a:latin typeface="Aptos"/>
                <a:ea typeface="Aptos"/>
                <a:cs typeface="Aptos"/>
              </a:rPr>
              <a:t>显式管理专家复用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1C2AC5F-3F32-4A77-8CC6-A5E208B18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885950"/>
            <a:ext cx="1924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D2DDF0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46D02F6-5B5A-456E-A35F-993700261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905000"/>
            <a:ext cx="1847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0" b="0">
                <a:solidFill>
                  <a:srgbClr val="12803C"/>
                </a:solidFill>
                <a:latin typeface="Aptos"/>
                <a:ea typeface="Aptos"/>
                <a:cs typeface="Aptos"/>
              </a:defRPr>
            </a:pPr>
            <a:r>
              <a:rPr sz="630" b="0">
                <a:solidFill>
                  <a:srgbClr val="12803C"/>
                </a:solidFill>
                <a:latin typeface="Aptos"/>
                <a:ea typeface="Aptos"/>
                <a:cs typeface="Aptos"/>
              </a:rPr>
              <a:t>compute-ready hot expert cache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CEB6190-A660-4E9C-8EA8-FFE958FC1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885950"/>
            <a:ext cx="1828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D2DDF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5A0ADE2-5CAA-4227-8F45-E452CACBA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905000"/>
            <a:ext cx="1752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0" b="0">
                <a:solidFill>
                  <a:srgbClr val="27384E"/>
                </a:solidFill>
                <a:latin typeface="Aptos"/>
                <a:ea typeface="Aptos"/>
                <a:cs typeface="Aptos"/>
              </a:defRPr>
            </a:pPr>
            <a:r>
              <a:rPr sz="630" b="0">
                <a:solidFill>
                  <a:srgbClr val="27384E"/>
                </a:solidFill>
                <a:latin typeface="Aptos"/>
                <a:ea typeface="Aptos"/>
                <a:cs typeface="Aptos"/>
              </a:rPr>
              <a:t>减少重复解包/搬运，提升命中收益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8B65923-D631-4091-A67C-631CA41E4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38350"/>
            <a:ext cx="1104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A"/>
          </a:solidFill>
          <a:ln xmlns:a="http://schemas.openxmlformats.org/drawingml/2006/main" w="9525">
            <a:solidFill>
              <a:srgbClr val="D2DDF0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9E71547-03DB-4EB1-8D39-42D5EE80D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057400"/>
            <a:ext cx="10287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0" b="1">
                <a:solidFill>
                  <a:srgbClr val="27384E"/>
                </a:solidFill>
                <a:latin typeface="Aptos"/>
                <a:ea typeface="Aptos"/>
                <a:cs typeface="Aptos"/>
              </a:defRPr>
            </a:pPr>
            <a:r>
              <a:rPr sz="630" b="1">
                <a:solidFill>
                  <a:srgbClr val="27384E"/>
                </a:solidFill>
                <a:latin typeface="Aptos"/>
                <a:ea typeface="Aptos"/>
                <a:cs typeface="Aptos"/>
              </a:rPr>
              <a:t>优化实现 3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2A488F3-74FE-48EE-AE98-DAC996BEA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038350"/>
            <a:ext cx="180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A"/>
          </a:solidFill>
          <a:ln xmlns:a="http://schemas.openxmlformats.org/drawingml/2006/main" w="9525">
            <a:solidFill>
              <a:srgbClr val="D2DDF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F8AFF1E-DB6B-433A-9D46-021AE2288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057400"/>
            <a:ext cx="1733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0" b="0">
                <a:solidFill>
                  <a:srgbClr val="27384E"/>
                </a:solidFill>
                <a:latin typeface="Aptos"/>
                <a:ea typeface="Aptos"/>
                <a:cs typeface="Aptos"/>
              </a:defRPr>
            </a:pPr>
            <a:r>
              <a:rPr sz="630" b="0">
                <a:solidFill>
                  <a:srgbClr val="27384E"/>
                </a:solidFill>
                <a:latin typeface="Aptos"/>
                <a:ea typeface="Aptos"/>
                <a:cs typeface="Aptos"/>
              </a:rPr>
              <a:t>拆开 decode 热路径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7298F0C-2ADB-412E-A289-5CE36531F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038350"/>
            <a:ext cx="1924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A"/>
          </a:solidFill>
          <a:ln xmlns:a="http://schemas.openxmlformats.org/drawingml/2006/main" w="9525">
            <a:solidFill>
              <a:srgbClr val="D2DDF0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FC79E2D-67D7-4ADA-BD45-E86AC4C00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057400"/>
            <a:ext cx="1847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0" b="0">
                <a:solidFill>
                  <a:srgbClr val="12803C"/>
                </a:solidFill>
                <a:latin typeface="Aptos"/>
                <a:ea typeface="Aptos"/>
                <a:cs typeface="Aptos"/>
              </a:defRPr>
            </a:pPr>
            <a:r>
              <a:rPr sz="630" b="0">
                <a:solidFill>
                  <a:srgbClr val="12803C"/>
                </a:solidFill>
                <a:latin typeface="Aptos"/>
                <a:ea typeface="Aptos"/>
                <a:cs typeface="Aptos"/>
              </a:rPr>
              <a:t>route / load / unpack / compute / combine 分段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37EC2B2-0652-4F0A-AEBF-81BF048D4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038350"/>
            <a:ext cx="1828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A"/>
          </a:solidFill>
          <a:ln xmlns:a="http://schemas.openxmlformats.org/drawingml/2006/main" w="9525">
            <a:solidFill>
              <a:srgbClr val="D2DDF0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33EA40A-F16B-46C4-902E-363E0A3D3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057400"/>
            <a:ext cx="1752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0" b="0">
                <a:solidFill>
                  <a:srgbClr val="27384E"/>
                </a:solidFill>
                <a:latin typeface="Aptos"/>
                <a:ea typeface="Aptos"/>
                <a:cs typeface="Aptos"/>
              </a:defRPr>
            </a:pPr>
            <a:r>
              <a:rPr sz="630" b="0">
                <a:solidFill>
                  <a:srgbClr val="27384E"/>
                </a:solidFill>
                <a:latin typeface="Aptos"/>
                <a:ea typeface="Aptos"/>
                <a:cs typeface="Aptos"/>
              </a:rPr>
              <a:t>能直接定位阶段性瓶颈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3A89544-FACE-4662-96F9-707012529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1104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D2DDF0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A9CD486-ABAB-4C27-A1BB-7278B179C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209800"/>
            <a:ext cx="10287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0" b="1">
                <a:solidFill>
                  <a:srgbClr val="27384E"/>
                </a:solidFill>
                <a:latin typeface="Aptos"/>
                <a:ea typeface="Aptos"/>
                <a:cs typeface="Aptos"/>
              </a:defRPr>
            </a:pPr>
            <a:r>
              <a:rPr sz="630" b="1">
                <a:solidFill>
                  <a:srgbClr val="27384E"/>
                </a:solidFill>
                <a:latin typeface="Aptos"/>
                <a:ea typeface="Aptos"/>
                <a:cs typeface="Aptos"/>
              </a:rPr>
              <a:t>优化实现 4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55EB55C-77EB-49F6-A0B3-3A05D02B6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190750"/>
            <a:ext cx="180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D2DDF0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676A126-D89B-4050-9FE5-6403DF505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209800"/>
            <a:ext cx="1733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0" b="0">
                <a:solidFill>
                  <a:srgbClr val="27384E"/>
                </a:solidFill>
                <a:latin typeface="Aptos"/>
                <a:ea typeface="Aptos"/>
                <a:cs typeface="Aptos"/>
              </a:defRPr>
            </a:pPr>
            <a:r>
              <a:rPr sz="630" b="0">
                <a:solidFill>
                  <a:srgbClr val="27384E"/>
                </a:solidFill>
                <a:latin typeface="Aptos"/>
                <a:ea typeface="Aptos"/>
                <a:cs typeface="Aptos"/>
              </a:rPr>
              <a:t>稳定 prefill/decode 执行行为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4935B76-CCF9-4DDF-801C-81C7B7491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190750"/>
            <a:ext cx="1924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D2DDF0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C5AB233-3F4C-4DE3-A612-6F49E36EB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209800"/>
            <a:ext cx="1847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0" b="0">
                <a:solidFill>
                  <a:srgbClr val="12803C"/>
                </a:solidFill>
                <a:latin typeface="Aptos"/>
                <a:ea typeface="Aptos"/>
                <a:cs typeface="Aptos"/>
              </a:defRPr>
            </a:pPr>
            <a:r>
              <a:rPr sz="630" b="0">
                <a:solidFill>
                  <a:srgbClr val="12803C"/>
                </a:solidFill>
                <a:latin typeface="Aptos"/>
                <a:ea typeface="Aptos"/>
                <a:cs typeface="Aptos"/>
              </a:rPr>
              <a:t>dense 常驻 UMA + experts 流式调度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C4A1270-68FC-46EA-9CEB-176C5F6B5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190750"/>
            <a:ext cx="1828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D2DDF0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8AB22B4-B2BC-4B36-AE1E-69B4750AF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209800"/>
            <a:ext cx="1752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0" b="0">
                <a:solidFill>
                  <a:srgbClr val="27384E"/>
                </a:solidFill>
                <a:latin typeface="Aptos"/>
                <a:ea typeface="Aptos"/>
                <a:cs typeface="Aptos"/>
              </a:defRPr>
            </a:pPr>
            <a:r>
              <a:rPr sz="630" b="0">
                <a:solidFill>
                  <a:srgbClr val="27384E"/>
                </a:solidFill>
                <a:latin typeface="Aptos"/>
                <a:ea typeface="Aptos"/>
                <a:cs typeface="Aptos"/>
              </a:rPr>
              <a:t>减少无关参数参与热路径，提升吞吐稳定性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28D3F89-7428-4CB7-A9FB-306D1E18C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43150"/>
            <a:ext cx="1104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A"/>
          </a:solidFill>
          <a:ln xmlns:a="http://schemas.openxmlformats.org/drawingml/2006/main" w="9525">
            <a:solidFill>
              <a:srgbClr val="D2DDF0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055EFD4-CCDB-418C-A72E-C38E039B3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362200"/>
            <a:ext cx="10287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0" b="1">
                <a:solidFill>
                  <a:srgbClr val="27384E"/>
                </a:solidFill>
                <a:latin typeface="Aptos"/>
                <a:ea typeface="Aptos"/>
                <a:cs typeface="Aptos"/>
              </a:defRPr>
            </a:pPr>
            <a:r>
              <a:rPr sz="630" b="1">
                <a:solidFill>
                  <a:srgbClr val="27384E"/>
                </a:solidFill>
                <a:latin typeface="Aptos"/>
                <a:ea typeface="Aptos"/>
                <a:cs typeface="Aptos"/>
              </a:rPr>
              <a:t>优化实现 5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7BB745E-54FA-417E-9692-F8E87C8B8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343150"/>
            <a:ext cx="180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A"/>
          </a:solidFill>
          <a:ln xmlns:a="http://schemas.openxmlformats.org/drawingml/2006/main" w="9525">
            <a:solidFill>
              <a:srgbClr val="D2DDF0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948503C-FBA0-4802-8DC3-972B6AD64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362200"/>
            <a:ext cx="1733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0" b="0">
                <a:solidFill>
                  <a:srgbClr val="27384E"/>
                </a:solidFill>
                <a:latin typeface="Aptos"/>
                <a:ea typeface="Aptos"/>
                <a:cs typeface="Aptos"/>
              </a:defRPr>
            </a:pPr>
            <a:r>
              <a:rPr sz="630" b="0">
                <a:solidFill>
                  <a:srgbClr val="27384E"/>
                </a:solidFill>
                <a:latin typeface="Aptos"/>
                <a:ea typeface="Aptos"/>
                <a:cs typeface="Aptos"/>
              </a:rPr>
              <a:t>把实验代码变成可演进 runtime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23B1F0A-215E-4E9C-B671-96BF38F54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43150"/>
            <a:ext cx="1924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A"/>
          </a:solidFill>
          <a:ln xmlns:a="http://schemas.openxmlformats.org/drawingml/2006/main" w="9525">
            <a:solidFill>
              <a:srgbClr val="D2DDF0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1A4EF83-E1E8-4D4E-9995-5BA17B447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362200"/>
            <a:ext cx="1847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0" b="0">
                <a:solidFill>
                  <a:srgbClr val="12803C"/>
                </a:solidFill>
                <a:latin typeface="Aptos"/>
                <a:ea typeface="Aptos"/>
                <a:cs typeface="Aptos"/>
              </a:defRPr>
            </a:pPr>
            <a:r>
              <a:rPr sz="630" b="0">
                <a:solidFill>
                  <a:srgbClr val="12803C"/>
                </a:solidFill>
                <a:latin typeface="Aptos"/>
                <a:ea typeface="Aptos"/>
                <a:cs typeface="Aptos"/>
              </a:rPr>
              <a:t>engine / session / service 分层 + profiling hooks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AEE0D67-F2CD-4FE1-8754-ED8018748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343150"/>
            <a:ext cx="1828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A"/>
          </a:solidFill>
          <a:ln xmlns:a="http://schemas.openxmlformats.org/drawingml/2006/main" w="9525">
            <a:solidFill>
              <a:srgbClr val="D2DDF0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B3727F7-E03B-499A-85C4-C1506002A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362200"/>
            <a:ext cx="1752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0" b="0">
                <a:solidFill>
                  <a:srgbClr val="27384E"/>
                </a:solidFill>
                <a:latin typeface="Aptos"/>
                <a:ea typeface="Aptos"/>
                <a:cs typeface="Aptos"/>
              </a:defRPr>
            </a:pPr>
            <a:r>
              <a:rPr sz="630" b="0">
                <a:solidFill>
                  <a:srgbClr val="27384E"/>
                </a:solidFill>
                <a:latin typeface="Aptos"/>
                <a:ea typeface="Aptos"/>
                <a:cs typeface="Aptos"/>
              </a:rPr>
              <a:t>方便继续做性能分析、策略优化和产品集成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DB5F304-C979-45E7-8707-3FA64F67F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143000"/>
            <a:ext cx="1066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EF"/>
          </a:solidFill>
          <a:ln xmlns:a="http://schemas.openxmlformats.org/drawingml/2006/main" w="9525">
            <a:solidFill>
              <a:srgbClr val="D2DDF0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6284167-7A78-4CF3-837F-7AF78140E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143000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D2DDF0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78357F4-1C82-475D-B4F8-633D8005D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257300"/>
            <a:ext cx="990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2803C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2803C"/>
                </a:solidFill>
                <a:latin typeface="Aptos"/>
                <a:ea typeface="Aptos"/>
                <a:cs typeface="Aptos"/>
              </a:rPr>
              <a:t>Prefill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E5D2FDC3-73A6-4FBB-B59B-F2AB09156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200150"/>
            <a:ext cx="2952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1F314A"/>
                </a:solidFill>
                <a:latin typeface="Aptos"/>
                <a:ea typeface="Aptos"/>
                <a:cs typeface="Aptos"/>
              </a:defRPr>
            </a:pPr>
            <a:r>
              <a:rPr sz="915" b="1">
                <a:solidFill>
                  <a:srgbClr val="1F314A"/>
                </a:solidFill>
                <a:latin typeface="Aptos"/>
                <a:ea typeface="Aptos"/>
                <a:cs typeface="Aptos"/>
              </a:rPr>
              <a:t>峰值 ~396 tok/s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9CB706C-4C32-4FB9-91A6-952EA7590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333500"/>
            <a:ext cx="2952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27384E"/>
                </a:solidFill>
                <a:latin typeface="Aptos"/>
                <a:ea typeface="Aptos"/>
                <a:cs typeface="Aptos"/>
              </a:defRPr>
            </a:pPr>
            <a:r>
              <a:rPr sz="780" b="0">
                <a:solidFill>
                  <a:srgbClr val="27384E"/>
                </a:solidFill>
                <a:latin typeface="Aptos"/>
                <a:ea typeface="Aptos"/>
                <a:cs typeface="Aptos"/>
              </a:rPr>
              <a:t>2K ctx 实测最高约 396.4 tok/s；128K ctx 下降到约 290.6 tok/s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4FB1037-F9E2-4457-B6C3-E8769FA37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657350"/>
            <a:ext cx="1066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B"/>
          </a:solidFill>
          <a:ln xmlns:a="http://schemas.openxmlformats.org/drawingml/2006/main" w="9525">
            <a:solidFill>
              <a:srgbClr val="D2DDF0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1F5BD0FF-9DB7-4418-8B0D-9AE054EC8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657350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D2DDF0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B2303D0-4D90-4BEE-B8AC-1C5D59816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71650"/>
            <a:ext cx="990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E68600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E68600"/>
                </a:solidFill>
                <a:latin typeface="Aptos"/>
                <a:ea typeface="Aptos"/>
                <a:cs typeface="Aptos"/>
              </a:rPr>
              <a:t>Decode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61A35267-18E2-4326-9AD3-5D8967982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714500"/>
            <a:ext cx="2952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1F314A"/>
                </a:solidFill>
                <a:latin typeface="Aptos"/>
                <a:ea typeface="Aptos"/>
                <a:cs typeface="Aptos"/>
              </a:defRPr>
            </a:pPr>
            <a:r>
              <a:rPr sz="915" b="1">
                <a:solidFill>
                  <a:srgbClr val="1F314A"/>
                </a:solidFill>
                <a:latin typeface="Aptos"/>
                <a:ea typeface="Aptos"/>
                <a:cs typeface="Aptos"/>
              </a:rPr>
              <a:t>10.7–16.1 tok/s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B0691C0B-0C77-479C-8F02-D5987507B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847850"/>
            <a:ext cx="2952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27384E"/>
                </a:solidFill>
                <a:latin typeface="Aptos"/>
                <a:ea typeface="Aptos"/>
                <a:cs typeface="Aptos"/>
              </a:defRPr>
            </a:pPr>
            <a:r>
              <a:rPr sz="780" b="0">
                <a:solidFill>
                  <a:srgbClr val="27384E"/>
                </a:solidFill>
                <a:latin typeface="Aptos"/>
                <a:ea typeface="Aptos"/>
                <a:cs typeface="Aptos"/>
              </a:rPr>
              <a:t>128 ctx 约 16.1 tok/s；128K ctx 约 10.7 tok/s，仍明显受长上下文影响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B1C60AB0-D12E-4DE1-B758-751B2E5B1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171700"/>
            <a:ext cx="1066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CEC"/>
          </a:solidFill>
          <a:ln xmlns:a="http://schemas.openxmlformats.org/drawingml/2006/main" w="9525">
            <a:solidFill>
              <a:srgbClr val="D2DDF0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39A641D1-7A1B-476F-9A48-8E0E01B31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171700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D2DDF0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10C6BC9E-C219-4295-8732-7603E46D5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286000"/>
            <a:ext cx="990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C93A2B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C93A2B"/>
                </a:solidFill>
                <a:latin typeface="Aptos"/>
                <a:ea typeface="Aptos"/>
                <a:cs typeface="Aptos"/>
              </a:rPr>
              <a:t>体验差距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766AE7A4-17EA-4CCE-9096-7C2EBA57F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228850"/>
            <a:ext cx="2952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1F314A"/>
                </a:solidFill>
                <a:latin typeface="Aptos"/>
                <a:ea typeface="Aptos"/>
                <a:cs typeface="Aptos"/>
              </a:defRPr>
            </a:pPr>
            <a:r>
              <a:rPr sz="915" b="1">
                <a:solidFill>
                  <a:srgbClr val="1F314A"/>
                </a:solidFill>
                <a:latin typeface="Aptos"/>
                <a:ea typeface="Aptos"/>
                <a:cs typeface="Aptos"/>
              </a:rPr>
              <a:t>仍低于产品预期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C1CDFCB8-80E1-4F92-B78C-003D2ED7C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362200"/>
            <a:ext cx="2952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27384E"/>
                </a:solidFill>
                <a:latin typeface="Aptos"/>
                <a:ea typeface="Aptos"/>
                <a:cs typeface="Aptos"/>
              </a:defRPr>
            </a:pPr>
            <a:r>
              <a:rPr sz="780" b="0">
                <a:solidFill>
                  <a:srgbClr val="27384E"/>
                </a:solidFill>
                <a:latin typeface="Aptos"/>
                <a:ea typeface="Aptos"/>
                <a:cs typeface="Aptos"/>
              </a:rPr>
              <a:t>复杂 reasoning、多轮工具、长文档任务下，用户感知瓶颈已从“能不能跑”转向“够不够快、够不够强”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01A4607F-1EB3-42C5-A1BB-311F12403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686050"/>
            <a:ext cx="421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D"/>
          </a:solidFill>
          <a:ln xmlns:a="http://schemas.openxmlformats.org/drawingml/2006/main" w="9525">
            <a:solidFill>
              <a:srgbClr val="D2DDF0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3E2E90DE-C562-4C18-966D-C53ECF805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724150"/>
            <a:ext cx="40195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55" b="1">
                <a:solidFill>
                  <a:srgbClr val="1F314A"/>
                </a:solidFill>
                <a:latin typeface="Aptos"/>
                <a:ea typeface="Aptos"/>
                <a:cs typeface="Aptos"/>
              </a:defRPr>
            </a:pPr>
            <a:r>
              <a:rPr sz="855" b="1">
                <a:solidFill>
                  <a:srgbClr val="1F314A"/>
                </a:solidFill>
                <a:latin typeface="Aptos"/>
                <a:ea typeface="Aptos"/>
                <a:cs typeface="Aptos"/>
              </a:rPr>
              <a:t>实测说明：后端侧已经被我们优化到“可运行且可量化”，但仍不足以单独承担完整高质量体验。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020BB564-2CDB-4469-AA5D-C594AFC10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314700"/>
            <a:ext cx="116586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2DDF0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BD7F9450-26AD-4402-A44E-311230F0A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990850"/>
            <a:ext cx="11658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FBF"/>
          </a:solidFill>
          <a:ln xmlns:a="http://schemas.openxmlformats.org/drawingml/2006/main" w="10478">
            <a:solidFill>
              <a:srgbClr val="1E5FBF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A7BE127A-91A9-402F-8169-DAB23A046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57525"/>
            <a:ext cx="11391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代表性实测数据：短上下文可用，长上下文与复杂任务仍明显掉体验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B3767081-4587-46AC-BFB6-2ED2C713B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48050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D2DDF0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92A451A8-597E-4F2A-B174-205E72585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514725"/>
            <a:ext cx="1181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10" b="1">
                <a:solidFill>
                  <a:srgbClr val="1F314A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1F314A"/>
                </a:solidFill>
                <a:latin typeface="Aptos"/>
                <a:ea typeface="Aptos"/>
                <a:cs typeface="Aptos"/>
              </a:rPr>
              <a:t>Context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E18D3C84-A79A-4E74-81F2-C8B8ABB76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448050"/>
            <a:ext cx="1371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D2DDF0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F99ECE26-BF49-4014-BC01-E63A50D7B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514725"/>
            <a:ext cx="1295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10" b="1">
                <a:solidFill>
                  <a:srgbClr val="1F314A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1F314A"/>
                </a:solidFill>
                <a:latin typeface="Aptos"/>
                <a:ea typeface="Aptos"/>
                <a:cs typeface="Aptos"/>
              </a:rPr>
              <a:t>Prefill TPS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1FCD30A1-91E6-4280-BD83-2BAE49AFC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448050"/>
            <a:ext cx="1371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D2DDF0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82BC9FA0-18A4-4E43-B267-4BD6CE26C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514725"/>
            <a:ext cx="1295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10" b="1">
                <a:solidFill>
                  <a:srgbClr val="1F314A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1F314A"/>
                </a:solidFill>
                <a:latin typeface="Aptos"/>
                <a:ea typeface="Aptos"/>
                <a:cs typeface="Aptos"/>
              </a:rPr>
              <a:t>Decode TPS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4440C46F-1D41-4DCE-AAE1-B87D7EBB2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448050"/>
            <a:ext cx="2362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D2DDF0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620D2043-65A6-4FDF-8ADC-8548E6865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514725"/>
            <a:ext cx="2286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10" b="1">
                <a:solidFill>
                  <a:srgbClr val="1F314A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1F314A"/>
                </a:solidFill>
                <a:latin typeface="Aptos"/>
                <a:ea typeface="Aptos"/>
                <a:cs typeface="Aptos"/>
              </a:rPr>
              <a:t>端侧表现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44255747-39B0-4821-8BC5-74C96F465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48050"/>
            <a:ext cx="2438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D2DDF0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44C6F4EC-5171-41D5-A18A-37FD53EC2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514725"/>
            <a:ext cx="2362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10" b="1">
                <a:solidFill>
                  <a:srgbClr val="1F314A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1F314A"/>
                </a:solidFill>
                <a:latin typeface="Aptos"/>
                <a:ea typeface="Aptos"/>
                <a:cs typeface="Aptos"/>
              </a:rPr>
              <a:t>用户感知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3511F1B1-7052-4407-879F-3603D8E87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448050"/>
            <a:ext cx="2457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D2DDF0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4013CAC0-87CF-4B95-AE83-509114C91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514725"/>
            <a:ext cx="2381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10" b="1">
                <a:solidFill>
                  <a:srgbClr val="1F314A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1F314A"/>
                </a:solidFill>
                <a:latin typeface="Aptos"/>
                <a:ea typeface="Aptos"/>
                <a:cs typeface="Aptos"/>
              </a:rPr>
              <a:t>结论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AA375854-EAD8-4F87-A979-2A6D76C1B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1257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A"/>
          </a:solidFill>
          <a:ln xmlns:a="http://schemas.openxmlformats.org/drawingml/2006/main" w="9525">
            <a:solidFill>
              <a:srgbClr val="D2DDF0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7B6DEC97-1387-4773-BFAE-43B7F706F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733800"/>
            <a:ext cx="1181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27384E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27384E"/>
                </a:solidFill>
                <a:latin typeface="Aptos"/>
                <a:ea typeface="Aptos"/>
                <a:cs typeface="Aptos"/>
              </a:rPr>
              <a:t>128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8877C7A4-EE3D-4FBC-9C0A-81C6B9A84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714750"/>
            <a:ext cx="1371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A"/>
          </a:solidFill>
          <a:ln xmlns:a="http://schemas.openxmlformats.org/drawingml/2006/main" w="9525">
            <a:solidFill>
              <a:srgbClr val="D2DDF0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7D5EE7D9-3384-4165-B50B-CB3103DCE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733800"/>
            <a:ext cx="1295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60" b="0">
                <a:solidFill>
                  <a:srgbClr val="12803C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12803C"/>
                </a:solidFill>
                <a:latin typeface="Aptos"/>
                <a:ea typeface="Aptos"/>
                <a:cs typeface="Aptos"/>
              </a:rPr>
              <a:t>148.98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E87B3238-3D95-49EC-A58C-62BF6E3AB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714750"/>
            <a:ext cx="1371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A"/>
          </a:solidFill>
          <a:ln xmlns:a="http://schemas.openxmlformats.org/drawingml/2006/main" w="9525">
            <a:solidFill>
              <a:srgbClr val="D2DDF0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3BF9BBE5-32A8-4DEC-969C-4A6B50F70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733800"/>
            <a:ext cx="1295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60" b="0">
                <a:solidFill>
                  <a:srgbClr val="12803C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12803C"/>
                </a:solidFill>
                <a:latin typeface="Aptos"/>
                <a:ea typeface="Aptos"/>
                <a:cs typeface="Aptos"/>
              </a:rPr>
              <a:t>16.12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76268660-E7D8-4B51-9260-B1AA16271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714750"/>
            <a:ext cx="2362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A"/>
          </a:solidFill>
          <a:ln xmlns:a="http://schemas.openxmlformats.org/drawingml/2006/main" w="9525">
            <a:solidFill>
              <a:srgbClr val="D2DDF0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DBE2DCE4-3257-4B99-9F0F-E6A8E8A15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733800"/>
            <a:ext cx="2286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60" b="0">
                <a:solidFill>
                  <a:srgbClr val="27384E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27384E"/>
                </a:solidFill>
                <a:latin typeface="Aptos"/>
                <a:ea typeface="Aptos"/>
                <a:cs typeface="Aptos"/>
              </a:rPr>
              <a:t>首响可接受，但 prefill 还未进入甜点区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370474BF-E4DE-441D-98DA-434AAF2A7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14750"/>
            <a:ext cx="2438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A"/>
          </a:solidFill>
          <a:ln xmlns:a="http://schemas.openxmlformats.org/drawingml/2006/main" w="9525">
            <a:solidFill>
              <a:srgbClr val="D2DDF0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8CEBB1C3-447A-42B2-B63E-954A53703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733800"/>
            <a:ext cx="2362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60" b="0">
                <a:solidFill>
                  <a:srgbClr val="27384E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27384E"/>
                </a:solidFill>
                <a:latin typeface="Aptos"/>
                <a:ea typeface="Aptos"/>
                <a:cs typeface="Aptos"/>
              </a:rPr>
              <a:t>轻问答可用，回复速度一般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7827563C-DB53-40A0-9355-FE0DCA486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714750"/>
            <a:ext cx="2457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A"/>
          </a:solidFill>
          <a:ln xmlns:a="http://schemas.openxmlformats.org/drawingml/2006/main" w="9525">
            <a:solidFill>
              <a:srgbClr val="D2DDF0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273CA050-6616-401F-A73E-FAA8DA7B8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733800"/>
            <a:ext cx="2381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60" b="0">
                <a:solidFill>
                  <a:srgbClr val="C93A2B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C93A2B"/>
                </a:solidFill>
                <a:latin typeface="Aptos"/>
                <a:ea typeface="Aptos"/>
                <a:cs typeface="Aptos"/>
              </a:rPr>
              <a:t>证明本地跑通了，但还不是高质量体验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C3B2448F-D84C-4524-8E97-B13EB58EB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67150"/>
            <a:ext cx="1257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D2DDF0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376BF846-3302-4C84-BC6A-480BB5717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886200"/>
            <a:ext cx="1181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27384E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27384E"/>
                </a:solidFill>
                <a:latin typeface="Aptos"/>
                <a:ea typeface="Aptos"/>
                <a:cs typeface="Aptos"/>
              </a:rPr>
              <a:t>2,048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8B006A8A-990B-4A16-B666-A246B4EF0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867150"/>
            <a:ext cx="1371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D2DDF0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87C2F4E6-1088-45F8-AE93-43E9D500D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886200"/>
            <a:ext cx="1295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60" b="0">
                <a:solidFill>
                  <a:srgbClr val="12803C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12803C"/>
                </a:solidFill>
                <a:latin typeface="Aptos"/>
                <a:ea typeface="Aptos"/>
                <a:cs typeface="Aptos"/>
              </a:rPr>
              <a:t>396.40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69BB767E-45AE-4197-A24F-245EB21E3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67150"/>
            <a:ext cx="1371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D2DDF0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D3CDFC75-C67B-4429-BDD8-9C43CAB20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886200"/>
            <a:ext cx="1295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60" b="0">
                <a:solidFill>
                  <a:srgbClr val="12803C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12803C"/>
                </a:solidFill>
                <a:latin typeface="Aptos"/>
                <a:ea typeface="Aptos"/>
                <a:cs typeface="Aptos"/>
              </a:rPr>
              <a:t>14.58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4394B190-592E-418A-A031-12457D574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67150"/>
            <a:ext cx="2362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D2DDF0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046F5908-102C-426F-B4BE-2AA6EAC1E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886200"/>
            <a:ext cx="2286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60" b="0">
                <a:solidFill>
                  <a:srgbClr val="27384E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27384E"/>
                </a:solidFill>
                <a:latin typeface="Aptos"/>
                <a:ea typeface="Aptos"/>
                <a:cs typeface="Aptos"/>
              </a:rPr>
              <a:t>当前 GB10 端侧最优工作点之一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D208E213-DE66-4E35-A00B-67F063391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67150"/>
            <a:ext cx="2438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D2DDF0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C97AFF23-D4BB-4288-87BE-7931908F0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86200"/>
            <a:ext cx="2362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60" b="0">
                <a:solidFill>
                  <a:srgbClr val="27384E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27384E"/>
                </a:solidFill>
                <a:latin typeface="Aptos"/>
                <a:ea typeface="Aptos"/>
                <a:cs typeface="Aptos"/>
              </a:rPr>
              <a:t>常见问答可运行，但复杂任务仍偏慢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B7E3019D-44DC-4C8C-AE30-C123B9D27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867150"/>
            <a:ext cx="2457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D2DDF0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A623F147-0D23-4F88-9DD7-7E2741FC3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86200"/>
            <a:ext cx="2381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60" b="0">
                <a:solidFill>
                  <a:srgbClr val="C93A2B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C93A2B"/>
                </a:solidFill>
                <a:latin typeface="Aptos"/>
                <a:ea typeface="Aptos"/>
                <a:cs typeface="Aptos"/>
              </a:rPr>
              <a:t>后端优化已基本释放短上下文硬件潜力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C8DD2BE8-1B8F-4B3A-9872-01D9CB3C8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19550"/>
            <a:ext cx="1257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A"/>
          </a:solidFill>
          <a:ln xmlns:a="http://schemas.openxmlformats.org/drawingml/2006/main" w="9525">
            <a:solidFill>
              <a:srgbClr val="D2DDF0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69ECCCD6-583F-49E6-8246-E2A6CE26A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038600"/>
            <a:ext cx="1181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27384E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27384E"/>
                </a:solidFill>
                <a:latin typeface="Aptos"/>
                <a:ea typeface="Aptos"/>
                <a:cs typeface="Aptos"/>
              </a:rPr>
              <a:t>131,072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57D0E30E-538A-497F-A84B-C59E26388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019550"/>
            <a:ext cx="1371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A"/>
          </a:solidFill>
          <a:ln xmlns:a="http://schemas.openxmlformats.org/drawingml/2006/main" w="9525">
            <a:solidFill>
              <a:srgbClr val="D2DDF0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645A2010-91CC-4481-9DFC-9C0C01321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038600"/>
            <a:ext cx="1295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60" b="0">
                <a:solidFill>
                  <a:srgbClr val="12803C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12803C"/>
                </a:solidFill>
                <a:latin typeface="Aptos"/>
                <a:ea typeface="Aptos"/>
                <a:cs typeface="Aptos"/>
              </a:rPr>
              <a:t>290.63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64BEA526-9B12-4201-AD59-AEE4683B7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019550"/>
            <a:ext cx="1371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A"/>
          </a:solidFill>
          <a:ln xmlns:a="http://schemas.openxmlformats.org/drawingml/2006/main" w="9525">
            <a:solidFill>
              <a:srgbClr val="D2DDF0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867ED570-E192-45D9-80B8-ED6359B0A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038600"/>
            <a:ext cx="1295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60" b="0">
                <a:solidFill>
                  <a:srgbClr val="12803C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12803C"/>
                </a:solidFill>
                <a:latin typeface="Aptos"/>
                <a:ea typeface="Aptos"/>
                <a:cs typeface="Aptos"/>
              </a:rPr>
              <a:t>10.73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CEE45780-6A35-46D4-B802-9D9F44B83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019550"/>
            <a:ext cx="2362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A"/>
          </a:solidFill>
          <a:ln xmlns:a="http://schemas.openxmlformats.org/drawingml/2006/main" w="9525">
            <a:solidFill>
              <a:srgbClr val="D2DDF0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CDE45C36-8053-4E95-A7F9-8376E4905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038600"/>
            <a:ext cx="2286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60" b="0">
                <a:solidFill>
                  <a:srgbClr val="27384E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27384E"/>
                </a:solidFill>
                <a:latin typeface="Aptos"/>
                <a:ea typeface="Aptos"/>
                <a:cs typeface="Aptos"/>
              </a:rPr>
              <a:t>长上下文下 prefill / decode 同时退化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4E36CA13-7B3E-4231-8A09-1570DFB38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19550"/>
            <a:ext cx="2438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A"/>
          </a:solidFill>
          <a:ln xmlns:a="http://schemas.openxmlformats.org/drawingml/2006/main" w="9525">
            <a:solidFill>
              <a:srgbClr val="D2DDF0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404D9CC4-0E05-43A0-BF58-500BA0A6B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38600"/>
            <a:ext cx="2362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60" b="0">
                <a:solidFill>
                  <a:srgbClr val="27384E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27384E"/>
                </a:solidFill>
                <a:latin typeface="Aptos"/>
                <a:ea typeface="Aptos"/>
                <a:cs typeface="Aptos"/>
              </a:rPr>
              <a:t>长文档与复杂任务等待感明显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A8CA68BD-A561-4EC6-BED7-A9559CFA1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019550"/>
            <a:ext cx="2457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A"/>
          </a:solidFill>
          <a:ln xmlns:a="http://schemas.openxmlformats.org/drawingml/2006/main" w="9525">
            <a:solidFill>
              <a:srgbClr val="D2DDF0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718A63D8-D3BB-43D8-AD05-B246BFCB7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038600"/>
            <a:ext cx="2381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60" b="0">
                <a:solidFill>
                  <a:srgbClr val="C93A2B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C93A2B"/>
                </a:solidFill>
                <a:latin typeface="Aptos"/>
                <a:ea typeface="Aptos"/>
                <a:cs typeface="Aptos"/>
              </a:rPr>
              <a:t>真正缺的是模型能力与 tail latency，不只是后端实现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480C292F-422D-424F-9F43-EE875804C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667250"/>
            <a:ext cx="37338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2DDF0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FB2E4F38-5B73-4A25-9A87-C45A27846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343400"/>
            <a:ext cx="3733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FBF"/>
          </a:solidFill>
          <a:ln xmlns:a="http://schemas.openxmlformats.org/drawingml/2006/main" w="10478">
            <a:solidFill>
              <a:srgbClr val="1E5FBF"/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72293B76-A238-433F-9E95-0626EAB5D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10075"/>
            <a:ext cx="3467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离用户体验还差什么</a:t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7A758C47-25E6-4992-AE9A-34AB76B56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667250"/>
            <a:ext cx="37338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2DDF0"/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8ED3DBDB-7661-4882-A3DD-B4713A29D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343400"/>
            <a:ext cx="3733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FBF"/>
          </a:solidFill>
          <a:ln xmlns:a="http://schemas.openxmlformats.org/drawingml/2006/main" w="10478">
            <a:solidFill>
              <a:srgbClr val="1E5FBF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A622A1D1-D12B-4DB4-8AC5-37753972D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410075"/>
            <a:ext cx="3467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为什么必须补齐云端模型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D81093B4-9BC2-4B9B-AC3E-86AE2E043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667250"/>
            <a:ext cx="37338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2DDF0"/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E3925F99-24D8-440F-9DA3-A92955260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343400"/>
            <a:ext cx="3733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9D2"/>
          </a:solidFill>
          <a:ln xmlns:a="http://schemas.openxmlformats.org/drawingml/2006/main" w="10478">
            <a:solidFill>
              <a:srgbClr val="4F79D2"/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95A3C727-79AA-42A7-B18B-66893D2D5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410075"/>
            <a:ext cx="3467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推荐的产品形态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F017DF4D-47EA-4F71-B008-007BBA013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800600"/>
            <a:ext cx="152400" cy="174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73" b="1">
                <a:solidFill>
                  <a:srgbClr val="1E5FBF"/>
                </a:solidFill>
                <a:latin typeface="Aptos"/>
                <a:ea typeface="Aptos"/>
                <a:cs typeface="Aptos"/>
              </a:defRPr>
            </a:pPr>
            <a:r>
              <a:rPr sz="1073" b="1">
                <a:solidFill>
                  <a:srgbClr val="1E5FB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C86EFB3E-722E-49FE-8552-C20A35283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00600"/>
            <a:ext cx="3314700" cy="1933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27384E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27384E"/>
                </a:solidFill>
                <a:latin typeface="Aptos"/>
                <a:ea typeface="Aptos"/>
                <a:cs typeface="Aptos"/>
              </a:rPr>
              <a:t>复杂 reasoning 依赖更强模型能力，而不是仅仅更好的 cache policy。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877B9989-42E4-4EB2-A89B-4F04CD898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48250"/>
            <a:ext cx="152400" cy="174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73" b="1">
                <a:solidFill>
                  <a:srgbClr val="1E5FBF"/>
                </a:solidFill>
                <a:latin typeface="Aptos"/>
                <a:ea typeface="Aptos"/>
                <a:cs typeface="Aptos"/>
              </a:defRPr>
            </a:pPr>
            <a:r>
              <a:rPr sz="1073" b="1">
                <a:solidFill>
                  <a:srgbClr val="1E5FB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689D4981-8574-4AB6-ACB6-8A00BDDFC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48250"/>
            <a:ext cx="3314700" cy="1933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27384E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27384E"/>
                </a:solidFill>
                <a:latin typeface="Aptos"/>
                <a:ea typeface="Aptos"/>
                <a:cs typeface="Aptos"/>
              </a:rPr>
              <a:t>长上下文、多工具、多文档任务下，tail latency 与完成质量仍落后于用户预期。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D796266C-9BA3-4D97-BF1B-FEFB95563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800600"/>
            <a:ext cx="152400" cy="174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73" b="1">
                <a:solidFill>
                  <a:srgbClr val="1E5FBF"/>
                </a:solidFill>
                <a:latin typeface="Aptos"/>
                <a:ea typeface="Aptos"/>
                <a:cs typeface="Aptos"/>
              </a:defRPr>
            </a:pPr>
            <a:r>
              <a:rPr sz="1073" b="1">
                <a:solidFill>
                  <a:srgbClr val="1E5FB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FCB4AF65-DE90-4DAB-BBBB-6F20ADE70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800600"/>
            <a:ext cx="3314700" cy="1933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27384E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27384E"/>
                </a:solidFill>
                <a:latin typeface="Aptos"/>
                <a:ea typeface="Aptos"/>
                <a:cs typeface="Aptos"/>
              </a:rPr>
              <a:t>端侧负责低延迟、隐私和会话连续性。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BC3F81BB-7928-4AA6-9DED-1CCD9246B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48250"/>
            <a:ext cx="152400" cy="174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73" b="1">
                <a:solidFill>
                  <a:srgbClr val="1E5FBF"/>
                </a:solidFill>
                <a:latin typeface="Aptos"/>
                <a:ea typeface="Aptos"/>
                <a:cs typeface="Aptos"/>
              </a:defRPr>
            </a:pPr>
            <a:r>
              <a:rPr sz="1073" b="1">
                <a:solidFill>
                  <a:srgbClr val="1E5FB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DBC892FB-1FC3-4B46-A582-CCAD23F37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048250"/>
            <a:ext cx="3314700" cy="1933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27384E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27384E"/>
                </a:solidFill>
                <a:latin typeface="Aptos"/>
                <a:ea typeface="Aptos"/>
                <a:cs typeface="Aptos"/>
              </a:rPr>
              <a:t>云端负责高质量 reasoning、长上下文和复杂工具链。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5BED15BB-2025-4109-98A2-349BDD28F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800600"/>
            <a:ext cx="342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F314A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1F314A"/>
                </a:solidFill>
                <a:latin typeface="Aptos"/>
                <a:ea typeface="Aptos"/>
                <a:cs typeface="Aptos"/>
              </a:rPr>
              <a:t>最合理的形态不是“端侧替代云端”，而是 device-first + cloud-assisted：本地给首响与连续性，云端补能力上限。</a:t>
            </a:r>
          </a:p>
        </p:txBody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E32595E0-F87E-4AC0-919A-C8DF8C5B4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543550"/>
            <a:ext cx="11658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2DDF0"/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526094F6-B412-4634-B981-E50AA21E2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76900"/>
            <a:ext cx="11315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314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314A"/>
                </a:solidFill>
                <a:latin typeface="Aptos"/>
                <a:ea typeface="Aptos"/>
                <a:cs typeface="Aptos"/>
              </a:rPr>
              <a:t>核心结论：我们已经把 GB10 端侧后端优化到“能跑、能测、能迭代”的阶段，实测 prefill 峰值约 396 tok/s、decode 约 10.7–16.1 tok/s；但真正限制用户体验的，已经不只是后端实现，而是模型能力、长上下文质量和复杂任务 tail latency。因此下一步必须用云端模型补齐体验上限。</a:t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4ED7F907-F552-4179-A5A0-1C2AF3350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381750"/>
            <a:ext cx="11658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11430">
            <a:solidFill>
              <a:srgbClr val="1E5FBF"/>
            </a:solidFill>
            <a:prstDash val="dash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0A6B4509-2DD5-4889-AB45-8483C7371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48425"/>
            <a:ext cx="11353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40" b="1">
                <a:solidFill>
                  <a:srgbClr val="1F314A"/>
                </a:solidFill>
                <a:latin typeface="Aptos"/>
                <a:ea typeface="Aptos"/>
                <a:cs typeface="Aptos"/>
              </a:defRPr>
            </a:pPr>
            <a:r>
              <a:rPr sz="1140" b="1">
                <a:solidFill>
                  <a:srgbClr val="1F314A"/>
                </a:solidFill>
                <a:latin typeface="Aptos"/>
                <a:ea typeface="Aptos"/>
                <a:cs typeface="Aptos"/>
              </a:rPr>
              <a:t>Takeaway：GB10 端侧优化解决的是“本地可运行性”，云端模型补齐的是“高质量体验上限”；后续重点应转向端云协同，而不是继续单点堆本地后端优化。</a:t>
            </a:r>
          </a:p>
        </p:txBody>
      </p:sp>
    </p:spTree>
    <p:extLst>
      <p:ext uri="{BB962C8B-B14F-4D97-AF65-F5344CB8AC3E}">
        <p14:creationId xmlns:p14="http://schemas.microsoft.com/office/powerpoint/2010/main" val="16538371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2026-07-28T11:28:20.2730000Z</dcterms:created>
  <dcterms:modified xsi:type="dcterms:W3CDTF">2026-07-28T11:28:20.2740000Z</dcterms:modified>
</coreProperties>
</file>