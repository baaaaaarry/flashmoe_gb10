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44b6202a1647d6" /><Relationship Type="http://schemas.openxmlformats.org/officeDocument/2006/relationships/extended-properties" Target="/docProps/app.xml" Id="R55fe79d0b57045c9" /><Relationship Type="http://schemas.openxmlformats.org/officeDocument/2006/relationships/officeDocument" Target="/ppt/presentation.xml" Id="Rc258defb0bd444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a960ae02874f7d"/>
  </p:sldMasterIdLst>
  <p:notesMasterIdLst>
    <p:notesMasterId xmlns:r="http://schemas.openxmlformats.org/officeDocument/2006/relationships" r:id="Rc4fc50a88c614d8e"/>
  </p:notesMasterIdLst>
  <p:sldIdLst>
    <p:sldId xmlns:r="http://schemas.openxmlformats.org/officeDocument/2006/relationships" id="256" r:id="Re726998a0bbd4e4a"/>
    <p:sldId xmlns:r="http://schemas.openxmlformats.org/officeDocument/2006/relationships" id="257" r:id="R00678c6969d94b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dd17ddfa034a80" /><Relationship Type="http://schemas.openxmlformats.org/officeDocument/2006/relationships/slideMaster" Target="/ppt/slideMasters/slideMaster1.xml" Id="Rbfa960ae02874f7d" /><Relationship Type="http://schemas.openxmlformats.org/officeDocument/2006/relationships/notesMaster" Target="/ppt/notesMasters/notesMaster1.xml" Id="Rc4fc50a88c614d8e" /><Relationship Type="http://schemas.openxmlformats.org/officeDocument/2006/relationships/presProps" Target="/ppt/presProps.xml" Id="Rebb35095d7854db9" /><Relationship Type="http://schemas.openxmlformats.org/officeDocument/2006/relationships/tableStyles" Target="/ppt/tableStyles.xml" Id="R7e9acb1d11c74554" /><Relationship Type="http://schemas.openxmlformats.org/officeDocument/2006/relationships/slide" Target="/ppt/slides/slide1.xml" Id="Re726998a0bbd4e4a" /><Relationship Type="http://schemas.openxmlformats.org/officeDocument/2006/relationships/slide" Target="/ppt/slides/slide2.xml" Id="R00678c6969d94b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8f8a5b75954e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e074713e9d40e1" /><Relationship Type="http://schemas.openxmlformats.org/officeDocument/2006/relationships/notesMaster" Target="/ppt/notesMasters/notesMaster1.xml" Id="Rc343495943034a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49e0b137764916" /><Relationship Type="http://schemas.openxmlformats.org/officeDocument/2006/relationships/notesMaster" Target="/ppt/notesMasters/notesMaster1.xml" Id="Rf72d382b36c646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cdf11450c44a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dbb3c21b0643db" /><Relationship Type="http://schemas.openxmlformats.org/officeDocument/2006/relationships/slideLayout" Target="/ppt/slideLayouts/slideLayout1.xml" Id="R040243d4fa6745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0243d4fa6745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1fbb00ddf4bdd" /><Relationship Type="http://schemas.openxmlformats.org/officeDocument/2006/relationships/notesSlide" Target="/ppt/notesSlides/notesSlide1.xml" Id="R9c63a5d1005646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111ac7cd724b77" /><Relationship Type="http://schemas.openxmlformats.org/officeDocument/2006/relationships/notesSlide" Target="/ppt/notesSlides/notesSlide2.xml" Id="R196d7f680be646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BD6AA9A-39C0-48D0-981C-6DC500E0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24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324D"/>
                </a:solidFill>
                <a:latin typeface="Aptos Display"/>
                <a:ea typeface="Aptos Display"/>
                <a:cs typeface="Aptos Display"/>
              </a:rPr>
              <a:t>DS4 开源 Metal 路径如何迁移到 GB10 CUDA 生态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884C49-5590-4D8B-87B0-692694C8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A648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A6483"/>
                </a:solidFill>
                <a:latin typeface="Aptos"/>
                <a:ea typeface="Aptos"/>
                <a:cs typeface="Aptos"/>
              </a:rPr>
              <a:t>Migration blueprint · Apple Metal → GB10 CUDA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2A76D-1923-4E8A-B651-4DE61E00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3400"/>
            <a:ext cx="3759200" cy="409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CC26E-A108-4EC0-8F58-4A9FC637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3400"/>
            <a:ext cx="37592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54818-12E7-49F2-AA3F-167E7D53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19125"/>
            <a:ext cx="2520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① DS4 原始方案：Apple / Metal 假设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63768-F9A7-40B9-8256-CAE32046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300" y="600075"/>
            <a:ext cx="876300" cy="28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8D6A5-EE3E-4DBE-83C9-FC0E6FFD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300" y="6191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FEC0D-BC5F-4CFE-881B-E4E80F85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6400" y="533400"/>
            <a:ext cx="3759200" cy="409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3A035-43CA-4275-B4A2-909CECD2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6400" y="533400"/>
            <a:ext cx="37592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C87EC-F433-4823-AC36-8F6D3377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619125"/>
            <a:ext cx="2520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② 迁移逻辑：把假设改成 GB10/CUDA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10843-7FF3-42B3-AA25-77C12CA8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900" y="600075"/>
            <a:ext cx="876300" cy="28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026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57212-475A-47B5-A4D3-85070306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900" y="6191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Mapping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3DAC90-32D7-4045-AC53-375EED08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533400"/>
            <a:ext cx="3759200" cy="409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26FD9-5670-4942-B443-0AE12505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533400"/>
            <a:ext cx="37592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F261D-05F6-4551-8856-CA4AC414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619125"/>
            <a:ext cx="2520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③ GB10 目标架构：Dedicated Streamed-MoE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8A15F0-821D-4B99-9BEF-E0AF27B7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00075"/>
            <a:ext cx="876300" cy="28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480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AED07-47DD-4619-89DA-CBE463E6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191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EE4F64-6449-4EEE-BCD3-0F070D47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349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原始 DS4 / flash-moe Metal 路径的关键前提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3BB6C0-45D6-4F47-ADBC-FB398A10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71600"/>
            <a:ext cx="349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依赖 Apple 统一内存与 Metal kernel，权重/算子围绕 Apple 执行栈组织。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CD728-0C3D-4E3B-8932-4143F671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790700"/>
            <a:ext cx="349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原始开源路径更偏“OS page cache + 局部按需读取”，显式 expert 热缓存较弱。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CB192B-D3CF-448A-BA04-D293102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209800"/>
            <a:ext cx="349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框架侧承担较多参数生命周期，routed experts 与运行时参数树耦合较深。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4C00E2-D633-4936-9B40-AD0DA646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28900"/>
            <a:ext cx="349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KV / 调度 / 路由 / expert 读取没有为 GB10 的 SSD + CUDA copy/compute overlap 单独设计。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C12852-9D88-4BAE-8EB5-EB138B2F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86100"/>
            <a:ext cx="3492500" cy="11239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A0B272-307F-495B-9EF3-D34AAC87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330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结论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026969-003E-4FDD-8D76-9C14BDFA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30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DS4/Metal 的价值在于证明了 streamed-MoE 的控制面可行；但它的最佳设计点并不等于 GB10 的最佳设计点。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FD4884-2A6A-4759-840C-49BAB84A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1104900"/>
            <a:ext cx="349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迁移到 GB10/CUDA 时的四个一一映射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54DA04-621C-47C3-8B00-5D3BA488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1371600"/>
            <a:ext cx="8572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56D261-8C9F-4A66-8E28-6179C7E8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4780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执行后端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7CB5B3-D48B-42BF-95E2-527E14E0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1371600"/>
            <a:ext cx="11430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80EAE7-C3CB-44C7-957B-3FCFB17D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150" y="1447800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Metal kernel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7D6137-188D-496E-9550-E1B284EA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371600"/>
            <a:ext cx="14287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5C0124-AC9F-4EA9-A484-BE1BEDF7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144780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4803C"/>
                </a:solidFill>
                <a:latin typeface="Aptos"/>
                <a:ea typeface="Aptos"/>
                <a:cs typeface="Aptos"/>
              </a:rPr>
              <a:t>CUDA/Tensor Core kernel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132DA5-BE89-41E6-8BC7-EEF866FD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1809750"/>
            <a:ext cx="8572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1515F1-E1D6-4BCA-A72B-C995ACB3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88595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参数驻留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F8A7D2-8FE8-4EEB-87F4-EC83883C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1809750"/>
            <a:ext cx="11430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79A427-8C19-479E-AD8E-366D3026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150" y="1885950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框架参数树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AED497-6ABB-463E-9CCB-27A9D65D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809750"/>
            <a:ext cx="14287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174917-0C9A-41B6-9AA0-0953C600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18859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4803C"/>
                </a:solidFill>
                <a:latin typeface="Aptos"/>
                <a:ea typeface="Aptos"/>
                <a:cs typeface="Aptos"/>
              </a:rPr>
              <a:t>dense resident + expert store 解耦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608325-1C02-4462-BDDA-7D9D173C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2247900"/>
            <a:ext cx="8572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92B83C-C733-4622-8C62-EC56C346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232410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冷数据来源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27A9B7-114E-42B4-9017-EB6EEE11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2247900"/>
            <a:ext cx="11430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CBC90C-B7FC-4A69-8D72-399A706A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150" y="2324100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page-cache 风格读取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6EBBDD-5F5F-4201-8433-9F50BDEE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247900"/>
            <a:ext cx="14287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E58E02-85BB-4E25-B539-6BBAB951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232410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4803C"/>
                </a:solidFill>
                <a:latin typeface="Aptos"/>
                <a:ea typeface="Aptos"/>
                <a:cs typeface="Aptos"/>
              </a:rPr>
              <a:t>SSD manifest + chunked pread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B6ADB5-DE06-45BB-9A47-9A4CF8F7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2686050"/>
            <a:ext cx="8572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371392-3E84-4EAF-B281-02B117A1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2762250"/>
            <a:ext cx="742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运行时组织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210AEB-538D-4EE2-9E1B-885F1701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2686050"/>
            <a:ext cx="11430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A6AACA-BAE7-46A6-9F11-DC70780D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150" y="2762250"/>
            <a:ext cx="1028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框架主导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DC8B2F4-5C22-47BE-B331-636B529D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686050"/>
            <a:ext cx="14287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75E251-1A8E-44DC-BF75-DD3181EA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150" y="27622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4803C"/>
                </a:solidFill>
                <a:latin typeface="Aptos"/>
                <a:ea typeface="Aptos"/>
                <a:cs typeface="Aptos"/>
              </a:rPr>
              <a:t>dedicated engine / session / service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6584EF3-ECFC-4B18-859A-6D082EB3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3219450"/>
            <a:ext cx="349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迁移原则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09608D-DECB-4863-93AE-844F2E85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3429000"/>
            <a:ext cx="349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dense / router / shared expert 常驻 UMA，routed experts 脱离 framework parameter tree。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CC0590-224D-469D-BD44-1DCF5602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3771900"/>
            <a:ext cx="349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控制面保留：manifest、trace、cache policy、route→load→unpack→compute→combine。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48041C-55B8-4AE0-AA77-8D4F0F71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4114800"/>
            <a:ext cx="349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数据面重写：围绕 CUDA kernel、copy/compute overlap、compute-ready slot cache 重构。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BA908A-B5ED-4E42-8354-F5B2BE8C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1104900"/>
            <a:ext cx="349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GB10/CUDA 目标架构应该长什么样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A0F6367-2FAD-464E-B5F0-6BBD6C3D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1371600"/>
            <a:ext cx="349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ModelSpec：抽象 Qwen / DeepSeek 的层数、top-k、expert 数、KV 路径差异。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11A0A3D-D149-454A-9C2D-8E1534E2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1685925"/>
            <a:ext cx="349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Dense Resident Loader：只常驻 dense、router、shared、embedding、lm head。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1BD087F-8E84-48F1-82D8-C99D4081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2000250"/>
            <a:ext cx="349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Expert Store：layer-major expert bundles on SSD，manifest 映射 offset / size / format。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AEC738-2BD3-40B1-A53F-0BB6811F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2314575"/>
            <a:ext cx="349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Hot Expert Cache：FP8/BF16 compute-ready cache slots，独立 eviction policy。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B588564-E14A-41E5-80A7-9ADF76CE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2628900"/>
            <a:ext cx="349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Decode Scheduler：route → cache lookup → miss read → unpack → grouped compute → combine。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F3A66-4748-4FBC-B98A-BFDA7283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2943225"/>
            <a:ext cx="349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Thin Service：窄接口 engine/session/service，而不是继续堆在通用框架之上。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EB308FB-8810-49FA-8934-FAC9213B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838700"/>
            <a:ext cx="11582400" cy="14097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687455D-A0BD-4A1A-933B-142D2879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838700"/>
            <a:ext cx="11582400" cy="3238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BB3B4B0-3792-4586-B638-E33B0696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05375"/>
            <a:ext cx="11334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Migration takeaway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905F6A-F6D0-450C-A10F-D2F70A72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95900"/>
            <a:ext cx="11277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从 Metal 迁移到 GB10，不是“把 kernel 从 Metal 改成 CUDA”这么简单，而是把 runtime 的假设整体迁移：从 page-cache 风格读取，切换到显式 expert store + hot cache + dedicated scheduler；从 framework 主导，切换到 engine 主导。</a:t>
            </a:r>
          </a:p>
        </p:txBody>
      </p:sp>
    </p:spTree>
    <p:extLst>
      <p:ext uri="{BB962C8B-B14F-4D97-AF65-F5344CB8AC3E}">
        <p14:creationId xmlns:p14="http://schemas.microsoft.com/office/powerpoint/2010/main" val="20930785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FC2E4AA-7BFA-4960-9EAB-002524AC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24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324D"/>
                </a:solidFill>
                <a:latin typeface="Aptos Display"/>
                <a:ea typeface="Aptos Display"/>
                <a:cs typeface="Aptos Display"/>
              </a:rPr>
              <a:t>端侧优化做到极限后，仍需要云端模型协同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251A3-F937-4F7E-8732-4FD26F8B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A648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A6483"/>
                </a:solidFill>
                <a:latin typeface="Aptos"/>
                <a:ea typeface="Aptos"/>
                <a:cs typeface="Aptos"/>
              </a:rPr>
              <a:t>Device-first, but not device-only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99B2D-F7E0-4D06-9FB0-BD2A008A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3400"/>
            <a:ext cx="3714750" cy="42291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66F84-D6DE-4494-A335-5CB2EEF2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3400"/>
            <a:ext cx="37147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B95FB-1467-498D-8631-59712748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19125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① 端侧已经优化到什么程度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0A847-F5D5-4480-B93B-E7B66CBD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600075"/>
            <a:ext cx="876300" cy="28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A4654-A92D-4F31-BB72-463D0623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6191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F4565-2FD9-43AC-BBE4-F36D1D08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33400"/>
            <a:ext cx="3714750" cy="42291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EC5B9-103D-4787-91FE-14DCAAC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33400"/>
            <a:ext cx="371475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86E10-4BAE-4348-8AAB-DEB39005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619125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② 仍然过不去的硬上限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F3FB5-7B7E-474F-BC55-3632481F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00075"/>
            <a:ext cx="876300" cy="28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026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25FB2-71F2-4C79-BA7B-3F45505D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191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Limit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28D88-55C1-45C6-A42B-94BCA87A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3400"/>
            <a:ext cx="4152900" cy="42291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BD7A0-3FC2-4F7A-A860-1E836754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3400"/>
            <a:ext cx="4152900" cy="438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E02109-9856-426E-A0EA-C9A3F73C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19125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③ 推荐的云端协同策略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33D49-C2B0-4E72-ACD7-6EAFC058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00075"/>
            <a:ext cx="876300" cy="285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480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889D6B-BDB6-4CEA-8FFA-255438E5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191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Hybrid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32B501-7D6A-42EB-ADFF-0E9C2BB1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3448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已经做过的端侧优化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504F1-5D07-4486-BD65-A0B0111B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71600"/>
            <a:ext cx="344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dense resident：把 dense / router / shared expert 留在 UMA，减少重复参数搬运。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74A08-E77F-4C3C-8215-3F9462E2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733550"/>
            <a:ext cx="344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expert streaming：routed experts 外置成 SSD expert store，并用 manifest 驱动加载。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D5CD9-8067-4380-8AC7-3BC41EE4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095500"/>
            <a:ext cx="344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hot cache：显式 compute-ready slot cache，命中/驱逐不再交给通用框架黑盒处理。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2B0598-9A61-47C9-98E1-FAFF9625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457450"/>
            <a:ext cx="344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decode harness：把 route / load / unpack / compute / combine 分段量化，能看清真正瓶颈。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3F154A-5D3F-4558-9CE2-FD0444E5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819400"/>
            <a:ext cx="344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• 运行时拆分：engine / session / service 分层，避免把端侧服务绑死在框架参数树上。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271BE6-D534-4F0C-93BF-7F8BEDC5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219450"/>
            <a:ext cx="3448050" cy="10287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1A9C1C-1144-47A9-B636-5024A3D0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3257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实测含义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AD734D-8841-4E94-91BA-A7CB2454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3257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这些优化已经把端侧问题从“根本跑不动”推进到“可以跑、可量化、可调度”，但并没有把大模型体验推到云端同级。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D60ED9-6A9A-48B8-968C-36ADF65C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104900"/>
            <a:ext cx="3448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为什么端侧仍然有上限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07C64D-81D2-4C31-95A0-5E7BDF16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90650"/>
            <a:ext cx="78105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3C130D-8704-4721-8A9C-DDF50377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85900"/>
            <a:ext cx="628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算力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5E037B-E19E-435D-BA22-5AF7B218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390650"/>
            <a:ext cx="266700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184CAE-EF85-4733-9B82-E325CAC1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4859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120 TOPS 级别更适合 3B–A17B active 以内模型，复杂推理链路容易被拉长。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496DC5-DD8F-4ADA-A119-3B6FDEDD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43100"/>
            <a:ext cx="78105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B51F8-53F3-4175-B5B6-B7484A43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38350"/>
            <a:ext cx="628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带宽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607A1D-A4E0-4346-B1FA-FFF6841F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43100"/>
            <a:ext cx="266700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F46F31-38EE-49C1-8D94-235B95B8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3835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273 GB/s UMA 对长上下文 decode / prefill 仍然敏感，翻倍带宽也不是线性解法。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9CA89D-B98D-498D-83A8-FC3AC9A7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95550"/>
            <a:ext cx="78105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91D7A2-5A1E-4BDD-A3FE-CF0BD66B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90800"/>
            <a:ext cx="628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容量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2E7897-B44D-40C9-847F-1DE44153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95550"/>
            <a:ext cx="266700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CBC0CF-B68A-4B1E-AABB-2A8EE398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908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128 GB UMA 能装下精心裁剪后的端侧 runtime，但装不下所有“高质量体验”需要的模型族。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0E5C8A-54B5-4B29-A32B-C28F9660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78105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0F078D-B9A2-471A-B9C6-506074CE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43250"/>
            <a:ext cx="628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延迟预算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4994C9-D91F-42F5-BF70-D510005C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048000"/>
            <a:ext cx="2667000" cy="552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F29152-DD10-4EA6-BAF5-C1545F1C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4325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复杂 reasoning、多轮工具调用、跨文档长链路检索，端侧 tail latency 明显拉长。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BC101E-874C-488F-9AD0-3A462CBE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33800"/>
            <a:ext cx="3448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结论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4A5F2A-CA70-41D5-A073-52430FF6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43350"/>
            <a:ext cx="3448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端侧优化解决的是“把大模型能力搬到本地”这件事是否成立；它解决不了“所有复杂任务都能以云端质量和云端速度在本地完成”。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EC7772-8C9F-4700-8A30-6D3CADCE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04900"/>
            <a:ext cx="3886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推荐的端云分工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1B0FF22-0B34-4674-8A32-B3B872CC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371600"/>
            <a:ext cx="1047750" cy="3048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496FCB-A67B-47CB-963C-D29E09B2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971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场景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2DE759-392B-420F-B523-D0CF93FD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371600"/>
            <a:ext cx="1238250" cy="3048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DDF6200-9B33-4745-973F-D18AE097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428750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端侧主责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69A3E8-D878-4EFB-9FB5-67B4F27E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371600"/>
            <a:ext cx="1428750" cy="3048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69F566-0D88-4716-9080-6790F868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1428750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云端补位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94E638-C55A-432D-B896-8197B598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1047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E4021E4-E634-4EA1-9EA7-0A794CA0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933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低延迟问答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C7FF86F-4F2C-4311-A84B-8A34B0E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76400"/>
            <a:ext cx="12382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5C31638-E8AB-4453-BB1E-A19A9B8E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526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本地优先，保护隐私与交互速度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54CC6EF-5655-4CA2-91EB-2146161F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676400"/>
            <a:ext cx="1428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76D72A-713F-4949-ABBB-6CBE0514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526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4803C"/>
                </a:solidFill>
                <a:latin typeface="Aptos"/>
                <a:ea typeface="Aptos"/>
                <a:cs typeface="Aptos"/>
              </a:rPr>
              <a:t>默认不介入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977DA7F-1513-40B0-A6D6-6C86F579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09800"/>
            <a:ext cx="1047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9FF6BEF-4480-4A8A-A468-367AD95E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933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中等复杂推理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5EDFB88-3A8C-46AB-9DD7-0126EA8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09800"/>
            <a:ext cx="12382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2A5328-8A5E-4B97-8BC1-657741EE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860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本地先答，云端做 rerank / verify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3599CE7-0D1F-43AC-A7A2-18F64735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209800"/>
            <a:ext cx="1428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7EA71B5-1CF5-4499-9499-D2A2D37C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860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4803C"/>
                </a:solidFill>
                <a:latin typeface="Aptos"/>
                <a:ea typeface="Aptos"/>
                <a:cs typeface="Aptos"/>
              </a:rPr>
              <a:t>质量校正与困难样本兜底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7C38CC2-AC45-492E-B98D-172FBA98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43200"/>
            <a:ext cx="1047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C1048AF-33A6-479D-8536-19C20AC0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19400"/>
            <a:ext cx="933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超长上下文/多工具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8A46AD6-6F98-4827-B87B-490F6288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43200"/>
            <a:ext cx="12382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C45B28A-F48A-4235-9E3F-77D73BF9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194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本地做 session 管理与缓存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F6AE845-D825-47CB-86E5-A7381CA0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743200"/>
            <a:ext cx="1428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261D90B-0772-4D38-ADDC-8720800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8194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4803C"/>
                </a:solidFill>
                <a:latin typeface="Aptos"/>
                <a:ea typeface="Aptos"/>
                <a:cs typeface="Aptos"/>
              </a:rPr>
              <a:t>云端做重推理、长链检索、复杂 planning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EEF1F42-A603-4F3F-97FA-A6B88062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1047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B147849-E737-4E62-BD04-7B187EEB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52800"/>
            <a:ext cx="933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22324A"/>
                </a:solidFill>
                <a:latin typeface="Aptos"/>
                <a:ea typeface="Aptos"/>
                <a:cs typeface="Aptos"/>
              </a:rPr>
              <a:t>高价值任务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A41F40D-CB7D-4C91-BC2C-F5EEE6D9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76600"/>
            <a:ext cx="12382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354D793-AC03-4506-A5F6-3349A859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52800"/>
            <a:ext cx="1123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本地做首响与上下文准备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5575E98-8C16-4F1F-BF4E-DE69EB6E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76600"/>
            <a:ext cx="1428750" cy="5334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7E13A64-FF7F-4C06-B4C1-00F999AE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3528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0">
                <a:solidFill>
                  <a:srgbClr val="14803C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4803C"/>
                </a:solidFill>
                <a:latin typeface="Aptos"/>
                <a:ea typeface="Aptos"/>
                <a:cs typeface="Aptos"/>
              </a:rPr>
              <a:t>云端提供最佳模型质量与最终答案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7DC436F-1672-4C8A-802D-D02202B9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886200" cy="10858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3557DB9-6706-4692-B56E-CD76F3A6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57650"/>
            <a:ext cx="3695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建议的产品策略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386DEF-C053-4132-A39D-746FD113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286250"/>
            <a:ext cx="3695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324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324A"/>
                </a:solidFill>
                <a:latin typeface="Aptos"/>
                <a:ea typeface="Aptos"/>
                <a:cs typeface="Aptos"/>
              </a:rPr>
              <a:t>端侧负责低延迟、隐私敏感、会话连续性；云端负责高质量 reasoning、超长上下文、复杂工具链。目标不是“替代云端”，而是把云端调用变成更少、更准、更值。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026310-B87B-4A70-889D-16B4659C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048250"/>
            <a:ext cx="11582400" cy="12001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9D7E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2C1EF38-20C6-4D1E-BB1C-40D8E194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048250"/>
            <a:ext cx="11582400" cy="3238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1557C0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E413EA2-88B3-4CB4-B1ED-C2A7F6A3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14925"/>
            <a:ext cx="11334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takeaway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3E8F71B-A871-4945-98C6-E6A28190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05450"/>
            <a:ext cx="11277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GB10 端侧路线值得继续做，因为它能承接低延迟和隐私敏感任务；但要把“高质量大模型体验”做完整，必须设计成端云协同架构，而不是只押注本地单机能力。</a:t>
            </a:r>
          </a:p>
        </p:txBody>
      </p:sp>
    </p:spTree>
    <p:extLst>
      <p:ext uri="{BB962C8B-B14F-4D97-AF65-F5344CB8AC3E}">
        <p14:creationId xmlns:p14="http://schemas.microsoft.com/office/powerpoint/2010/main" val="621364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2026-07-28T07:15:42.1210000Z</dcterms:created>
  <dcterms:modified xsi:type="dcterms:W3CDTF">2026-07-28T07:15:42.1210000Z</dcterms:modified>
</coreProperties>
</file>