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66de2fe2294265" /><Relationship Type="http://schemas.openxmlformats.org/officeDocument/2006/relationships/extended-properties" Target="/docProps/app.xml" Id="Rfc75ddeb287e4361" /><Relationship Type="http://schemas.openxmlformats.org/officeDocument/2006/relationships/officeDocument" Target="/ppt/presentation.xml" Id="R6dc0783e38794a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b7f88f27a447a2"/>
  </p:sldMasterIdLst>
  <p:notesMasterIdLst>
    <p:notesMasterId xmlns:r="http://schemas.openxmlformats.org/officeDocument/2006/relationships" r:id="R93685725c9174f1d"/>
  </p:notesMasterIdLst>
  <p:sldIdLst>
    <p:sldId xmlns:r="http://schemas.openxmlformats.org/officeDocument/2006/relationships" id="256" r:id="R289b00a8f4dc4689"/>
    <p:sldId xmlns:r="http://schemas.openxmlformats.org/officeDocument/2006/relationships" id="257" r:id="R8c743358e53d4d8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2db95b63df4e3b" /><Relationship Type="http://schemas.openxmlformats.org/officeDocument/2006/relationships/slideMaster" Target="/ppt/slideMasters/slideMaster1.xml" Id="R59b7f88f27a447a2" /><Relationship Type="http://schemas.openxmlformats.org/officeDocument/2006/relationships/notesMaster" Target="/ppt/notesMasters/notesMaster1.xml" Id="R93685725c9174f1d" /><Relationship Type="http://schemas.openxmlformats.org/officeDocument/2006/relationships/presProps" Target="/ppt/presProps.xml" Id="R07f69f1426414ddb" /><Relationship Type="http://schemas.openxmlformats.org/officeDocument/2006/relationships/tableStyles" Target="/ppt/tableStyles.xml" Id="R996c4ab9e640433b" /><Relationship Type="http://schemas.openxmlformats.org/officeDocument/2006/relationships/slide" Target="/ppt/slides/slide1.xml" Id="R289b00a8f4dc4689" /><Relationship Type="http://schemas.openxmlformats.org/officeDocument/2006/relationships/slide" Target="/ppt/slides/slide2.xml" Id="R8c743358e53d4d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2127ef933b48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cdb6da183d4450d" /><Relationship Type="http://schemas.openxmlformats.org/officeDocument/2006/relationships/notesMaster" Target="/ppt/notesMasters/notesMaster1.xml" Id="R5efb3e5d732845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3dc91cab344fff" /><Relationship Type="http://schemas.openxmlformats.org/officeDocument/2006/relationships/notesMaster" Target="/ppt/notesMasters/notesMaster1.xml" Id="R9fa041cbd59548c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f97e1919a64d1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1d38a758b24f4d" /><Relationship Type="http://schemas.openxmlformats.org/officeDocument/2006/relationships/slideLayout" Target="/ppt/slideLayouts/slideLayout1.xml" Id="Rde3bc239fc044d5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3bc239fc044d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0a13c9e0dc4888" /><Relationship Type="http://schemas.openxmlformats.org/officeDocument/2006/relationships/notesSlide" Target="/ppt/notesSlides/notesSlide1.xml" Id="Rf3b483376f5f46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6b48ffe72c4a64" /><Relationship Type="http://schemas.openxmlformats.org/officeDocument/2006/relationships/notesSlide" Target="/ppt/notesSlides/notesSlide2.xml" Id="Rf805a108012c4a9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32EB4DE9-79F5-485D-B64A-1AB10710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33350"/>
            <a:ext cx="876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E5FB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E5FBF"/>
                </a:solidFill>
                <a:latin typeface="Aptos Display"/>
                <a:ea typeface="Aptos Display"/>
                <a:cs typeface="Aptos Display"/>
              </a:rPr>
              <a:t>DS4 Metal 到 GB10 CUDA：迁移方案与运行时重构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134976-936D-4B1A-94D8-64EB0AFE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23875"/>
            <a:ext cx="1165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9525">
            <a:solidFill>
              <a:srgbClr val="1E5FB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F6CD7D-04EA-47E5-8E21-DA475CFE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990600"/>
            <a:ext cx="58102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6819E9-3317-4300-A60B-D19D1A52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581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BCB933-99ED-49E7-915B-3E4EAAB9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33425"/>
            <a:ext cx="554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DS4 开源项目在 Apple / Metal 上的原始实现逻辑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DF742E-6A52-4284-91CA-73FF150E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990600"/>
            <a:ext cx="58483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08EFE6-15BF-4AD8-80E0-2ED283F0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666750"/>
            <a:ext cx="584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9D2"/>
          </a:solidFill>
          <a:ln xmlns:a="http://schemas.openxmlformats.org/drawingml/2006/main" w="10478">
            <a:solidFill>
              <a:srgbClr val="4F79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D3AFB8-5FC6-4C6A-BE17-CCAF7856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733425"/>
            <a:ext cx="5581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迁移到 GB10 / CUDA 后，我们重构出的目标运行时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DD6065-D20B-43F6-B5F6-3D61469C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554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Metal 版本的核心假设：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BFC854-72CB-4258-A6F9-13651E01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99A82B-C362-4B90-BE2D-FFD27457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53530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执行后端围绕 Apple unified memory + Metal kernel 组织，权重读取和算子编排默认贴合系统内存模型。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1030D2-2517-453E-A60E-A259E9FD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733550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7752EB-EC23-410E-B19E-4E44135E2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33550"/>
            <a:ext cx="53530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routed expert 的冷数据路径更接近“page cache + 文件读取”，缺少面向离散 hot cache 的显式生命周期管理。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0E4BB6-31F1-461E-A6A3-1BA4A8AB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57400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660A70-6585-43A8-A2E9-05F9A92A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3530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参数组织深度绑定框架参数树，dense、router、shared、expert 很多时候由上层框架统一托管。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92DF68-0309-49C9-BDB4-6808F5AA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0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64E234-5E90-4981-9292-D83324F2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53530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prefill / decode 的控制面是可复用的，但没有针对 GB10 的 SSD→DDR→GPU copy/compute overlap 专门设计。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172DCC-5A8B-4DFA-B948-E70B9D14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28900"/>
            <a:ext cx="554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D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F2B19E-A5DF-4F2B-8B9E-728FE9C9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62250"/>
            <a:ext cx="527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结论：DS4/Metal 证明了 streamed-MoE 的控制面可行，但它依赖的运行时假设并不等于 GB10 的最佳实现方式。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35AB14-2507-47D0-95BE-E5E29DED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123950"/>
            <a:ext cx="5581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GB10/CUDA 迁移后的结构拆分：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855172-2869-46F2-876E-D910B5D2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4097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B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147999-7333-4C6A-8E83-7609D867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09700"/>
            <a:ext cx="415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5F71EE-BCF0-456B-90A4-93C5FB97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57325"/>
            <a:ext cx="1352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85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ModelSpec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292C1F-86D0-4F55-9C0F-4B1E3B87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457325"/>
            <a:ext cx="396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抽象层数、top-k、expert 数、KV/state 形态，摆脱模型硬编码。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5A2434-476B-4068-9185-D50E68B0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704975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E32FB1-9F6B-4D3F-8138-93E8C589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04975"/>
            <a:ext cx="415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B3EC84-200E-4D65-9742-E4F645A8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52600"/>
            <a:ext cx="1352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85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Dense Resident Loader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58C013E-83E8-4A24-AF6A-48CF9E83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52600"/>
            <a:ext cx="396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只常驻 dense / router / shared / embedding / lm head，避免所有权重都挤在计算路径里。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80A4CC-0150-41DB-AC6A-8F313E9F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002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B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36D527-9C60-4AAA-9F8D-F5B568AC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000250"/>
            <a:ext cx="415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99925A-A44F-46C0-B3B3-64E1423E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47875"/>
            <a:ext cx="1352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85" b="1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12803C"/>
                </a:solidFill>
                <a:latin typeface="Aptos"/>
                <a:ea typeface="Aptos"/>
                <a:cs typeface="Aptos"/>
              </a:rPr>
              <a:t>Expert Store + Manifest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55192E-D30D-4B81-8431-ED95ADBF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47875"/>
            <a:ext cx="396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把 routed experts 以 layer-major bundle 存到 SSD，用 manifest 记录 offset / size / format。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F63D20-BC21-4FBD-999F-BF0F28C7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95525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1B1F3D-DDCC-45F0-BBBF-BE98C2270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95525"/>
            <a:ext cx="415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97C73DA-E920-4D21-8494-4F61E3A52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3150"/>
            <a:ext cx="1352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85" b="1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12803C"/>
                </a:solidFill>
                <a:latin typeface="Aptos"/>
                <a:ea typeface="Aptos"/>
                <a:cs typeface="Aptos"/>
              </a:rPr>
              <a:t>Hot Expert Cache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78580C-1566-4035-9B02-EAB1B853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43150"/>
            <a:ext cx="396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显式 compute-ready slot cache，独立管理命中、驱逐、解包和复用。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494946-E4D9-4D58-939E-61170EC85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90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B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06781B9-4908-421C-852E-8FA15871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590800"/>
            <a:ext cx="415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7D99562-D80A-40A9-8416-3DC0B9F4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38425"/>
            <a:ext cx="1352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85" b="1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12803C"/>
                </a:solidFill>
                <a:latin typeface="Aptos"/>
                <a:ea typeface="Aptos"/>
                <a:cs typeface="Aptos"/>
              </a:rPr>
              <a:t>Decode Scheduler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B062E2B-A9AE-44C5-852E-B3C9297C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38425"/>
            <a:ext cx="396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把 route → load → unpack → compute → combine 拆成独立阶段，围绕 CUDA 重排。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89FBAB-E463-4616-A9F7-7BFA5070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86075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20A1A0D-E855-4EF6-9933-D5664FCD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86075"/>
            <a:ext cx="415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1B3F940-F030-4A59-ABCC-AF3C29D4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33700"/>
            <a:ext cx="1352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85" b="1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12803C"/>
                </a:solidFill>
                <a:latin typeface="Aptos"/>
                <a:ea typeface="Aptos"/>
                <a:cs typeface="Aptos"/>
              </a:rPr>
              <a:t>Thin Service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1B2C7EE-F035-4C5A-AFA5-E0D60DACE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933700"/>
            <a:ext cx="3962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提供窄接口 engine / session / service，不再把运行时耦合回通用框架。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B4EA213-75F3-4619-BB79-32D8D532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562350"/>
            <a:ext cx="116586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68FE497-09D3-44A0-A0C9-29F63507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562350"/>
            <a:ext cx="1165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9525">
            <a:solidFill>
              <a:srgbClr val="1E5FB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330C131-6F1D-4FFC-B450-09BC04D6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29025"/>
            <a:ext cx="1123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迁移映射表：从 DS4 / Metal 的默认假设，到 GB10 / CUDA 的工程落点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4A56235-0474-41A8-9BDE-D755F137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8862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85B6F23-938B-442E-A51B-84E42D517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943350"/>
            <a:ext cx="1676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7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7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维度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0C0EC4C-C363-4FAA-AE84-2B2B6D7C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8862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ADC4B3-9D9A-4C84-B16E-F7120433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943350"/>
            <a:ext cx="2114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7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7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DS4 / Metal 实现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82FEC7F-A967-4A8B-BCA6-CC4F621B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88620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9887ACC-1BEB-4442-9AEE-56D14810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43350"/>
            <a:ext cx="2324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7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7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迁移动作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1AE99FF-BE9B-4254-A12B-A0E56D944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2724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138550C-B4F3-493E-924E-C75F3AF3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43350"/>
            <a:ext cx="2647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7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7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GB10 / CUDA 落点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79CF696-C982-4787-BD62-9381BA53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86200"/>
            <a:ext cx="2590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E92B9C5-3DD5-449D-B593-40CDA6E95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943350"/>
            <a:ext cx="2514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7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7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工程收益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E7F801E-7F40-4CB4-A6CB-402B52AA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15290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ABF226A-6A1E-4D52-8985-F039BB85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171950"/>
            <a:ext cx="1657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执行后端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D939DF0-AE89-4259-89DE-A12ED4F7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152900"/>
            <a:ext cx="2190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4315248-4C57-4552-9D9D-2EB1EE9B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171950"/>
            <a:ext cx="2095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Metal kernel + Apple runtime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9578F5-70AA-4B28-A1DF-00E2A69B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52900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99C739E-769F-4275-9C68-4BEA984E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171950"/>
            <a:ext cx="2305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算子与调度解耦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3B60D60-D860-4A8F-9470-118C2A3E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2724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4891B54-6100-4B34-91EA-F3C24C19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171950"/>
            <a:ext cx="2628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CUDA / Tensor Core kernel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93F17A0-6669-4207-8108-B79A3255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52900"/>
            <a:ext cx="2590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3AA409A-9024-4E77-ABBD-5AC514750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171950"/>
            <a:ext cx="2495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能围绕 GPU copy/compute overlap 重排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7C932E3-4AF8-48A0-82F6-DC9176B9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30530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C6B89AB-5638-402F-9878-039A7381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324350"/>
            <a:ext cx="1657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参数驻留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918D767-49C8-4BBF-B1D6-7B8159AE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305300"/>
            <a:ext cx="2190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1B5DDB9-449A-48E6-A044-CAA51CCF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324350"/>
            <a:ext cx="2095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框架参数树统一托管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0A3D1D1-3B81-4407-AFB3-C9E8F900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05300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C4DA77F-F135-45F9-AE1F-9ECAD2F2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324350"/>
            <a:ext cx="2305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拆分常驻与流式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A90BE20-F447-4898-9436-E7E50821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2724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6F28A37-1B1C-4935-9351-67395EE6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324350"/>
            <a:ext cx="2628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dense resident + expert store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D1E7E43-3714-46DA-ABAD-17EC93F9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305300"/>
            <a:ext cx="2590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29082E4-05C6-426C-8782-3BBDD1BD8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324350"/>
            <a:ext cx="2495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减少无关参数参与热路径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94C21A3-7198-4FD0-97B1-65329FF2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45770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B0B9511-0BF3-4B26-B8CB-1B1EFF8B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476750"/>
            <a:ext cx="1657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冷数据路径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302C6F8-54C7-4A92-85FD-3487606A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457700"/>
            <a:ext cx="2190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EB881D5-5FEB-441F-A6EB-85F83396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476750"/>
            <a:ext cx="2095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page-cache 风格读取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18311E9-C5BE-445B-8508-B3FB2101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457700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048FB92-77EF-4D76-9E1A-130BB095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476750"/>
            <a:ext cx="2305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引入显式元数据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DA64265-44D9-44AF-AE3E-13E05485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57700"/>
            <a:ext cx="2724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722CBAD-E3DB-494A-AE93-15CE2A82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476750"/>
            <a:ext cx="2628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manifest + chunked pread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959EB47-790C-4049-BCD7-31058431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457700"/>
            <a:ext cx="2590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96A575F-A90D-4EAF-A078-7A61DBC5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476750"/>
            <a:ext cx="2495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可分析 load 带宽与 miss 成本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79C8AF1-F11C-4B90-AA97-84FDF6CC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61010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7D344E5-A5E1-4F80-A053-39F2CA77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629150"/>
            <a:ext cx="1657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运行时组织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80DAEDE-CC06-43F1-904C-C1EED0D6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610100"/>
            <a:ext cx="2190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B021A50-1065-495C-830D-FD727796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629150"/>
            <a:ext cx="2095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框架主导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AD5C23D-CC82-4EB9-923D-396F4176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0100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3DFE6A9-1985-4C87-BFC8-CE9AB990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629150"/>
            <a:ext cx="2305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独立控制面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CE92386-C646-4DC0-B760-C7FD2E1C3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10100"/>
            <a:ext cx="2724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4961DA8-D4A3-44A9-81D0-11772448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629150"/>
            <a:ext cx="2628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engine / session / service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9F5E72C-9537-4D3C-86AE-ADA4E2735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610100"/>
            <a:ext cx="2590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0F93601-7D51-4B7A-AB40-36E44F1E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629150"/>
            <a:ext cx="2495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后续便于 profile、cache policy、在线服务化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52FC018-74D7-4E85-9ACE-B74C328CB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276850"/>
            <a:ext cx="5715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EE864E6-A5A1-4C31-87DE-849BFDD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953000"/>
            <a:ext cx="571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678563A-49D2-4B6E-A1B8-B0F5E183E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19675"/>
            <a:ext cx="5448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我们已经完成的 CUDA 化改造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9E5A83E-D005-4F2B-B811-23A89B76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276850"/>
            <a:ext cx="5715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C175010-35F7-4074-BA1C-4A4D329A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53000"/>
            <a:ext cx="571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934B7AE-6E80-4C7C-94EC-110AD9D4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019675"/>
            <a:ext cx="5448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这页的结论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2747F5E9-3AF2-42B8-AF02-47AC33FD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10200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6DA5CA8D-D133-406A-A0B4-EC6EAC9E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10200"/>
            <a:ext cx="52578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把原始开源实现里的可复用控制面提取出来，保留 streamed-MoE 的核心思想。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CB6C93E4-0050-4E6F-8FB6-E45E2CBB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95950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8F90017C-0F06-4534-B382-25ECA27D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95950"/>
            <a:ext cx="52578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围绕 GB10 的 UMA、CUDA、SSD 访问路径，重写 dense resident / expert store / hot cache / decode scheduler。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55CCF7FF-2FBF-4BDF-B148-D7AEE429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81700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58ED8558-2A16-46DF-82ED-C41455BC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52578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形成了可继续叠加 profile、cache policy、带宽分析和服务化封装的基础 runtime。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EABF58F3-4F9E-45FF-94DD-97CC75F2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29250"/>
            <a:ext cx="5372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DS4 从 Metal 迁移到 GB10 的关键，不是语法级移植，而是运行时假设整体重构。我们真正搬过来的是 streamed-MoE 控制面；真正重写的是面向 CUDA/SSD/UMA 的数据面。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755BA7A2-37F0-46DD-AA5F-FF38EBE0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400800"/>
            <a:ext cx="1165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1430">
            <a:solidFill>
              <a:srgbClr val="1E5FBF"/>
            </a:solidFill>
            <a:prstDash val="dash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632A7DE2-3CAA-4293-9EE7-AA1EDEFE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67475"/>
            <a:ext cx="1133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Takeaway：GB10 版本不是“DS4 的 CUDA 直译”，而是基于 DS4 思想重做了一套适合 UMA + SSD + CUDA 的专用端侧 streamed-MoE 运行时。</a:t>
            </a:r>
          </a:p>
        </p:txBody>
      </p:sp>
    </p:spTree>
    <p:extLst>
      <p:ext uri="{BB962C8B-B14F-4D97-AF65-F5344CB8AC3E}">
        <p14:creationId xmlns:p14="http://schemas.microsoft.com/office/powerpoint/2010/main" val="209337820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F4AD46F6-7704-4A4B-A160-665C4AEF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33350"/>
            <a:ext cx="885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E5FB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E5FBF"/>
                </a:solidFill>
                <a:latin typeface="Aptos Display"/>
                <a:ea typeface="Aptos Display"/>
                <a:cs typeface="Aptos Display"/>
              </a:rPr>
              <a:t>端侧优化之后仍需要云端模型协同：能力边界与产品策略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BDA275-C81A-4E37-ABBD-A42600FB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23875"/>
            <a:ext cx="1165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9525">
            <a:solidFill>
              <a:srgbClr val="1E5FB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6C6F61-A940-499D-9861-E38792C62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990600"/>
            <a:ext cx="5810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2AA022-2540-4A2C-AA93-06D49675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581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4CC501-8C05-4EA1-BBED-94018B33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33425"/>
            <a:ext cx="554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端侧后端已经做了什么优化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4B354C-977B-4E40-B8EF-967EFB71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990600"/>
            <a:ext cx="58483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44B19D-6D67-490A-8C26-E953767B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666750"/>
            <a:ext cx="584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9D2"/>
          </a:solidFill>
          <a:ln xmlns:a="http://schemas.openxmlformats.org/drawingml/2006/main" w="10478">
            <a:solidFill>
              <a:srgbClr val="4F79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BBE492-6BE2-4E4B-8C3C-D23823A7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733425"/>
            <a:ext cx="5581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为什么只靠端侧后端优化还不够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EC5962-A14A-4C20-8EE1-9A6029A14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23950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A060FD-6EC5-4C51-A830-C814D6A04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23950"/>
            <a:ext cx="53530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dense resident：把 dense / router / shared expert 常驻在 UMA，尽量让热路径稳定。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C9231D-219E-4DB8-8693-F9D9DD28C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38275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4CDAF9-C967-4482-B077-0B82619F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53530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expert streaming：把 routed experts 从运行时参数树里剥离，转成独立 expert store + manifest。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B6CEF4-1239-4663-A207-3E44A87A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752600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772154-71C9-4C49-9873-E4B0E075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3530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hot cache：增加 compute-ready expert slot cache，把命中、驱逐、解包都显式化。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3E9466-7D2C-49AD-864C-FA1C838C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66925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50025C-4651-49B8-B386-5148208F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66925"/>
            <a:ext cx="53530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decode harness：把 route / load / unpack / compute / combine 分段统计，能看清瓶颈演化。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C2CA32-6BDE-41CC-BDAE-38679C1C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0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753A58-AC84-4861-88CC-A38B551A8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53530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engine / session / service 分层：运行时不再和上层通用框架强耦合，方便继续做 profile 和调度策略。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F45BA5-026A-4EE5-AE6F-82F9DAC4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5543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D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7E5F68-73E8-4224-B0AE-B71C6DC6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09875"/>
            <a:ext cx="5353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这些优化已经把问题从“跑不起来”推进到“能跑、可分析、可继续调优”。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9B30E3-AE94-439E-8291-678C7F58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123950"/>
            <a:ext cx="112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B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D1D7FA-1025-41D6-9324-798EA079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123950"/>
            <a:ext cx="4457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1A7CE8-7CF5-40B8-ACE1-80BC7B0F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2872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15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算力上限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1626F1-1F9A-4D3C-A7C0-74C80959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90625"/>
            <a:ext cx="426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8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GB10 实测峰值约 123 TOPS，更适合较小 active parameter；复杂推理链路的 token latency 仍会被拉长。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E1E78F-CDDA-4699-9B06-CFE97BF98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62100"/>
            <a:ext cx="112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557DA3-230C-463F-905E-ADDCA705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562100"/>
            <a:ext cx="4457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B9D488-3485-4621-A3D4-5220FE23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668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15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带宽上限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AC99DA-8C0A-4EBE-8746-195B26E5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628775"/>
            <a:ext cx="426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8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273 GB/s UMA 对长上下文 prefill / decode 仍然敏感，带宽不够时 cache 和调度只能缓解，不能消除。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4D481E-F594-4E6A-BB69-A60AF1BC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00250"/>
            <a:ext cx="112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B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D8C800-4D0F-4E71-BDA0-341DF572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00250"/>
            <a:ext cx="4457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9B55D4-9562-43B8-BAE3-EAC2FE7C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0502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15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容量上限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D7F726-BADC-4C86-BEE6-11D8C5B2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066925"/>
            <a:ext cx="426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8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128 GB UMA 足够装下定制端侧 runtime，但装不下所有高质量模型能力都常驻本地。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6D4EE0-C52F-4EFC-B75A-33DFF9C3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38400"/>
            <a:ext cx="112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5038CB-F899-4343-B79C-79894C6F8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38400"/>
            <a:ext cx="4457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90F3E2-E482-43DB-951E-736177BCA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43175"/>
            <a:ext cx="104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15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体验上限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9C72BAB-8E23-4D4C-A2CD-38C7F2DB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05075"/>
            <a:ext cx="426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8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长 reasoning、多工具、多文档检索这类任务，真正限制用户体验的是模型能力和 tail latency，不只是后端实现。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08AAE5-A20B-46B7-BFB3-98888B42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486150"/>
            <a:ext cx="116586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A57B0C-8698-4CD1-9C8E-8CCD17D2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486150"/>
            <a:ext cx="1165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9525">
            <a:solidFill>
              <a:srgbClr val="1E5FB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1CE2927-01F2-47DF-8FED-C9C4B81B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52825"/>
            <a:ext cx="1123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端云协同分工表：哪些事情应该留在本地，哪些能力必须让云端模型补位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8FBC7D-B8A0-48B0-82B3-519BD5718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810000"/>
            <a:ext cx="1790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D6086B1-DCA9-4C56-BEA8-ADF2B69E2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876675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8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8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场景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F8FD7D-B056-41FD-996E-25A0AEFC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810000"/>
            <a:ext cx="2457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0E8D66D-38DB-415E-B61E-2EF29B6A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876675"/>
            <a:ext cx="2381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8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8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端侧价值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FB8B9C7-6973-49FA-992C-556180D9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10000"/>
            <a:ext cx="2457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1F4653-EC9F-4ECE-9BF0-3C368B39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876675"/>
            <a:ext cx="2381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8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8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云端补位能力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2E6F3F-C020-4269-A491-0A9F7C63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1000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34A5BA2-92CB-4209-A127-8EC98860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76675"/>
            <a:ext cx="1447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8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8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推荐模式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337F27-BD1A-400E-9DEF-3913BAA1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10000"/>
            <a:ext cx="342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71EA4B3-36F7-4672-9703-C9BF1F0F5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76675"/>
            <a:ext cx="3352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8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8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判断逻辑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E9574B2-49B7-4247-B06B-57E8C6ADC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0957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59DBCEC-8266-4795-AE58-42E51D60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124325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低延迟问答 / 隐私任务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10A1F9B-44B8-4328-9402-4E55CAB2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95750"/>
            <a:ext cx="2457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3DE4673-1680-4785-8019-1C92A669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124325"/>
            <a:ext cx="2362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首响快、上下文在本地、隐私敏感数据不出端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98D8818-35E2-4307-BAA7-BE5946AC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95750"/>
            <a:ext cx="2457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37CDDD8-B045-46F5-BBD1-DAAE47F6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124325"/>
            <a:ext cx="2362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默认不介入或只做异步校验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23561C1-053B-469C-9B52-7BBFE656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0957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02EBB5E-F750-4EC7-8C0B-F6457AC0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12432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端侧优先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B02927-E8AA-475B-AF62-8E0BF307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957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E1531FD-F00C-4F7B-AC67-64E611F3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24325"/>
            <a:ext cx="3333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这类任务模型能力要求有限，端侧优势主要在 latency 与 privacy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2B64336-881B-43A2-A3AC-44C54EDF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3053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F7F7336-11DC-4CA6-A245-D78DEF98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333875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中等复杂推理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EB4DBD4-84DD-410D-9586-BA9DB20C5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05300"/>
            <a:ext cx="2457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3DC2FD6-2298-4B33-A6CF-F8EA9E590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333875"/>
            <a:ext cx="2362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端侧先生成初答，保留会话连续性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9A71C7E-7B6B-47D0-B5A3-DA52CF2A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2457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E7CD596-16A4-434E-8300-D89E2E7B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333875"/>
            <a:ext cx="2362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云端做 rerank / verify / hard case 兜底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033AD00-96B6-46C1-8635-79E082D7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30530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81E69F1-DA28-47C3-9146-F8221266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33387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端云协同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3FE8A33-7127-4BD1-BE8F-7258651B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053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42350B4-5F00-4BCD-A9D0-ADC1D2A0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333875"/>
            <a:ext cx="3333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本地能答但质量不稳定，云端补位最划算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1A1D9A8-5695-4DB1-8C0C-017427AA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5148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DDD381F-8BFD-4ACE-B90A-CF9DE3A1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543425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长上下文 / 多工具任务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B8A072C-2E5E-4BE3-A31E-6AD8925C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514850"/>
            <a:ext cx="2457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3CF9929-0176-49DA-A1AC-5964F460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543425"/>
            <a:ext cx="2362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本地做 session 管理、缓存、输入预处理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A143F88-ABF9-4A5E-BDC4-93F5B3B7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14850"/>
            <a:ext cx="2457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A0B7C58-58F7-476E-8057-5FB264DE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543425"/>
            <a:ext cx="2362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云端承担长链推理、复杂 planning、重工具调用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3761D82-DBC2-456A-8862-056BE593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5148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DC74B37-F732-48A3-AB6F-1563DB819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54342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云端主答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7ABD760-7D18-4F5F-AEA2-DD6CB989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5148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A46E8A1-4DEE-4DCC-AB85-B8887206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543425"/>
            <a:ext cx="3333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瓶颈已从后端带宽转向模型能力和尾延迟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0B6F942-5537-441D-B32B-9B463F07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7244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DC79A62-59F5-48D9-991F-E1CC40C4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752975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高价值复杂任务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0C2130B-D62A-41F6-B09B-C9D5B9CC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724400"/>
            <a:ext cx="2457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494E070-0B54-408D-8EE0-6BFE0ADF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752975"/>
            <a:ext cx="2362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本地承接首响和轻量草稿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5554448-53A8-4D29-996E-182CFAFD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24400"/>
            <a:ext cx="2457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90CB155-15E7-4102-90B1-4DDDE111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752975"/>
            <a:ext cx="2362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云端给出最终高质量答案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F45F9AD-8B9E-486A-84B8-97C6F3C35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72440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FFD717F-6FA1-43A8-86A3-B451BDD8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75297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云端优先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4E0D9B1-B7F3-4F1E-9363-3109ED56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7244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1C15D8A-1D24-41A9-ACE6-CADDBAEDF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752975"/>
            <a:ext cx="3333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用户更关心正确率和完成度，而不是只看单机是否可运行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EF3140D-EF1B-49EC-B2FA-A90AB3D1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4483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C67B810-7C12-4010-8975-C75B15B3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124450"/>
            <a:ext cx="571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7B68183-9CA6-4D87-B00E-E58160D1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91125"/>
            <a:ext cx="5448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本页结论一：端侧优化解决的是“可运行性”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7A18CE9-2F8B-42F2-9C7F-732F7443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4483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82931A3-35DC-490F-BD7D-099E234C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124450"/>
            <a:ext cx="571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9D2"/>
          </a:solidFill>
          <a:ln xmlns:a="http://schemas.openxmlformats.org/drawingml/2006/main" w="10478">
            <a:solidFill>
              <a:srgbClr val="4F79D2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98BC641-EF4A-4065-8C9E-DBE72B6B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91125"/>
            <a:ext cx="5448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本页结论二：云端补的是“模型能力上限”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729B2E4-AB84-44A1-BDFB-51EAC79A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581650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988DF3C-B5C6-4459-AF14-B1302D77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81650"/>
            <a:ext cx="52578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我们已经把 DS4 的控制面迁到 GB10，并完成了 runtime、cache、load path 的后端重构。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BDA2B70-3CCE-4E27-8C32-5B6466B2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810250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176DD75-B618-49E4-9312-154CFB74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52578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这能显著提升端侧可部署性、可分析性和低延迟交互能力。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9C23E9CB-8038-4D16-8E6D-D50B0AE2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38850"/>
            <a:ext cx="152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388CA9F-EF55-4B42-844E-1C2D5498B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38850"/>
            <a:ext cx="52578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但它不等于复杂任务质量已经达到云端大模型水平。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C90ECD9-C6AC-41C0-ADC1-95B21F8A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81650"/>
            <a:ext cx="54102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真正还缺的不是又一个 cache policy，而是更强的 reasoning、长上下文、多工具和多文档理解能力。因此产品形态应该是 device-first，但必须 cloud-assisted。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CEE2EE6-F8D9-417C-B765-DC9441DD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419850"/>
            <a:ext cx="1165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1430">
            <a:solidFill>
              <a:srgbClr val="1E5FBF"/>
            </a:solidFill>
            <a:prstDash val="dash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2D345D41-37DD-4606-BDA0-09A93DC1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3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1163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Takeaway：GB10 端侧路线负责低延迟、隐私和会话连续性；高质量复杂任务仍需云端模型协同，后续重点应是端云一体化产品设计，而不是只堆本地后端优化。</a:t>
            </a:r>
          </a:p>
        </p:txBody>
      </p:sp>
    </p:spTree>
    <p:extLst>
      <p:ext uri="{BB962C8B-B14F-4D97-AF65-F5344CB8AC3E}">
        <p14:creationId xmlns:p14="http://schemas.microsoft.com/office/powerpoint/2010/main" val="5457984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2026-07-28T07:31:12.1340000Z</dcterms:created>
  <dcterms:modified xsi:type="dcterms:W3CDTF">2026-07-28T07:31:12.1340000Z</dcterms:modified>
</coreProperties>
</file>