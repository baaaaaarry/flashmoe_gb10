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fff1dfa9d546c6" /><Relationship Type="http://schemas.openxmlformats.org/officeDocument/2006/relationships/extended-properties" Target="/docProps/app.xml" Id="R06cedbb8d79c4410" /><Relationship Type="http://schemas.openxmlformats.org/officeDocument/2006/relationships/officeDocument" Target="/ppt/presentation.xml" Id="R198cdb48d198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0d3ded47043cd"/>
  </p:sldMasterIdLst>
  <p:notesMasterIdLst>
    <p:notesMasterId xmlns:r="http://schemas.openxmlformats.org/officeDocument/2006/relationships" r:id="Rbc8538e17b9f442f"/>
  </p:notesMasterIdLst>
  <p:sldIdLst>
    <p:sldId xmlns:r="http://schemas.openxmlformats.org/officeDocument/2006/relationships" id="256" r:id="Rc3011537b5d34c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0d3ded47043cd" /><Relationship Type="http://schemas.openxmlformats.org/officeDocument/2006/relationships/theme" Target="/ppt/theme/theme1.xml" Id="R55861fdf0f334f45" /><Relationship Type="http://schemas.openxmlformats.org/officeDocument/2006/relationships/notesMaster" Target="/ppt/notesMasters/notesMaster1.xml" Id="Rbc8538e17b9f442f" /><Relationship Type="http://schemas.openxmlformats.org/officeDocument/2006/relationships/presProps" Target="/ppt/presProps.xml" Id="R58020076952c4772" /><Relationship Type="http://schemas.openxmlformats.org/officeDocument/2006/relationships/viewProps" Target="/ppt/viewProps.xml" Id="R053ef74a53f54f0a" /><Relationship Type="http://schemas.openxmlformats.org/officeDocument/2006/relationships/tableStyles" Target="/ppt/tableStyles.xml" Id="R3aa0cf5c7d464f3a" /><Relationship Type="http://schemas.openxmlformats.org/officeDocument/2006/relationships/slide" Target="/ppt/slides/slide1.xml" Id="Rc3011537b5d3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6ea80c7687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60ef693e841d3" /><Relationship Type="http://schemas.openxmlformats.org/officeDocument/2006/relationships/notesMaster" Target="/ppt/notesMasters/notesMaster1.xml" Id="R639779c98aa9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7b35bf4cf4fb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cddbb0f43d421f" /><Relationship Type="http://schemas.openxmlformats.org/officeDocument/2006/relationships/slideLayout" Target="/ppt/slideLayouts/slideLayout2.xml" Id="Rb1c0c556d557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0c556d557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1c831573e4256" /><Relationship Type="http://schemas.openxmlformats.org/officeDocument/2006/relationships/notesSlide" Target="/ppt/notesSlides/notesSlide1.xml" Id="R081d6303878f44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0D2C4C-247A-4A0A-82FC-12AA99D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14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24D"/>
                </a:solidFill>
                <a:latin typeface="Aptos Display"/>
                <a:ea typeface="Aptos Display"/>
                <a:cs typeface="Aptos Display"/>
              </a:rPr>
              <a:t>GB10 ds4 Performance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F9B0-E5C0-4026-81B3-6411DAE5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A64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A6483"/>
                </a:solidFill>
                <a:latin typeface="Aptos"/>
                <a:ea typeface="Aptos"/>
                <a:cs typeface="Aptos"/>
              </a:rPr>
              <a:t>Measured on GB10 · 273 GB/s · 123 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57C25-018E-447C-96F3-36E5D081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59EFB-6420-4EAE-9ACA-01BBF90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04B46-FA63-44CF-A899-B31881E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① Cold Boot: Model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FD991-3F05-4E8C-A9BD-473ED25B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034A3-198B-4417-AB57-5EDAD24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3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77332-023F-4F2E-8843-19C8410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A1B5C-DED2-4E73-82C2-5ABC615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8AC3C-BD67-49D1-A77C-C12A7D7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② Prefill: Resident BW + Context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28FEC-DBB1-415E-BFA8-D12E0E9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026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91B73-0F89-4B90-B5B9-A602AAD4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9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FACB7-3F1C-4BC9-B2D5-9A1EF55E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33400"/>
            <a:ext cx="3759200" cy="3714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B9E7F-0B5C-41CD-8749-20CAFE1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33400"/>
            <a:ext cx="3759200" cy="438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E6551-1A71-48CC-9570-24E4CAC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619125"/>
            <a:ext cx="252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③ Decode: UMA Weights + Long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0C15B-E528-49EA-8FDC-47A9A46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0075"/>
            <a:ext cx="8763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480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1659E-911C-4449-8E54-1F14C78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8B056-1435-4E9F-8DEF-32A93CE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585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Total model: 80.76 GB  (8.16 GB dense + 72.6 GB experts)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8F3BE-5FF1-495C-94A4-D42AFA3D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6.0 x4: 32 GiB/s  vs  PCIe 5.0 x4: 15.75 GiB/s  →  2.03× faster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42068-71C3-4B36-A16C-640C135D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45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IO BW utilization: 56%  (measured on GB10)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358BF-E126-4243-961F-861FCE2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454400" cy="9144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48E9E-4FD7-42C9-99F6-99C5EA41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 = Model_Size / (BW × Utilization)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4C6D2-22C1-4B06-AF30-20E4C85E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6.0 x4: 80.76 / (32 × 0.56) = 4.51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BA78C-E101-4945-8293-8DCB2A78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PCIe 5.0 x4: 80.76 / (15.75 × 0.56) = 9.16 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ECE89-CFF4-4ECE-8268-349A2AB0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26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Speedup = 9.16 / 4.51 = 2.03×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CC92FA-7961-40CE-AA16-C48AA3C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345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5407C-DC98-45F6-BC60-D50E5293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45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Cold Boot is SSD/NVMe → UMA/DDR loading. With measured 56% IO efficiency, PCIe 6.0 x4 reduces startup from 9.16 s to 4.51 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46811F-946C-449A-A9B1-0289EEB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085850"/>
            <a:ext cx="3492500" cy="838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30820A-38F6-4DC1-A850-EF31186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1620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Calculation logic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0992E-4044-4493-9B80-FEECC95D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3525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η_mem,prefill = [ceil(P/2048) × 80.76 / prefill_s] / 273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46EBDD-E5AA-48F7-AD94-F0B45EC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52400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m = mem / (mem + gpu),  c = gpu / (mem + gpu)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C3EBC-350B-40F6-B069-3822985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954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Pred(273/120)=Obs/(m+c×123/120); Pred(546/240)=Obs/(0.5m+c×123/240)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62A91-1752-4CA3-BD92-0603966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19300"/>
            <a:ext cx="7239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0F41D9-D7FB-402D-8DE2-E31F7075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76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0FB47C-2A4E-479E-AD3D-772AE4A9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19300"/>
            <a:ext cx="9144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E5530E-4CF9-4EBB-A73F-7FD6464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076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GB10 TPS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BDCB87-F7D5-4FEA-B383-15737BD5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019300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F146BF-6DEF-425B-8D55-FA6DEC4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076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 Util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A2793E-8254-46FA-A5B0-6A4779FB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019300"/>
            <a:ext cx="6858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BB3AE1-83C3-4E14-87CC-2F75A457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07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Busy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828D71-C7A1-42B6-91A8-2105799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81EF27-23B2-4C30-8E7D-7F66AA1C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273GB/120T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B415BC-775B-46E0-AA3D-1FC55B2F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F54F6D-DE53-42D7-A688-265BEDC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546GB/240T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8A98B3-8B36-4EDB-BF68-6ED447EC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324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9E9A85-E360-4249-BA85-80460B20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362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59B02D-AB73-471E-9206-86587B6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324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FBC3AF-4ED9-43DA-B310-ADD8F334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362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EAE959-D736-4C2A-B58C-AA6F6D04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324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57E759-32E5-4450-9437-DAFEE29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362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34.43%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C322EB-1C75-4DCD-A683-600FE2F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324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1DA45D-FBCF-48C1-BBFC-F958503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362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0.00%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AFA056-689B-4136-B713-C139936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D92BFB-845E-4035-A01F-86B1213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148.98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0F2259-B159-4C07-B3CA-D91996ED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07BF28-9DA3-47A9-A243-D9B2B3B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297.96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4E9184-A8BB-429D-BCFC-6028A03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5527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02E1AB-52F1-492B-963C-AD20702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5908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1,024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719E7F-6A18-490D-B038-A073C519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5527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806F9F-8476-4AC3-8455-8A771806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5908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379.51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104715-5AC2-4F44-B952-4C3E13F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5527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7A6678-14C6-4066-A563-05006BEE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590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6EA999-D2AD-4DA1-9686-28972B0E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5527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A27AE9A-FC6D-4A8B-88D0-24EA7F9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5908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EF49B0-70ED-42CB-B2C2-F25A4CBA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D836E8-0EB8-4196-8071-64C51DB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376.56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B118C5-AD24-4C38-AFAE-EAFEC44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265D98-8C49-4798-AF85-056C049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753.12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9F183C-233F-4BC8-AA5F-0189D80E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7813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FDA92C8-2067-4672-86A2-D676B23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8194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2,048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A97116-A856-4580-AA7B-132B09B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7813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61CE497-FB99-46B0-889D-16F0AAA7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2819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396.40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37F47A-4132-4C4F-A356-CEE8D5C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27813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4CA920-B9BE-44FA-9941-580AF976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28194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5.73%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423F0C-FE0E-49F1-9C32-B7BB80A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7813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B5937F9-5392-4FE1-A897-0295B328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8194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7.00%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1F8A91-90AB-4935-8402-4649CEB9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10FE3A-7240-4064-B502-B6F38A49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391.02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3A27C59-87B7-4591-B313-280B03AE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DD1763-D648-48A5-9B89-CF8A986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782.05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C97FEC-5EF3-4F36-A33A-4B1C574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0099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71B66C-EE28-4651-86CD-ADDC60DD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0480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FFDB16-39C9-430B-9058-01BB1E79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0099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AE7BBD-DDF6-469F-9745-611263C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0480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390.78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2A913EF-DE88-4F51-95B5-9AC3F7BB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0099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486C62-C219-4B1A-96F1-E3219215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5.64%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AFE021-210A-475A-B1CB-EF4E8D7E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0099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A4813D-DED0-4B64-B3F9-4E9D2830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0480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9.90%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4B0B30-80AD-414A-8703-3163EE9B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2EDDFC-D4BF-4E2B-8FD1-F72F36D5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384.65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C38C01-5CC7-4D0E-B9FD-A0431AC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B1ABE1-F369-4E30-B803-FEBD932E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769.31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601B39-5C22-4DB6-9B4D-D742482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2385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96C59A-2204-4FA3-ACC5-9E7FB383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2766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65,536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128901E-34BA-45F0-B3F6-0DB1D78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2385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C8BDC8-18A2-484C-93D0-EEBCA17A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2766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336.37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BA70E4C-F3E7-4BB2-9CF8-31516B7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2385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BF40287-0209-44EB-BCB6-544AB34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276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4.86%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8B52DB-91C2-4EC4-A33D-D34E4D14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2385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27573BC-3DBF-44BE-A344-A68BFC4D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2766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87.08%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32A871-7D99-45D3-B286-07809BB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2D9911B-140C-412E-A5E4-E82FEAF5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328.59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17E206-2BF6-40DA-8350-F19088B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9602CF-3DE4-40C9-9DFE-7A3B9E4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657.18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B67CA5-E8F7-4BDA-AFDA-EC2D0D8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467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4914C24-D7C3-42BD-9B68-91416AD6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505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131,072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71D849F-DC02-420A-BE05-52592F9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3467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774A24E-1FE9-416B-BFD4-601DB01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3505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290.63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B76FFD-120A-40E3-B685-A2B9CC4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050" y="3467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D2B252-41B7-4EBD-9928-B7A6916B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3505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4.20%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58C5467-A9C8-4887-8F61-716F12D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3467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E6334B3-53CD-4A64-8106-35E65ACD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3505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92.05%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531726E-0022-4FDB-B47D-2F899348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FD8F73-D45D-49ED-A0C8-B85A2039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283.84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044E6B-0C30-4FCB-811F-3DC272F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D2757D-B974-488E-A955-84A9941A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567.69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853E445-8BEE-4281-B362-5ACB7713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790950"/>
            <a:ext cx="349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4101011-B4AF-4EF3-9309-604730A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981450"/>
            <a:ext cx="349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Small-context Prefill is resident-bandwidth dominated, so 546 GB/s nearly doubles 128-token throughput. With 240T compute, long-context Prefill also scales strongly because bandwidth and context compute both improve.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2D96B55-0BE3-42B4-A6A0-C11577A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1085850"/>
            <a:ext cx="3492500" cy="838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D01989-011D-436B-ABD5-F1C1B95C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1620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Calculation logic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2450BCA-EFAC-4F64-A5B8-85BE773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3525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Active weights/token = 10.97 GiB = 8.20 + 1.07 + 72.56×6/256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9E2E9F-113C-4C8A-8957-E2F0B175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52400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η_mem,decode = generation_tps × 10.97 / 273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F95EA4B-4B79-4681-AEAB-4920DF6C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695450"/>
            <a:ext cx="330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Pred(273/120)=Obs/(m+c×123/120); Pred(546/240)=Obs/(0.5m+c×123/240)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964D22B-FAD6-45EB-A587-EDF5073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019300"/>
            <a:ext cx="7239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EBB3878-046E-4368-B7E5-2C8413B9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5DCB130-0F0B-47E3-91FA-E5A75287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019300"/>
            <a:ext cx="9144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677FB85-D939-4934-BA2F-F847B982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07645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GB10 TPS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1066DE5-A315-4C7E-8AE6-C1414C2D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019300"/>
            <a:ext cx="74295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3D8F589-AA50-4A4B-84BA-33F5D6A9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076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 Util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359EB09-8009-427C-9334-1990CEC4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019300"/>
            <a:ext cx="6858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75124A6-4269-4819-B298-EC8386DB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076450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GPU Busy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2DC2EB9-E6BC-4A14-B4A0-3DA34452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DD81797-B30E-46AA-86E1-41F7BFB8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273GB/120T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72737C0-4DEB-4EE9-A67A-5D2FCC0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019300"/>
            <a:ext cx="11430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C423C66-25B1-4D31-88F8-07832C22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076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546GB/240T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E1B2D3A-C1D1-4731-A2CE-719EAC85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324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BBB2F08-88D3-47D4-B47F-28030C01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362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A9E57F6-DB81-42FC-B5D3-EE16BE65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324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5D644B7-5059-4AA8-B7DB-3B915050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362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16.12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C84C6DD-27FC-44B4-AADB-9EB5756E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324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A84C2E9-B075-442D-A15C-A1ADB97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362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64.78%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A39A1E-1915-49CF-B786-28D0FE1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324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A42CB79-D656-48F9-A68D-DC2F32B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362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8.62%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2A72F9C-4719-4AF3-80AF-AB6723C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5C1C7F1-6B35-478E-919D-A3F449A3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16.07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9653C04-8094-43A5-9E8E-0808454A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324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672E950-B462-4222-BC8B-FF59481D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362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32.15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801B787-2A61-4930-9762-931F4C83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5527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F1443A8-E88B-4983-B11E-A1CE3D71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5908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1,024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4FB7D64-3BD1-4F25-A3BB-AC6D88E1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5527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91EF67D-8D4C-44DA-8290-3779E0D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5908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15.26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E8BFA08-C52F-47FA-B62B-8C56FDA3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5527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D9E7391-FBD9-4B28-82DF-C8BE94D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5908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61.32%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EC79F53-8065-4944-A32F-E3980BC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5527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943E6F1-D703-4656-9A61-49892B3F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5908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8.29%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585DFB5-EB39-44BC-BE07-011B8DFB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2BF2FCE-9ECD-4C4E-84C5-947F6704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15.21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58E1E9B-01A4-4C44-B9F8-713A7E2A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5527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3B48DFD-6855-4E49-9671-8D521EC5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5908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30.43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2F7C476-0BD3-4DC2-8A33-8DF3E101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27813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86D71F4-C80F-4100-AD87-375700BC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8194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2,048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88C0BFC-6943-49DD-88B5-98B2DB70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27813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81C8559-3E65-42D1-A5F3-8C701D8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28194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14.58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235C4C0-D1B3-4698-A18F-0AB2A7E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27813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0D3102C-40A5-4E7C-8F28-D76CBA45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28194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58.59%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4ACC111-E57A-4619-A6AB-1F42D77F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27813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4D713F0-2FE8-48CA-A773-A38F9989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28194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8.13%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00FF6B9-EB1F-412B-93F7-3233DACF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677F745-12D5-4B38-A313-11B746A6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14.54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7AC517D-0238-49A6-85CC-19ACD6DA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27813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572FA56-2DFD-41BE-AEE8-AC1A7171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28194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29.07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1B89CB6-D5FF-456E-9A72-D73A9E83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0099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0E192F8-DBCE-430E-9795-70932A78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480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8,192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090A513-55CA-447C-A0F4-72079D5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0099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EF6C36C-6F92-4755-BCC0-701A1FE7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0480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14.36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E14D3C4-BED6-4236-9071-A5470B4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0099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1A2B8ED-84EF-47F4-8CAE-E09AEB9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0480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57.70%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C2C5857-A5F0-4860-B114-29F99812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0099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EF27A4C2-1B86-45D7-B469-9424BF80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0480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94.38%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4ADF918-E407-4BE4-B9BC-A11080AF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2EC36EA-D8DC-4C07-8BCB-9EA58B07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14.14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3532CAB6-FB31-4EAD-9A24-F9A8BAE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0099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C61CBDE-0873-4EC5-A177-BD5CD1D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0480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28.28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C9746B5-25B4-4EB0-A89C-B4988069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2385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172EFCC-0DDB-4182-832D-E39E9C65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2766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65,536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E2E7345-8E0E-42B3-90F5-BC2C1D18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2385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A722E0C-E215-48AE-BCC3-6FDA08D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2766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12.25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2114C7C-69F9-47A4-AB54-50DB758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2385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0B84142-6A6E-4C33-B2FE-A09713B6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2766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49.22%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A17EE60-D4FB-43D1-9253-DCF637BE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2385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EBF813D-1AB1-4C28-8878-E0AE1342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2766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96.00%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55FA87C-DB0B-4EA0-97B0-3AA841C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389F880-6555-4809-8096-085AD0EA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12.05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F8FA328-411C-4CA9-90C6-D5D3875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2385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EA9E87E-F328-446A-8B08-720450F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2766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24.10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3A17401-CF0E-4106-99BB-40AB475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467100"/>
            <a:ext cx="7239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DEC22AA-71C9-4512-BCED-0BD61C58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505200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131,072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D6D1D29-CFD9-4512-B7CA-A3B9D39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250" y="3467100"/>
            <a:ext cx="9144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705998F-1362-4ACB-BE06-38A489F9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350" y="3505200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10.73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AF1A42E-FE8A-4BB3-B669-CF25EB4B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9650" y="3467100"/>
            <a:ext cx="74295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C61B084-1B97-406F-B5F1-46FE025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50" y="3505200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43.12%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F5D8384-AC41-44CE-A8C2-83C739EA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3467100"/>
            <a:ext cx="6858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C2AC089-4227-40C0-B203-71215FAF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5052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96.00%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F8D72E9-B4C4-4CD1-A178-B059E33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4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0A6AC19-BE4B-4E7E-99D1-15DC317F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10.55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56A0B8E-E163-44E3-8254-6B1C04B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1400" y="3467100"/>
            <a:ext cx="1143000" cy="228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F694B0C-572D-4923-8225-85F4B2D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500" y="35052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21.10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E125041C-BAFB-42DB-9E62-A3CF964A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790950"/>
            <a:ext cx="349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Updated conclusion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6B7522C-5CE1-4F26-B7B5-D7D7DA68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3981450"/>
            <a:ext cx="349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is dominated by UMA-weight and KV/state bandwidth. With 546 GB/s plus 240T, short-context Decode approaches 2x, while long-context Decode still benefits materially despite context-path overhead.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F7E937C9-C845-4B4E-819C-6ABAEC88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00550"/>
            <a:ext cx="11582400" cy="2152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AFF4B43-E960-4989-823A-5AF9E3EB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400550"/>
            <a:ext cx="11582400" cy="3429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1557C0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F3330A3-2E3C-486B-9E40-C26BDDC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1123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 Summary: GB10 Measured vs Next-Gen Memory/Compute Configs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9B0ECF9F-4BD1-4D44-A0D6-ACB4C75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57750"/>
            <a:ext cx="16192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AE7DD37-4D08-4A3A-AAB9-D27B863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89719A9B-30CA-4F81-9F4A-9DFD8B0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0E8A5C0-E1A9-43B7-836E-60D3E6F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GB10 (273/123T)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C005518-99B5-4FA3-8124-7121C42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5261F10-34A6-4CEB-A2CE-5E09CB05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 A (273/120T)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2D13A0F-970D-416F-89D7-49AAB15E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13335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499029E7-479C-460C-9817-BE894D89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149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 B (546/240T)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E9D34C1-676E-43F3-8B2C-970885A8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57750"/>
            <a:ext cx="114300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0D88AF3-6373-493A-9180-217AECFA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5DB5D24-330C-4BC7-A841-B1F4EF90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3333750" cy="2857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2B830F3-F6A1-4767-96E4-FAE4EDC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Bottleneck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46035AA-BC5B-4A9F-B6FF-993006F5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91D10062-A6A6-4111-B690-C058C9C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Cold Boot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8C96AD5-BD7D-4B0B-B2BD-E6B6986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CC4F48B9-457D-4A34-ACAA-C1C632BC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0C817DA-7BF3-4CD9-B139-DAA2FD46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CF60F8E8-F545-40EB-80AA-1B57FEE6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00EAB52-C05C-4F58-A4EF-C0974FB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6D8F6B6-6717-43B9-99F7-FB40FD62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911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9.16 s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DE4B737-945B-4E30-A34F-4C775A8F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7B9B9E5-F472-413D-92E0-FEE269D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same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D8DA4604-3F15-4E24-8B75-DCF8113D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A3C058D3-4270-4FCF-AA78-98084846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911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Storage BW only (NVMe/PCIe path; UMA/compute unchanged)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3BBF3A7-F4CA-4A17-9B20-B321F51D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502C6B9-E389-45F4-8F6F-32059C1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Prefill C=128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B99C32E2-85EB-4672-BDF8-8FF97308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4062A7F-BBC4-4391-BB3E-6E334B6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 tok/s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B3A1894-08DC-445A-84FA-BDA81FAA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E8D9B36-3C85-48CB-A644-D411133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148.98 tok/s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BA01BD15-E51A-4CA2-B464-3395F68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911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DA44AB3-B662-444D-84F1-DC536623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4387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297.96 tok/s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D9327A83-4545-4E59-B80F-A47DEADE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3911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9718C267-9DBF-4F6E-A7FC-48CE144A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387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2.00× @ 546/240T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CB076B0-DADD-4618-9753-3D14457F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78F1606-F2F9-49D9-9375-3A96F1C7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387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Resident UMA BW + fixed cost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0CB2913-1E88-47E7-A96A-9E994518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388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B53ED1D-E72B-47EE-AB83-BFF2627D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Prefill C=2,048 ★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D24FD7F-294F-44BB-B556-E0ADE04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5A8259C-7CA4-41FC-AFC1-1CFE696A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396.40 tok/s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ECFFF2F-FB0D-4968-A5B1-3B2F50E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AC200CF1-466F-4BAD-AA5B-07E85533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391.02 tok/s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F70E61C-8713-4877-ADF1-DD2FFE3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388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9768145-D7E4-4808-B7C2-CBFC532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782.05 tok/s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349AF63-D4EA-4DD1-A991-4C2C771C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388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3BB931AD-CA71-4165-A1D0-61D5A938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864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1.97× @ 546/240T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C306410-A9E9-4D79-B275-289A68E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388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7374684-6D1D-4673-A6A2-4118310F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864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Hybrid (resident BW + compute)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4C477EF0-D6F5-4DF5-852F-88DDC6C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2D45AD4-0B5A-48AE-A383-52AE5C5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340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@128 ctx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8CABB92-9940-48DE-A015-A1C671E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52CE0F8-D2D0-4315-91D0-BAC54F1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16.12 tok/s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B00DF03-7C25-48B4-86DE-BFD30026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EF07883-7AA6-43A3-B729-AEB6CDBE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16.07 tok/s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C396867-AF9C-4417-96CC-0035C8E6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8864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C0BA999-0FD1-4FB2-A67B-FA5D0DDD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340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32.15 tok/s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C4FF03A-9A01-485C-97BB-6A1F96D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8864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03C906A5-BCF6-4AE6-885E-856C23FB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340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1.99× @ 546/240T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4C613DE-EA2E-4662-8824-B98AED01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864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D5604819-078C-4912-BCAE-EBD6E18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340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UMA active-weight bandwidth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049F023-EFEB-4BE4-97F2-1BF0981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F659C79-BC08-45B7-AECF-862C2660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8172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@8K ctx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DC7FF58-3934-4171-A9CC-DDDBBD68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4F14334-6A5F-4817-BC47-7E6E4E5B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14.36 tok/s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7B48D52-4D7E-4AA3-9973-58540E3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C38D2EB-BE7D-4823-BB2B-2A2A2D9F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14.14 tok/s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CFB7B27-22C9-4E63-9298-EAD43DD5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13410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345F551-F357-473A-B6A5-1042313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1817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28.28 tok/s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4B0B3E7-90EB-456D-B789-DF49B838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13410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1820B88-A6EA-4C1A-B974-4406A47B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817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1.97× @ 546/240T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BA531D7-9A80-4A92-A735-23F73DC1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3410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0FB27810-C5B2-4522-A6B6-3F82091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18172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Mixed (memory + context path)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FC450E71-A68D-4C0C-B5C0-FD920F4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16192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AB1876D-7815-41E4-A49C-C7B362DE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Decode @128K ctx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752D5B0-6E73-4A31-95E1-2C5B8859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79D43DF-000E-4886-88DE-26BAF11E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10.73 tok/s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7A0B255-AF01-4215-B22C-6747FCF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2FFB57B6-C11C-430D-9C7C-F04F819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10.55 tok/s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BC62EAA-5FD6-442A-A3A7-E1968CC0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381750"/>
            <a:ext cx="13335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63B337E-9602-4E0B-BD61-A7484BA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2937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21.10 tok/s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4F3B4E8-130E-4979-A646-2FA7CC9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381750"/>
            <a:ext cx="114300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97D9C1A-1BA4-4766-8181-8DF2158A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42937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14803C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4803C"/>
                </a:solidFill>
                <a:latin typeface="Aptos"/>
                <a:ea typeface="Aptos"/>
                <a:cs typeface="Aptos"/>
              </a:rPr>
              <a:t>1.97× @ 546/240T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5F00BFC-6392-4DBC-9EC2-82695D3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381750"/>
            <a:ext cx="3333750" cy="2476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9D7EE"/>
            </a:solidFill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E6D874F3-E27F-4129-BAC1-32D86B34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429375"/>
            <a:ext cx="3257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22324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22324A"/>
                </a:solidFill>
                <a:latin typeface="Aptos"/>
                <a:ea typeface="Aptos"/>
                <a:cs typeface="Aptos"/>
              </a:rPr>
              <a:t>Long-context KV/state + compute path</a:t>
            </a:r>
          </a:p>
        </p:txBody>
      </p:sp>
    </p:spTree>
    <p:extLst>
      <p:ext uri="{BB962C8B-B14F-4D97-AF65-F5344CB8AC3E}">
        <p14:creationId xmlns:p14="http://schemas.microsoft.com/office/powerpoint/2010/main" val="1752039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2026-06-04T05:39:23.1260000Z</dcterms:created>
  <dcterms:modified xsi:type="dcterms:W3CDTF">2026-06-04T05:39:23.1260000Z</dcterms:modified>
</coreProperties>
</file>